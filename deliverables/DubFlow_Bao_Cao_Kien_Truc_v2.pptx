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8897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Mở đầu trong khoảng 30 giây. DubFlow nhận một video, nhận dạng lời nói, dịch, tổng hợp giọng, căn thời lượng, phối âm và xuất lại MP4 có phụ đề. Trọng tâm của đồ án không chỉ là gọi model, mà là thiết kế một pipeline có thể đổi model, chạy local hoặc Colab, quan sát từng bước và tiếp tục sau lỗi. Khi thầy hỏi phần đóng góp, nhấn mạnh ba điểm: kiến trúc provider registry, orchestration bằng n8n và job state có thể resume. Hình cover được tạo riêng cho deck, mô tả hành trình từ film strip sang nhiều waveform ngôn ngữ.</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quan hệ lỗi dây chuyền. Nếu ASR sai một tên riêng thì bản dịch sai, TTS sẽ đọc sai và phụ đề cũng sai. Nếu dịch đúng nhưng câu đích dài hơn, giọng sẽ tràn sang câu kế tiếp. Nếu giữ nguyên lời gốc ở âm lượng cao, người nghe sẽ nghe hai giọng cùng lúc. Vì vậy hệ thống chia bài toán thành stage và lưu đầu ra trung gian để biết lỗi xuất hiện ở đâu. Đây là lý do pipeline nhiều bước phù hợp hơn một API black box cho mục tiêu học thuật và demo.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Bốn mục tiêu tương ứng bốn nhóm kỹ thuật. Đúng: chọn ASR và NMT phù hợp, giữ ngôn ngữ nguồn và đích rõ ràng. Rõ: chuẩn hóa audio và chọn TTS nghe tự nhiên. Khớp: cửa sổ thời gian, atempo và xử lý overflow. Bền: idempotency, task async, retry và job state. Không có một model đơn lẻ giải quyết cả bốn mục tiêu, nên kiến trúc ghép nối là chủ ý thiết kế.</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Phần không thuộc phạm vi là quyết định kỹ thuật, không phải che giấu thiếu sót. Lip sync và voice cloning đã bị loại khỏi phiên bản nộp để tránh tăng rủi ro đạo đức, tài nguyên và độ phức tạp. Speaker diarization là bước chuẩn vì hệ thống cần biết mỗi đoạn thuộc người nào trước khi Edge chọn giọng. Production authentication chưa có; Bearer token hiện bảo vệ inference API, còn web gateway là bản demo. Nguồn code: README.md, mục Limitations và Future work.</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Luồng điều khiển: frontend chỉ gọi gateway. Gateway tạo job và trigger n8n. n8n gọi lại các endpoint stage của gateway. Gateway chạy FFmpeg tại chỗ hoặc chuyển tác vụ model sang inference backend local hay Colab. dubflow_core chứa logic thuần Python không phụ thuộc model để cả gateway và inference service dùng chung. Lợi ích: đổi backend không đổi workflow; đổi model không đổi API; test core không cần GPU. Bằng chứng code: frontend/index.html, ai-service/app.py, n8n/workflows/simple-dubbing.json, colab/server.py, dubflow_core/.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Nếu n8n tự tải model hoặc frontend tự gọi Colab thì trách nhiệm bị trộn và khó kiểm soát lỗi. Ở đây n8n biết thứ tự, nhưng không biết chi tiết model. Gateway biết job và file, nhưng không chứa code inference. Provider biết model, nhưng không quyết định workflow. Khi thầy hỏi vì sao cần n8n dù FastAPI có thể gọi tuần tự, trả lời: n8n làm orchestration trực quan, có execution history và giúp người chấm quan sát pipeline; FastAPI vẫn là nơi giữ hợp đồng và trạng thái bền.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backend phải cùng API contract. scripts/check_contract.py kiểm tra contract mà không tải model. Router probe /health, cache kết quả theo TTL và chọn backend còn sống. Local phù hợp riêng tư và lặp lại; Colab phù hợp demo GPU mà không cần máy mạnh. Nhược điểm Colab là tunnel không ổn định và URL đổi theo phiên. Vì vậy hệ thống dùng async task cho stage dài. Nguồn code: scripts/set_backend.py, scripts/check_contract.py, ai-service/app.py.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Phân biệt control plane và data plane. n8n điều phối nhưng media không cần chảy xuyên qua mọi node. Gateway giữ file trong volume và truyền file cho inference khi cần. Browser poll job khoảng 2,5 giây một lần. Khi stage dài trả task_id, gateway poll backend thay vì giữ một HTTP request qua tunnel. Đây là cách giảm timeout và vẫn giữ n8n workflow dễ đọc.</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Hai stage optional là duration alignment và source separation. Diarization chạy trong mọi job để tạo speaker labels; Edge dùng các nhãn đó để giữ một giọng ổn định cho mỗi speaker. Translate có thể skip khi source và target trùng nhau. 11 checkpoint không đồng nghĩa 11 model vì nhiều bước là xử lý media deterministic bằng FFmpeg hoặc Python. Nguồn: README.md phần Pipeline stages và ai-service/app.py.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Canonical segment giảm số cặp chuyển đổi giữa stage. Thay vì mỗi provider trả một schema riêng, provider adapter chuyển kết quả về start, end, text và các field bổ sung. Diarization không phá transcript mà chỉ gán speaker. Translation thêm translation. TTS thêm file path. Alignment thêm speed và overflow. Điều này giúp lưu job.json, resume và test fixture dễ hơn. Nguồn: dubflow_core/segments.py và các endpoint stage trong ai-service/app.py.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16 kHz mono giảm dữ liệu và khớp đầu vào phổ biến của ASR, pyannote. Track 48 kHz giữ chất lượng phù hợp cho mix và render. Tách hai bản ngay từ đầu tránh resample lặp lại. Nếu thầy hỏi tại sao không dùng 48 kHz cho model, vì phần lớn dải tần giọng nói hữu ích nằm dưới 8 kHz và checkpoint được huấn luyện với 16 kHz; feed khác sampling rate sẽ buộc resample hoặc tạo mismatch. Nguồn code: stage extract trong ai-service/app.py và model card pyannote 3.1.</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Pipeline dùng pyannote/speaker-diarization-3.1. Model xuất các khoảng thời gian và nhãn ẩn danh như SPEAKER_00, không biết đó là An hay Bình. Code lấy exclusive diarization nếu phiên bản thư viện hỗ trợ và gộp hai turn cùng speaker khi cách nhau tối đa 0,25 giây. Checkpoint gated nên cần chấp nhận điều kiện của speaker-diarization-3.1 và segmentation-3.0, đồng thời có HF_TOKEN. pyannote 3.1 chạy pure PyTorch và có thể chuyển sang CUDA. Nguồn: colab/providers/diarization/pyannote.py và https://huggingface.co/pyannote/speaker-diarization-3.1</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Công thức: với transcript segment [a,b] và speaker turn [c,d], overlap = max(0, min(b,d) - max(a,c)). Chọn speaker có overlap lớn nhất. Confidence bằng overlap chia độ dài segment. Nếu không overlap, code chọn turn gần nhất trong 2 giây; nếu vẫn không có thì SPEAKER_00. Điểm mạnh: deterministic, dễ test, không cần model fusion. Điểm yếu: khi hai người nói chồng nhau, canonical segment hiện chỉ giữ một speaker. Nguồn: dubflow_core/segments.py và tests/test_segments.py.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đăng ký 14 checkpoint faster-whisper, cộng Seamless ASR và MMS ASR. Mặc định small là điểm cân bằng cho demo: tải và chạy nhẹ hơn large, nhưng đủ đa ngôn ngữ. faster-whisper là reimplementation bằng CTranslate2, hỗ trợ float16 trên CUDA và int8 trên CPU. Code dùng beam_size=5 và VAD filter. Đừng nói faster-whisper luôn chính xác hơn Whisper gốc; cùng checkpoint và decoding tương đương thì mục tiêu chính là hiệu năng và memory. Nguồn: colab/providers/asr/faster_whisper.py và https://github.com/SYSTRAN/faster-whisper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Whisper là encoder-decoder Transformer. Audio được đổi thành log-Mel spectrogram. Encoder tạo biểu diễn ngữ cảnh; decoder sinh token văn bản cùng token timestamp. Beam search giữ nhiều ứng viên thay vì greedy một đường, tăng cơ hội tìm câu có xác suất tốt hơn nhưng tốn compute hơn. VAD filter giảm vùng im lặng, giúp bớt hallucination và công việc thừa. faster-whisper README báo hiệu năng có thể nhanh hơn và ít memory trong benchmark của họ, nhưng so sánh phải giữ cùng beam size và WER. Nguồn khoa học: https://arxiv.org/abs/2212.04356 và implementation: https://github.com/SYSTRAN/faster-whisper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Seamless và MMS hiện không trả timestamp trong adapter, vì vậy gateway phải tạo cửa sổ từ VAD hoặc diarization rồi gọi ASR theo từng window. Cách này chạy được nhưng phức tạp hơn và ranh giới câu phụ thuộc window. Seamless có lợi khi cùng checkpoint dùng cả ASR và translation, giảm đổi model. MMS nổi bật về phạm vi ngôn ngữ trong nghiên cứu, nhưng không đồng nghĩa checkpoint nào cũng tốt hơn Whisper cho clip demo. Nguồn: colab/providers/asr/seamless.py, mms.py; Seamless paper https://arxiv.org/abs/2308.11596; MMS paper https://arxiv.org/abs/2305.13516</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NLLB adapter gán src_lang cho tokenizer và forced_bos_token_id cho ngôn ngữ đích. Vì là model nhiều ngôn ngữ chung, token ngôn ngữ rất quan trọng để tránh sinh nhầm script. Project batch nhiều segment để tận dụng GPU, giới hạn input 512 và max_new_tokens 256, dùng num_beams=4. Beam search tốt hơn greedy trong nhiều trường hợp nhưng tốn thời gian. Nguồn code: colab/providers/translation/nllb.py. Nguồn model: https://huggingface.co/facebook/nllb-200-distilled-600M và paper https://arxiv.org/abs/2207.04672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NLLB 600M là mặc định vì bao phủ đủ 50 language trong app và nhẹ hơn 1.3B. README mô tả 1.3B chất lượng tốt hơn nhưng khoảng gấp đôi memory. Seamless text có lợi khi đã load Seamless ASR, nhưng thiếu Sinhala trong catalogue app. Vì sao không dùng Google Translate: đây không phải open checkpoint chạy local, API tạo chi phí và phụ thuộc dịch vụ, nên kém phù hợp tiêu chí tái lập của đồ án. Vì sao không dùng LLM lớn làm mặc định: có thể giữ ngữ cảnh và tên riêng tốt hơn, nhưng chậm, tốn VRAM và khó deterministic hơn. NLLB card cũng nói đây là model nghiên cứu, không dành cho bản dịch chứng nhận hay domain y tế/pháp lý. Nguồn: provider registry, README, NLLB model card.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Phải trả lời trung thực: code hiện chưa có NER, glossary hay placeholder bảo vệ entity. NLLB dịch theo câu, nên tên người, tên sản phẩm hoặc địa danh có thể bị dịch hay phiên âm không mong muốn. Hướng cải tiến an toàn: nhận dạng entity trước, thay bằng placeholder ổn định, dịch, rồi restore và kiểm tra. Với thuật ngữ dự án có thể dùng glossary bắt buộc. LLM translator là lựa chọn khác khi cần context, nhưng cần đánh giá latency, privacy và consistency. Slide này giúp trả lời đúng câu hỏi 'model nào phân biệt tên người tên vật': không model hiện tại nào bảo đảm; cần pipeline entity-aware.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TTS không tạo một file dài cho cả video. Hệ thống synthesize từng segment để dễ đặt đúng timestamp và retime độc lập. Interface provider nhận text, language, output path, speaker và speaking rate. Edge trả MP3 qua dịch vụ, adapter chuẩn hóa sang WAV. MMS VITS sinh waveform trực tiếp. Metadata theo segment giúp giữ speaker xuyên suốt voice mapping và alignment. Nguồn: colab/providers/tts/base.py, edge.py và mms.py.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Coverage là theo catalogue 50 ngôn ngữ của chính app, không phải claim toàn cầu. Edge adapter liệt kê voices theo locale và hỗ trợ ánh xạ nhiều speaker. MMS dùng một VITS checkpoint cho từng ngôn ngữ và một stock voice. Edge không cần GPU nhưng cần internet và gửi text sang dịch vụ Microsoft; MMS có thể offline sau khi tải weights nhưng cần tài nguyên và license checkpoint CC-BY-NC-4.0. Nguồn code: tts registries và implementations. Edge client: https://github.com/rany2/edge-tts. MMS research: https://arxiv.org/abs/2305.13516</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Khi trình bày, nói rõ phương pháp test hiện chỉ là subjective listening trên tập clip nhỏ. Không gọi đây là MOS chính thức. Nhóm quan sát Edge có prosody, độ trôi chảy và voice variety tốt hơn MMS với tiếng Việt trong demo. Tuy nhiên MMS có lợi thế offline, tái lập và dữ liệu không rời máy. Quyết định demo ưu tiên trải nghiệm nghe, còn thiết kế provider vẫn giữ MMS làm fallback. Một đánh giá tốt hơn cần blind test, nhiều người nghe và cùng nội dung, âm lượng, tốc độ.</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Diarization chạy trong mọi job. Gateway chuyển speaker_id của từng segment vào lệnh synthesize. Edge lọc voice theo locale, sắp xếp danh sách ổn định và ánh xạ speaker ID vào một voice. Cùng speaker giữ cùng voice suốt job. Khi số speaker lớn hơn số voice, mapping quay vòng nên có thể trùng giọng. MMS vẫn là lựa chọn single voice. Hệ thống không clone giọng gốc. Nguồn: colab/core/config.py, ai-service/app.py, colab/providers/tts/edge.py và README phần Speech generation.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Window kết thúc tại start của segment kế hoặc media duration. ratio = raw TTS duration / window. Nếu sai lệch trong tolerance 0,05 thì giữ nguyên. Câu dài được speed up nhưng cap ở max 1,35; nếu vẫn dài thì đánh dấu overflow/clamped. Câu ngắn mặc định không stretch, tránh kéo giọng nghe méo. FFmpeg atempo chỉ nhận khoảng 0,5 đến 2,0 mỗi filter nên hàm build chain khi cần. Defaults: min 0,75, max 1,35, tolerance 0,05. Nguồn: dubflow_core/alignment.py, tests/test_alignment.py và FFmpeg filters documentation https://ffmpeg.org/ffmpeg-filters.html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gọi Demucs với two-stems vocals. HTDemucs là kiến trúc hybrid dùng cả waveform và spectrogram, có cross-domain Transformer. Lợi ích: giữ nền tốt hơn giảm volume toàn bộ original. Chi phí: model nặng và có artifacts như speech leakage hoặc làm suy nền; vì vậy stage optional. htdemucs_ft có thể tốt hơn nhưng chậm hơn đáng kể nên project cho chọn. Nguồn code: colab/providers/separation/demucs.py. Nguồn chính: https://github.com/facebookresearch/demucs và paper được repo trích dẫn.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clip dub resample 48 kHz, reset PTS, rồi adelay theo start timestamp. amix cộng tất cả clip; apad và atrim ép đúng media duration. Nếu không separation, giảm original xuống 0,25 và tăng dub 1,5 để lời mới nổi lên. Nếu có background stem, cả hai gain 1,0. Cuối cùng loudnorm I=-16 LUFS, true peak=-1,5, LRA=11 để mức nghe nhất quán. Đây là cấu hình thực tế trong dubflow_core/mixing.py, không phải số minh họa.</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Render map video gốc, audio dub cuối và SRT dịch. Đầu tiên dùng video copy để nhanh và tránh mất chất lượng. Nếu codec/container không mux được, code fallback encode libx264 preset fast CRF 22. Audio AAC 192 kbps, subtitle mov_text, gắn language metadata và +faststart để MP4 phát sớm khi download. Nguồn: render stage trong ai-service/app.py.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n8n workflow có entry từ form và webhook frontend, sau đó hội tụ vào chuỗi stage. Mỗi node HTTP gọi /stages/{stage} của gateway. Cuối workflow tách nhánh trả trang download cho form hoặc JSON cho frontend. Việc giữ n8n là runner duy nhất tránh hai thứ tự khác nhau giữa UI và automation. Khi một stage lỗi, execution dừng ở node rõ ràng; job state vẫn giữ stage đã hoàn tất. Nguồn: n8n/workflows/simple-dubbing.json.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Gateway tạo job_id 12 ký tự hex, kiểm tra extension cho phép, lưu config và media vào volume. Mỗi stage chạy trong context manager cập nhật current_stage, stage_started_at và error. Các stage deterministic dùng FFmpeg/Python tại gateway; model stage gọi backend router. Gateway còn kiểm tra capabilities trước khi chạy, tránh đợi lâu mới phát hiện model không hỗ trợ language hoặc thiếu package. Nguồn: ai-service/app.py.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Cloudflare quick tunnel có thể cắt request dài. Bốn endpoint chậm hỗ trợ async_mode. Backend trả 202 và task_id ngay, chạy inference trong thread nền, gateway poll /tasks/{id}. Khi done, result nằm trong JSON hoặc download endpoint cho file separation. Task store tối đa 64 record và prune terminal task cũ. MODEL_LOCK vẫn serialize phần model để bảo vệ VRAM. Requests cũ không bật async vẫn nhận 200 direct, nên backward compatible. Nguồn: colab/tasks.py, colab/server.py, tests/test_async_stages.py.</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Registry ModelSpec khai báo id, label, supported languages, license, required packages, credentials và khả năng multi speaker. Import registry không import torch hoặc model, nên /capabilities phản hồi nhanh và tests không tải weights. UI chỉ hiển thị model backend báo available. Gateway dùng cùng contract để validate cấu hình trước job. Provider implementation chỉ lazy import khi model được gọi. Nguồn: colab/providers/base.py và từng registry.py.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Colab thường chỉ có một GPU với VRAM giới hạn. Runtime giữ một slot trên mỗi task type. Nếu chọn model khác trong cùng slot, code release reference cũ, chạy garbage collection và empty CUDA cache trước khi load mới. MODEL_LOCK serialize inference để hai task không cùng lúc tranh model/VRAM. Tradeoff: throughput thấp hơn, nhưng ổn định hơn cho demo một GPU. DUBFLOW_KEEP_MODELS điều khiển việc giữ model giữa request; nếu false thì giảm memory residency nhưng tăng load time. Nguồn: colab/core/runtime.py.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stage kiểm tra artifact và status trước khi chạy. Nếu đã completed và không force, trả kết quả cũ. Điều này giúp retry workflow mà không tốn lại ASR/TTS. Context manager ghi stage_started_at và lỗi có stage + message. Job ở running quá STALLED_AFTER được nhận diện stalled thay vì treo vô hạn. Cần phân biệt idempotent ở cấp job với model call hoàn toàn deterministic: Edge service có thể thay đổi giọng, nhưng pipeline không gọi lại nếu đã có artifact. Nguồn: ai-service/app.py và tests/test_api.py.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job.json là ledger của pipeline: cấu hình model, language, option, trạng thái stage, timestamps, error và đường dẫn artifact. File được giữ trong Docker volume job-data, nên restart container không mất job. Việc có artifact riêng giúp mở transcript, translation hay WAV để xác định lỗi trước khi render. Khi production cần bổ sung retention policy, quota, object storage và xóa dữ liệu theo yêu cầu. Nguồn: ai-service/app.py và docker-compose.yml.</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wireframe dựa trực tiếp trên frontend hiện tại, không phải screenshot. UI tải /capabilities nên dropdown chỉ hiện model backend có thể dùng. Bên trái tập trung cấu hình; bên phải hiển thị stage, trạng thái, lịch sử job và download. Poll interval khoảng 2,5 giây. Theo yêu cầu dọn UI, mô tả hero, ba stat badges và footer đã được bỏ để giảm chữ và tăng tập trung. Nguồn: frontend/index.html. Phiên browser automation hiện không có browser nên deck không giả mạo ảnh chụp live.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backend yêu cầu Bearer token ngoài /health. Token không được đưa lên slide hoặc log. Upload chỉ kiểm tra extension ở demo; production cần MIME sniffing, kích thước, malware scan, rate limit, auth người dùng và isolation. Edge TTS gửi text tới dịch vụ công cộng nên không phù hợp dữ liệu nhạy cảm nếu chưa có chính sách. NLLB, Seamless và MMS checkpoint trong project dùng CC-BY-NC-4.0 nên không được mặc định coi là dùng thương mại. pyannote 3.1 là MIT nhưng gated access. Nguồn: README Limitations/Licensing và model cards.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WER/CER đánh giá transcript. Translation nên có reference và metric như chrF/COMET, kèm human check tên riêng. TTS nên blind preference hoặc MOS với nhiều người nghe; nhóm hiện mới có quan sát chủ quan. DER cho diarization. System đo real-time factor, peak VRAM, tỉ lệ stage failure và end-to-end completion. Để so model công bằng phải giữ cùng clip, language, preprocessing, beam, volume, speaking rate và hardware. Không so Edge với MMS khi âm lượng hay rate khác nhau.</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nên dùng clip 10 đến 20 giây. Bước 1 mở health/backends để chứng minh service sống. Bước 2 cho xem capabilities và chọn faster-whisper, NLLB, Edge. Bước 3 upload. Bước 4 quan sát stage thay đổi. Bước 5 chuyển n8n execution để chỉ node đang chạy. Bước 6 phát video và mở SRT. Luôn chuẩn bị một job completed để không phụ thuộc live inference, và local backend làm fallback. Không thay token hoặc tunnel trên màn chiếu.</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Tại thời điểm tạo deck, docker compose báo ai-service, n8n và local-ai healthy; GET /health trả status ready, ai_backend colab và 50 languages. Đây là snapshot môi trường, không phải cam kết trạng thái khi thuyết trình. Trước buổi demo chạy make status, make backends và mở một job completed. Không đưa tunnel URL hoặc token vào slide. Do browser control không có browser trong phiên này, không chụp screenshot mới; sơ đồ này chỉ thể hiện topology đã xác minh.</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Hạn chế chính: cascade gây error propagation, dịch từng segment thiếu context, proper name protection chưa có, per-speaker voice phụ thuộc diarization và Edge, separation có artifacts, alignment chỉ retime chứ không viết lại câu. Roadmap gần nhất nên là bộ test nhỏ có ground truth, NER và glossary, sau đó blind comparison Edge với MMS. Production hardening và object storage chỉ làm sau khi pipeline quality được đo.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Cách trả lời: nêu yêu cầu, quyết định, lợi ích và chi phí. Ví dụ, nhóm chọn Edge vì naturalness và voice variety tốt hơn trong demo, nhưng đánh đổi privacy và network; MMS vẫn là fallback. Diarization bắt buộc vì transcript segment cần speaker_id trước khi Edge ánh xạ voice. Với tên riêng, thừa nhận hệ thống chưa giải quyết và trình bày pipeline NER cùng glossary cụ thể.</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Kết lại: đóng góp lớn nhất là biến nhiều công nghệ rời rạc thành một pipeline có hợp đồng, trạng thái và khả năng thay thế. Model selection được giải thích theo constraint, không theo cảm tính. Edge là lựa chọn mặc định cho per-speaker voice; MMS là fallback single voice. NLLB 600M cân bằng coverage và tài nguyên; 1.3B cùng Seamless là alternatives. Mời câu hỏi và dùng slide 41 như bảng nhắc nhanh.</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ubflow-cover.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0"/>
            <a:ext cx="6604000" cy="6858000"/>
          </a:xfrm>
          <a:prstGeom prst="rect">
            <a:avLst/>
          </a:prstGeom>
          <a:solidFill>
            <a:srgbClr val="14241F">
              <a:alpha val="8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6600" y="711200"/>
            <a:ext cx="19812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200" y="736600"/>
            <a:ext cx="1778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ĐỒ ÁN MÔN HỌC</a:t>
            </a:r>
          </a:p>
        </p:txBody>
      </p:sp>
      <p:sp>
        <p:nvSpPr>
          <p:cNvPr id="6" name="TextBox 5"/>
          <p:cNvSpPr txBox="1"/>
          <p:nvPr/>
        </p:nvSpPr>
        <p:spPr>
          <a:xfrm>
            <a:off x="736600" y="1422400"/>
            <a:ext cx="5207000" cy="787400"/>
          </a:xfrm>
          <a:prstGeom prst="rect">
            <a:avLst/>
          </a:prstGeom>
          <a:noFill/>
        </p:spPr>
        <p:txBody>
          <a:bodyPr wrap="square" lIns="0" tIns="0" rIns="0" bIns="0" anchor="t">
            <a:spAutoFit/>
          </a:bodyPr>
          <a:lstStyle/>
          <a:p>
            <a:pPr algn="l">
              <a:lnSpc>
                <a:spcPct val="100000"/>
              </a:lnSpc>
              <a:spcBef>
                <a:spcPts val="0"/>
              </a:spcBef>
              <a:spcAft>
                <a:spcPts val="0"/>
              </a:spcAft>
            </a:pPr>
            <a:r>
              <a:rPr sz="4600" b="1">
                <a:solidFill>
                  <a:srgbClr val="FFFFFF"/>
                </a:solidFill>
                <a:latin typeface="Avenir Next"/>
              </a:rPr>
              <a:t>DubFlow</a:t>
            </a:r>
          </a:p>
        </p:txBody>
      </p:sp>
      <p:sp>
        <p:nvSpPr>
          <p:cNvPr id="7" name="TextBox 6"/>
          <p:cNvSpPr txBox="1"/>
          <p:nvPr/>
        </p:nvSpPr>
        <p:spPr>
          <a:xfrm>
            <a:off x="736600" y="2133600"/>
            <a:ext cx="5461000" cy="1600200"/>
          </a:xfrm>
          <a:prstGeom prst="rect">
            <a:avLst/>
          </a:prstGeom>
          <a:noFill/>
        </p:spPr>
        <p:txBody>
          <a:bodyPr wrap="square" lIns="0" tIns="0" rIns="0" bIns="0" anchor="t">
            <a:spAutoFit/>
          </a:bodyPr>
          <a:lstStyle/>
          <a:p>
            <a:pPr algn="l">
              <a:lnSpc>
                <a:spcPct val="100000"/>
              </a:lnSpc>
              <a:spcBef>
                <a:spcPts val="0"/>
              </a:spcBef>
              <a:spcAft>
                <a:spcPts val="0"/>
              </a:spcAft>
            </a:pPr>
            <a:r>
              <a:rPr sz="3400" b="1">
                <a:solidFill>
                  <a:srgbClr val="FFFFFF"/>
                </a:solidFill>
                <a:latin typeface="Avenir Next"/>
              </a:rPr>
              <a:t>Hệ thống lồng tiếng</a:t>
            </a:r>
            <a:br/>
            <a:r>
              <a:rPr sz="3400" b="1">
                <a:solidFill>
                  <a:srgbClr val="FFFFFF"/>
                </a:solidFill>
                <a:latin typeface="Avenir Next"/>
              </a:rPr>
              <a:t>video đa ngôn ngữ</a:t>
            </a:r>
          </a:p>
        </p:txBody>
      </p:sp>
      <p:sp>
        <p:nvSpPr>
          <p:cNvPr id="8" name="TextBox 7"/>
          <p:cNvSpPr txBox="1"/>
          <p:nvPr/>
        </p:nvSpPr>
        <p:spPr>
          <a:xfrm>
            <a:off x="762000" y="4038600"/>
            <a:ext cx="5016500" cy="990600"/>
          </a:xfrm>
          <a:prstGeom prst="rect">
            <a:avLst/>
          </a:prstGeom>
          <a:noFill/>
        </p:spPr>
        <p:txBody>
          <a:bodyPr wrap="square" lIns="0" tIns="0" rIns="0" bIns="0" anchor="t">
            <a:spAutoFit/>
          </a:bodyPr>
          <a:lstStyle/>
          <a:p>
            <a:pPr algn="l">
              <a:lnSpc>
                <a:spcPct val="100000"/>
              </a:lnSpc>
              <a:spcBef>
                <a:spcPts val="0"/>
              </a:spcBef>
              <a:spcAft>
                <a:spcPts val="0"/>
              </a:spcAft>
            </a:pPr>
            <a:r>
              <a:rPr sz="1700" b="0">
                <a:solidFill>
                  <a:srgbClr val="A8E6D2"/>
                </a:solidFill>
                <a:latin typeface="Avenir Next"/>
              </a:rPr>
              <a:t>Kiến trúc tách lớp</a:t>
            </a:r>
            <a:br/>
            <a:r>
              <a:rPr sz="1700" b="0">
                <a:solidFill>
                  <a:srgbClr val="A8E6D2"/>
                </a:solidFill>
                <a:latin typeface="Avenir Next"/>
              </a:rPr>
              <a:t>Pipeline quan sát được</a:t>
            </a:r>
            <a:br/>
            <a:r>
              <a:rPr sz="1700" b="0">
                <a:solidFill>
                  <a:srgbClr val="A8E6D2"/>
                </a:solidFill>
                <a:latin typeface="Avenir Next"/>
              </a:rPr>
              <a:t>Local hoặc Colab GPU</a:t>
            </a:r>
          </a:p>
        </p:txBody>
      </p:sp>
      <p:sp>
        <p:nvSpPr>
          <p:cNvPr id="9" name="TextBox 8"/>
          <p:cNvSpPr txBox="1"/>
          <p:nvPr/>
        </p:nvSpPr>
        <p:spPr>
          <a:xfrm>
            <a:off x="762000" y="5486400"/>
            <a:ext cx="3810000" cy="6858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FFFFFF"/>
                </a:solidFill>
                <a:latin typeface="Avenir Next"/>
              </a:rPr>
              <a:t>Nhóm: …</a:t>
            </a:r>
            <a:br/>
            <a:r>
              <a:rPr sz="1500" b="0">
                <a:solidFill>
                  <a:srgbClr val="FFFFFF"/>
                </a:solidFill>
                <a:latin typeface="Avenir Next"/>
              </a:rPr>
              <a:t>Giảng viên: …</a:t>
            </a:r>
          </a:p>
        </p:txBody>
      </p:sp>
      <p:sp>
        <p:nvSpPr>
          <p:cNvPr id="10" name="TextBox 9"/>
          <p:cNvSpPr txBox="1"/>
          <p:nvPr/>
        </p:nvSpPr>
        <p:spPr>
          <a:xfrm>
            <a:off x="10922000" y="6197600"/>
            <a:ext cx="609600" cy="254000"/>
          </a:xfrm>
          <a:prstGeom prst="rect">
            <a:avLst/>
          </a:prstGeom>
          <a:noFill/>
        </p:spPr>
        <p:txBody>
          <a:bodyPr wrap="square" lIns="0" tIns="0" rIns="0" bIns="0" anchor="t">
            <a:spAutoFit/>
          </a:bodyPr>
          <a:lstStyle/>
          <a:p>
            <a:pPr algn="r">
              <a:lnSpc>
                <a:spcPct val="100000"/>
              </a:lnSpc>
              <a:spcBef>
                <a:spcPts val="0"/>
              </a:spcBef>
              <a:spcAft>
                <a:spcPts val="0"/>
              </a:spcAft>
            </a:pPr>
            <a:r>
              <a:rPr sz="1100" b="1">
                <a:solidFill>
                  <a:srgbClr val="A8E6D2"/>
                </a:solidFill>
                <a:latin typeface="Avenir Next"/>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01 / BÀI TOÁN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02</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Một video, nhiều rào cản</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Dubbing tốt phải đúng nội dung, đúng thời điểm và nghe tự nhiên</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108200"/>
            <a:ext cx="2921000" cy="2133600"/>
          </a:xfrm>
          <a:prstGeom prst="roundRect">
            <a:avLst/>
          </a:prstGeom>
          <a:solidFill>
            <a:srgbClr val="FFFEFA"/>
          </a:solidFill>
          <a:ln w="15240">
            <a:solidFill>
              <a:srgbClr val="CB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3600" y="2260600"/>
            <a:ext cx="609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5200" y="2286000"/>
            <a:ext cx="406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01</a:t>
            </a:r>
          </a:p>
        </p:txBody>
      </p:sp>
      <p:sp>
        <p:nvSpPr>
          <p:cNvPr id="11" name="TextBox 10"/>
          <p:cNvSpPr txBox="1"/>
          <p:nvPr/>
        </p:nvSpPr>
        <p:spPr>
          <a:xfrm>
            <a:off x="914400" y="2743200"/>
            <a:ext cx="2463800" cy="431800"/>
          </a:xfrm>
          <a:prstGeom prst="rect">
            <a:avLst/>
          </a:prstGeom>
          <a:noFill/>
        </p:spPr>
        <p:txBody>
          <a:bodyPr wrap="square" lIns="0" tIns="0" rIns="0" bIns="0" anchor="ctr">
            <a:spAutoFit/>
          </a:bodyPr>
          <a:lstStyle/>
          <a:p>
            <a:pPr algn="l">
              <a:lnSpc>
                <a:spcPct val="100000"/>
              </a:lnSpc>
              <a:spcBef>
                <a:spcPts val="0"/>
              </a:spcBef>
              <a:spcAft>
                <a:spcPts val="0"/>
              </a:spcAft>
            </a:pPr>
            <a:r>
              <a:rPr sz="2000" b="1">
                <a:solidFill>
                  <a:srgbClr val="18231E"/>
                </a:solidFill>
                <a:latin typeface="Avenir Next"/>
              </a:rPr>
              <a:t>Nội dung</a:t>
            </a:r>
          </a:p>
        </p:txBody>
      </p:sp>
      <p:sp>
        <p:nvSpPr>
          <p:cNvPr id="12" name="TextBox 11"/>
          <p:cNvSpPr txBox="1"/>
          <p:nvPr/>
        </p:nvSpPr>
        <p:spPr>
          <a:xfrm>
            <a:off x="914400" y="3213100"/>
            <a:ext cx="2463800" cy="9144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6B7771"/>
                </a:solidFill>
                <a:latin typeface="Avenir Next"/>
              </a:rPr>
              <a:t>Sai ASR kéo theo sai dịch</a:t>
            </a:r>
          </a:p>
        </p:txBody>
      </p:sp>
      <p:sp>
        <p:nvSpPr>
          <p:cNvPr id="13" name="Rounded Rectangle 12"/>
          <p:cNvSpPr/>
          <p:nvPr/>
        </p:nvSpPr>
        <p:spPr>
          <a:xfrm>
            <a:off x="4635500" y="2108200"/>
            <a:ext cx="2921000" cy="2133600"/>
          </a:xfrm>
          <a:prstGeom prst="roundRect">
            <a:avLst/>
          </a:prstGeom>
          <a:solidFill>
            <a:srgbClr val="FFFEFA"/>
          </a:solidFill>
          <a:ln w="15240">
            <a:solidFill>
              <a:srgbClr val="CB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813300" y="2260600"/>
            <a:ext cx="609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14900" y="2286000"/>
            <a:ext cx="406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02</a:t>
            </a:r>
          </a:p>
        </p:txBody>
      </p:sp>
      <p:sp>
        <p:nvSpPr>
          <p:cNvPr id="16" name="TextBox 15"/>
          <p:cNvSpPr txBox="1"/>
          <p:nvPr/>
        </p:nvSpPr>
        <p:spPr>
          <a:xfrm>
            <a:off x="4864100" y="2743200"/>
            <a:ext cx="2463800" cy="431800"/>
          </a:xfrm>
          <a:prstGeom prst="rect">
            <a:avLst/>
          </a:prstGeom>
          <a:noFill/>
        </p:spPr>
        <p:txBody>
          <a:bodyPr wrap="square" lIns="0" tIns="0" rIns="0" bIns="0" anchor="ctr">
            <a:spAutoFit/>
          </a:bodyPr>
          <a:lstStyle/>
          <a:p>
            <a:pPr algn="l">
              <a:lnSpc>
                <a:spcPct val="100000"/>
              </a:lnSpc>
              <a:spcBef>
                <a:spcPts val="0"/>
              </a:spcBef>
              <a:spcAft>
                <a:spcPts val="0"/>
              </a:spcAft>
            </a:pPr>
            <a:r>
              <a:rPr sz="2000" b="1">
                <a:solidFill>
                  <a:srgbClr val="18231E"/>
                </a:solidFill>
                <a:latin typeface="Avenir Next"/>
              </a:rPr>
              <a:t>Thời gian</a:t>
            </a:r>
          </a:p>
        </p:txBody>
      </p:sp>
      <p:sp>
        <p:nvSpPr>
          <p:cNvPr id="17" name="TextBox 16"/>
          <p:cNvSpPr txBox="1"/>
          <p:nvPr/>
        </p:nvSpPr>
        <p:spPr>
          <a:xfrm>
            <a:off x="4864100" y="3213100"/>
            <a:ext cx="2463800" cy="9144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6B7771"/>
                </a:solidFill>
                <a:latin typeface="Avenir Next"/>
              </a:rPr>
              <a:t>Giọng mới dài hơn cửa sổ gốc</a:t>
            </a:r>
          </a:p>
        </p:txBody>
      </p:sp>
      <p:sp>
        <p:nvSpPr>
          <p:cNvPr id="18" name="Rounded Rectangle 17"/>
          <p:cNvSpPr/>
          <p:nvPr/>
        </p:nvSpPr>
        <p:spPr>
          <a:xfrm>
            <a:off x="8585200" y="2108200"/>
            <a:ext cx="2921000" cy="2133600"/>
          </a:xfrm>
          <a:prstGeom prst="roundRect">
            <a:avLst/>
          </a:prstGeom>
          <a:solidFill>
            <a:srgbClr val="FFFEFA"/>
          </a:solidFill>
          <a:ln w="15240">
            <a:solidFill>
              <a:srgbClr val="CB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763000" y="2260600"/>
            <a:ext cx="609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4600" y="2286000"/>
            <a:ext cx="406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03</a:t>
            </a:r>
          </a:p>
        </p:txBody>
      </p:sp>
      <p:sp>
        <p:nvSpPr>
          <p:cNvPr id="21" name="TextBox 20"/>
          <p:cNvSpPr txBox="1"/>
          <p:nvPr/>
        </p:nvSpPr>
        <p:spPr>
          <a:xfrm>
            <a:off x="8813800" y="2743200"/>
            <a:ext cx="2463800" cy="431800"/>
          </a:xfrm>
          <a:prstGeom prst="rect">
            <a:avLst/>
          </a:prstGeom>
          <a:noFill/>
        </p:spPr>
        <p:txBody>
          <a:bodyPr wrap="square" lIns="0" tIns="0" rIns="0" bIns="0" anchor="ctr">
            <a:spAutoFit/>
          </a:bodyPr>
          <a:lstStyle/>
          <a:p>
            <a:pPr algn="l">
              <a:lnSpc>
                <a:spcPct val="100000"/>
              </a:lnSpc>
              <a:spcBef>
                <a:spcPts val="0"/>
              </a:spcBef>
              <a:spcAft>
                <a:spcPts val="0"/>
              </a:spcAft>
            </a:pPr>
            <a:r>
              <a:rPr sz="2000" b="1">
                <a:solidFill>
                  <a:srgbClr val="18231E"/>
                </a:solidFill>
                <a:latin typeface="Avenir Next"/>
              </a:rPr>
              <a:t>Âm thanh</a:t>
            </a:r>
          </a:p>
        </p:txBody>
      </p:sp>
      <p:sp>
        <p:nvSpPr>
          <p:cNvPr id="22" name="TextBox 21"/>
          <p:cNvSpPr txBox="1"/>
          <p:nvPr/>
        </p:nvSpPr>
        <p:spPr>
          <a:xfrm>
            <a:off x="8813800" y="3213100"/>
            <a:ext cx="2463800" cy="9144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6B7771"/>
                </a:solidFill>
                <a:latin typeface="Avenir Next"/>
              </a:rPr>
              <a:t>Lời gốc và lời dub chồng nhau</a:t>
            </a:r>
          </a:p>
        </p:txBody>
      </p:sp>
      <p:cxnSp>
        <p:nvCxnSpPr>
          <p:cNvPr id="23" name="Connector 22"/>
          <p:cNvCxnSpPr/>
          <p:nvPr/>
        </p:nvCxnSpPr>
        <p:spPr>
          <a:xfrm>
            <a:off x="3606800" y="3175000"/>
            <a:ext cx="10287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556500" y="3175000"/>
            <a:ext cx="10287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260600" y="4876800"/>
            <a:ext cx="7670800" cy="889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40000" y="5054600"/>
            <a:ext cx="7112000" cy="533400"/>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FFFFFF"/>
                </a:solidFill>
                <a:latin typeface="Avenir Next"/>
              </a:rPr>
              <a:t>Mục tiêu: đầu ra hiểu được + đồng bộ + có thể kiểm tra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01 / BÀI TOÁN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03</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Mục tiêu thiết kế</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Chất lượng đầu ra và khả năng giải thích được đặt ngang nhau</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851400" y="2438400"/>
            <a:ext cx="2489200" cy="2489200"/>
          </a:xfrm>
          <a:prstGeom prst="ellipse">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81600" y="3111500"/>
            <a:ext cx="1828800" cy="939800"/>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FFFFFF"/>
                </a:solidFill>
                <a:latin typeface="Avenir Next"/>
              </a:rPr>
              <a:t>VIDEO</a:t>
            </a:r>
            <a:br/>
            <a:r>
              <a:rPr sz="2200" b="1">
                <a:solidFill>
                  <a:srgbClr val="FFFFFF"/>
                </a:solidFill>
                <a:latin typeface="Avenir Next"/>
              </a:rPr>
              <a:t>ĐÃ LỒNG TIẾNG</a:t>
            </a:r>
          </a:p>
        </p:txBody>
      </p:sp>
      <p:sp>
        <p:nvSpPr>
          <p:cNvPr id="10" name="Oval 9"/>
          <p:cNvSpPr/>
          <p:nvPr/>
        </p:nvSpPr>
        <p:spPr>
          <a:xfrm>
            <a:off x="1270000" y="1981200"/>
            <a:ext cx="1422400" cy="1422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2400" y="2311400"/>
            <a:ext cx="1117600" cy="4064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Đúng</a:t>
            </a:r>
          </a:p>
        </p:txBody>
      </p:sp>
      <p:sp>
        <p:nvSpPr>
          <p:cNvPr id="12" name="TextBox 11"/>
          <p:cNvSpPr txBox="1"/>
          <p:nvPr/>
        </p:nvSpPr>
        <p:spPr>
          <a:xfrm>
            <a:off x="1244600" y="2768600"/>
            <a:ext cx="1473200" cy="3048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18231E"/>
                </a:solidFill>
                <a:latin typeface="Avenir Next"/>
              </a:rPr>
              <a:t>ASR + dịch</a:t>
            </a:r>
          </a:p>
        </p:txBody>
      </p:sp>
      <p:cxnSp>
        <p:nvCxnSpPr>
          <p:cNvPr id="13" name="Connector 12"/>
          <p:cNvCxnSpPr/>
          <p:nvPr/>
        </p:nvCxnSpPr>
        <p:spPr>
          <a:xfrm>
            <a:off x="2692400" y="2692400"/>
            <a:ext cx="21590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270000" y="4495800"/>
            <a:ext cx="1422400" cy="1422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22400" y="4826000"/>
            <a:ext cx="1117600" cy="4064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Rõ</a:t>
            </a:r>
          </a:p>
        </p:txBody>
      </p:sp>
      <p:sp>
        <p:nvSpPr>
          <p:cNvPr id="16" name="TextBox 15"/>
          <p:cNvSpPr txBox="1"/>
          <p:nvPr/>
        </p:nvSpPr>
        <p:spPr>
          <a:xfrm>
            <a:off x="1244600" y="5283200"/>
            <a:ext cx="1473200" cy="3048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18231E"/>
                </a:solidFill>
                <a:latin typeface="Avenir Next"/>
              </a:rPr>
              <a:t>TTS + mix</a:t>
            </a:r>
          </a:p>
        </p:txBody>
      </p:sp>
      <p:cxnSp>
        <p:nvCxnSpPr>
          <p:cNvPr id="17" name="Connector 16"/>
          <p:cNvCxnSpPr/>
          <p:nvPr/>
        </p:nvCxnSpPr>
        <p:spPr>
          <a:xfrm>
            <a:off x="2692400" y="5207000"/>
            <a:ext cx="21590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8940800" y="1981200"/>
            <a:ext cx="1422400" cy="1422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93200" y="2311400"/>
            <a:ext cx="1117600" cy="4064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Khớp</a:t>
            </a:r>
          </a:p>
        </p:txBody>
      </p:sp>
      <p:sp>
        <p:nvSpPr>
          <p:cNvPr id="20" name="TextBox 19"/>
          <p:cNvSpPr txBox="1"/>
          <p:nvPr/>
        </p:nvSpPr>
        <p:spPr>
          <a:xfrm>
            <a:off x="8915400" y="2768600"/>
            <a:ext cx="1473200" cy="3048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18231E"/>
                </a:solidFill>
                <a:latin typeface="Avenir Next"/>
              </a:rPr>
              <a:t>alignment</a:t>
            </a:r>
          </a:p>
        </p:txBody>
      </p:sp>
      <p:cxnSp>
        <p:nvCxnSpPr>
          <p:cNvPr id="21" name="Connector 20"/>
          <p:cNvCxnSpPr/>
          <p:nvPr/>
        </p:nvCxnSpPr>
        <p:spPr>
          <a:xfrm>
            <a:off x="7340600" y="2692400"/>
            <a:ext cx="16002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940800" y="4495800"/>
            <a:ext cx="1422400" cy="1422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3200" y="4826000"/>
            <a:ext cx="1117600" cy="4064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Bền</a:t>
            </a:r>
          </a:p>
        </p:txBody>
      </p:sp>
      <p:sp>
        <p:nvSpPr>
          <p:cNvPr id="24" name="TextBox 23"/>
          <p:cNvSpPr txBox="1"/>
          <p:nvPr/>
        </p:nvSpPr>
        <p:spPr>
          <a:xfrm>
            <a:off x="8915400" y="5283200"/>
            <a:ext cx="1473200" cy="3048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18231E"/>
                </a:solidFill>
                <a:latin typeface="Avenir Next"/>
              </a:rPr>
              <a:t>retry + resume</a:t>
            </a:r>
          </a:p>
        </p:txBody>
      </p:sp>
      <p:cxnSp>
        <p:nvCxnSpPr>
          <p:cNvPr id="25" name="Connector 24"/>
          <p:cNvCxnSpPr/>
          <p:nvPr/>
        </p:nvCxnSpPr>
        <p:spPr>
          <a:xfrm>
            <a:off x="7340600" y="5207000"/>
            <a:ext cx="16002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01 / PHẠM VI</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04</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Đã làm gì và không làm gì</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Giới hạn rõ giúp đánh giá công bằng</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06600"/>
            <a:ext cx="5181600" cy="3937000"/>
          </a:xfrm>
          <a:prstGeom prst="roundRect">
            <a:avLst/>
          </a:prstGeom>
          <a:solidFill>
            <a:srgbClr val="FFFEFA"/>
          </a:solidFill>
          <a:ln w="2540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90600" y="2286000"/>
            <a:ext cx="18034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2200" y="2311400"/>
            <a:ext cx="16002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ĐÃ TRIỂN KHAI</a:t>
            </a:r>
          </a:p>
        </p:txBody>
      </p:sp>
      <p:sp>
        <p:nvSpPr>
          <p:cNvPr id="11" name="Oval 10"/>
          <p:cNvSpPr/>
          <p:nvPr/>
        </p:nvSpPr>
        <p:spPr>
          <a:xfrm>
            <a:off x="1041400" y="2997200"/>
            <a:ext cx="304800" cy="304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04900" y="3009900"/>
            <a:ext cx="17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t>
            </a:r>
          </a:p>
        </p:txBody>
      </p:sp>
      <p:sp>
        <p:nvSpPr>
          <p:cNvPr id="13" name="TextBox 12"/>
          <p:cNvSpPr txBox="1"/>
          <p:nvPr/>
        </p:nvSpPr>
        <p:spPr>
          <a:xfrm>
            <a:off x="1524000" y="2971800"/>
            <a:ext cx="3810000" cy="35560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18231E"/>
                </a:solidFill>
                <a:latin typeface="Avenir Next"/>
              </a:rPr>
              <a:t>10 stage xử lý</a:t>
            </a:r>
          </a:p>
        </p:txBody>
      </p:sp>
      <p:sp>
        <p:nvSpPr>
          <p:cNvPr id="14" name="Oval 13"/>
          <p:cNvSpPr/>
          <p:nvPr/>
        </p:nvSpPr>
        <p:spPr>
          <a:xfrm>
            <a:off x="1041400" y="3657600"/>
            <a:ext cx="304800" cy="304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04900" y="3670300"/>
            <a:ext cx="17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t>
            </a:r>
          </a:p>
        </p:txBody>
      </p:sp>
      <p:sp>
        <p:nvSpPr>
          <p:cNvPr id="16" name="TextBox 15"/>
          <p:cNvSpPr txBox="1"/>
          <p:nvPr/>
        </p:nvSpPr>
        <p:spPr>
          <a:xfrm>
            <a:off x="1524000" y="3632200"/>
            <a:ext cx="3810000" cy="35560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18231E"/>
                </a:solidFill>
                <a:latin typeface="Avenir Next"/>
              </a:rPr>
              <a:t>3 nhóm model thay thế</a:t>
            </a:r>
          </a:p>
        </p:txBody>
      </p:sp>
      <p:sp>
        <p:nvSpPr>
          <p:cNvPr id="17" name="Oval 16"/>
          <p:cNvSpPr/>
          <p:nvPr/>
        </p:nvSpPr>
        <p:spPr>
          <a:xfrm>
            <a:off x="1041400" y="4318000"/>
            <a:ext cx="304800" cy="304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04900" y="4330700"/>
            <a:ext cx="17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t>
            </a:r>
          </a:p>
        </p:txBody>
      </p:sp>
      <p:sp>
        <p:nvSpPr>
          <p:cNvPr id="19" name="TextBox 18"/>
          <p:cNvSpPr txBox="1"/>
          <p:nvPr/>
        </p:nvSpPr>
        <p:spPr>
          <a:xfrm>
            <a:off x="1524000" y="4292600"/>
            <a:ext cx="3810000" cy="35560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18231E"/>
                </a:solidFill>
                <a:latin typeface="Avenir Next"/>
              </a:rPr>
              <a:t>Local và Colab</a:t>
            </a:r>
          </a:p>
        </p:txBody>
      </p:sp>
      <p:sp>
        <p:nvSpPr>
          <p:cNvPr id="20" name="Oval 19"/>
          <p:cNvSpPr/>
          <p:nvPr/>
        </p:nvSpPr>
        <p:spPr>
          <a:xfrm>
            <a:off x="1041400" y="4978400"/>
            <a:ext cx="304800" cy="304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04900" y="4991100"/>
            <a:ext cx="17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t>
            </a:r>
          </a:p>
        </p:txBody>
      </p:sp>
      <p:sp>
        <p:nvSpPr>
          <p:cNvPr id="22" name="TextBox 21"/>
          <p:cNvSpPr txBox="1"/>
          <p:nvPr/>
        </p:nvSpPr>
        <p:spPr>
          <a:xfrm>
            <a:off x="1524000" y="4953000"/>
            <a:ext cx="3810000" cy="276999"/>
          </a:xfrm>
          <a:prstGeom prst="rect">
            <a:avLst/>
          </a:prstGeom>
          <a:noFill/>
        </p:spPr>
        <p:txBody>
          <a:bodyPr wrap="square" lIns="0" tIns="0" rIns="0" bIns="0" anchor="t">
            <a:spAutoFit/>
          </a:bodyPr>
          <a:lstStyle/>
          <a:p>
            <a:pPr algn="l">
              <a:lnSpc>
                <a:spcPct val="100000"/>
              </a:lnSpc>
              <a:spcBef>
                <a:spcPts val="0"/>
              </a:spcBef>
              <a:spcAft>
                <a:spcPts val="0"/>
              </a:spcAft>
            </a:pPr>
            <a:r>
              <a:rPr lang="en-US" sz="1800" b="1">
                <a:solidFill>
                  <a:srgbClr val="18231E"/>
                </a:solidFill>
                <a:latin typeface="Avenir Next"/>
              </a:rPr>
              <a:t>Giọng riêng theo speaker</a:t>
            </a:r>
            <a:endParaRPr sz="1800" b="1">
              <a:solidFill>
                <a:srgbClr val="18231E"/>
              </a:solidFill>
              <a:latin typeface="Avenir Next"/>
            </a:endParaRPr>
          </a:p>
        </p:txBody>
      </p:sp>
      <p:sp>
        <p:nvSpPr>
          <p:cNvPr id="23" name="Rounded Rectangle 22"/>
          <p:cNvSpPr/>
          <p:nvPr/>
        </p:nvSpPr>
        <p:spPr>
          <a:xfrm>
            <a:off x="6324600" y="2006600"/>
            <a:ext cx="5181600" cy="3937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629400" y="2286000"/>
            <a:ext cx="2413000" cy="381000"/>
          </a:xfrm>
          <a:prstGeom prst="roundRect">
            <a:avLst/>
          </a:prstGeom>
          <a:solidFill>
            <a:srgbClr val="F28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31000" y="2311400"/>
            <a:ext cx="22098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KHÔNG THUỘC PHẠM VI</a:t>
            </a:r>
          </a:p>
        </p:txBody>
      </p:sp>
      <p:sp>
        <p:nvSpPr>
          <p:cNvPr id="26" name="Oval 25"/>
          <p:cNvSpPr/>
          <p:nvPr/>
        </p:nvSpPr>
        <p:spPr>
          <a:xfrm>
            <a:off x="6680200" y="2997200"/>
            <a:ext cx="304800" cy="304800"/>
          </a:xfrm>
          <a:prstGeom prst="ellipse">
            <a:avLst/>
          </a:prstGeom>
          <a:solidFill>
            <a:srgbClr val="1D332B"/>
          </a:solidFill>
          <a:ln w="1905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43700" y="3009900"/>
            <a:ext cx="17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28B7D"/>
                </a:solidFill>
                <a:latin typeface="Avenir Next"/>
              </a:rPr>
              <a:t>×</a:t>
            </a:r>
          </a:p>
        </p:txBody>
      </p:sp>
      <p:sp>
        <p:nvSpPr>
          <p:cNvPr id="28" name="TextBox 27"/>
          <p:cNvSpPr txBox="1"/>
          <p:nvPr/>
        </p:nvSpPr>
        <p:spPr>
          <a:xfrm>
            <a:off x="7162800" y="2971800"/>
            <a:ext cx="3810000" cy="35560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FFFFFF"/>
                </a:solidFill>
                <a:latin typeface="Avenir Next"/>
              </a:rPr>
              <a:t>Lip sync khuôn mặt</a:t>
            </a:r>
          </a:p>
        </p:txBody>
      </p:sp>
      <p:sp>
        <p:nvSpPr>
          <p:cNvPr id="29" name="Oval 28"/>
          <p:cNvSpPr/>
          <p:nvPr/>
        </p:nvSpPr>
        <p:spPr>
          <a:xfrm>
            <a:off x="6680200" y="3657600"/>
            <a:ext cx="304800" cy="304800"/>
          </a:xfrm>
          <a:prstGeom prst="ellipse">
            <a:avLst/>
          </a:prstGeom>
          <a:solidFill>
            <a:srgbClr val="1D332B"/>
          </a:solidFill>
          <a:ln w="1905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43700" y="3670300"/>
            <a:ext cx="17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28B7D"/>
                </a:solidFill>
                <a:latin typeface="Avenir Next"/>
              </a:rPr>
              <a:t>×</a:t>
            </a:r>
          </a:p>
        </p:txBody>
      </p:sp>
      <p:sp>
        <p:nvSpPr>
          <p:cNvPr id="31" name="TextBox 30"/>
          <p:cNvSpPr txBox="1"/>
          <p:nvPr/>
        </p:nvSpPr>
        <p:spPr>
          <a:xfrm>
            <a:off x="7162800" y="3632200"/>
            <a:ext cx="3810000" cy="35560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FFFFFF"/>
                </a:solidFill>
                <a:latin typeface="Avenir Next"/>
              </a:rPr>
              <a:t>Voice cloning</a:t>
            </a:r>
          </a:p>
        </p:txBody>
      </p:sp>
      <p:sp>
        <p:nvSpPr>
          <p:cNvPr id="32" name="Oval 31"/>
          <p:cNvSpPr/>
          <p:nvPr/>
        </p:nvSpPr>
        <p:spPr>
          <a:xfrm>
            <a:off x="6680200" y="4318000"/>
            <a:ext cx="304800" cy="304800"/>
          </a:xfrm>
          <a:prstGeom prst="ellipse">
            <a:avLst/>
          </a:prstGeom>
          <a:solidFill>
            <a:srgbClr val="1D332B"/>
          </a:solidFill>
          <a:ln w="1905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43700" y="4330700"/>
            <a:ext cx="17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28B7D"/>
                </a:solidFill>
                <a:latin typeface="Avenir Next"/>
              </a:rPr>
              <a:t>×</a:t>
            </a:r>
          </a:p>
        </p:txBody>
      </p:sp>
      <p:sp>
        <p:nvSpPr>
          <p:cNvPr id="34" name="TextBox 33"/>
          <p:cNvSpPr txBox="1"/>
          <p:nvPr/>
        </p:nvSpPr>
        <p:spPr>
          <a:xfrm>
            <a:off x="7162800" y="4292600"/>
            <a:ext cx="3810000" cy="35560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FFFFFF"/>
                </a:solidFill>
                <a:latin typeface="Avenir Next"/>
              </a:rPr>
              <a:t>Production auth</a:t>
            </a:r>
          </a:p>
        </p:txBody>
      </p:sp>
      <p:sp>
        <p:nvSpPr>
          <p:cNvPr id="35" name="Oval 34"/>
          <p:cNvSpPr/>
          <p:nvPr/>
        </p:nvSpPr>
        <p:spPr>
          <a:xfrm>
            <a:off x="6680200" y="4978400"/>
            <a:ext cx="304800" cy="304800"/>
          </a:xfrm>
          <a:prstGeom prst="ellipse">
            <a:avLst/>
          </a:prstGeom>
          <a:solidFill>
            <a:srgbClr val="1D332B"/>
          </a:solidFill>
          <a:ln w="1905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43700" y="4991100"/>
            <a:ext cx="17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28B7D"/>
                </a:solidFill>
                <a:latin typeface="Avenir Next"/>
              </a:rPr>
              <a:t>×</a:t>
            </a:r>
          </a:p>
        </p:txBody>
      </p:sp>
      <p:sp>
        <p:nvSpPr>
          <p:cNvPr id="37" name="TextBox 36"/>
          <p:cNvSpPr txBox="1"/>
          <p:nvPr/>
        </p:nvSpPr>
        <p:spPr>
          <a:xfrm>
            <a:off x="7162800" y="4953000"/>
            <a:ext cx="3810000" cy="35560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FFFFFF"/>
                </a:solidFill>
                <a:latin typeface="Avenir Next"/>
              </a:rPr>
              <a:t>Cam kết dịch chuyên ngành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A8E6D2"/>
                </a:solidFill>
                <a:latin typeface="Avenir Next"/>
              </a:rPr>
              <a:t>02 / KIẾN TRÚC</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A8E6D2"/>
                </a:solidFill>
                <a:latin typeface="Avenir Next"/>
              </a:rPr>
              <a:t>05</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FFFFFF"/>
                </a:solidFill>
                <a:latin typeface="Avenir Next"/>
              </a:rPr>
              <a:t>Bốn lớp, một hợp đồng chung</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A8E6D2"/>
                </a:solidFill>
                <a:latin typeface="Avenir Next"/>
              </a:rPr>
              <a:t>Mỗi lớp có một trách nhiệm rõ và có thể thay thế độc lập</a:t>
            </a:r>
          </a:p>
        </p:txBody>
      </p:sp>
      <p:cxnSp>
        <p:nvCxnSpPr>
          <p:cNvPr id="7" name="Connector 6"/>
          <p:cNvCxnSpPr/>
          <p:nvPr/>
        </p:nvCxnSpPr>
        <p:spPr>
          <a:xfrm>
            <a:off x="685800" y="1625600"/>
            <a:ext cx="10820400" cy="0"/>
          </a:xfrm>
          <a:prstGeom prst="line">
            <a:avLst/>
          </a:prstGeom>
          <a:ln w="15240">
            <a:solidFill>
              <a:srgbClr val="2D756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6600" y="2603500"/>
            <a:ext cx="1803400" cy="812800"/>
          </a:xfrm>
          <a:prstGeom prst="roundRect">
            <a:avLst/>
          </a:prstGeom>
          <a:solidFill>
            <a:srgbClr val="1D3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3600" y="2705100"/>
            <a:ext cx="15494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Frontend</a:t>
            </a:r>
          </a:p>
        </p:txBody>
      </p:sp>
      <p:sp>
        <p:nvSpPr>
          <p:cNvPr id="10" name="TextBox 9"/>
          <p:cNvSpPr txBox="1"/>
          <p:nvPr/>
        </p:nvSpPr>
        <p:spPr>
          <a:xfrm>
            <a:off x="863600" y="3048000"/>
            <a:ext cx="15494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upload, progress</a:t>
            </a:r>
          </a:p>
        </p:txBody>
      </p:sp>
      <p:cxnSp>
        <p:nvCxnSpPr>
          <p:cNvPr id="11" name="Connector 10"/>
          <p:cNvCxnSpPr/>
          <p:nvPr/>
        </p:nvCxnSpPr>
        <p:spPr>
          <a:xfrm>
            <a:off x="2540000" y="3009900"/>
            <a:ext cx="482600" cy="0"/>
          </a:xfrm>
          <a:prstGeom prst="line">
            <a:avLst/>
          </a:prstGeom>
          <a:ln w="3175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022600" y="2603500"/>
            <a:ext cx="1803400" cy="812800"/>
          </a:xfrm>
          <a:prstGeom prst="roundRect">
            <a:avLst/>
          </a:prstGeom>
          <a:solidFill>
            <a:srgbClr val="1D3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49600" y="2705100"/>
            <a:ext cx="15494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FastAPI</a:t>
            </a:r>
          </a:p>
        </p:txBody>
      </p:sp>
      <p:sp>
        <p:nvSpPr>
          <p:cNvPr id="14" name="TextBox 13"/>
          <p:cNvSpPr txBox="1"/>
          <p:nvPr/>
        </p:nvSpPr>
        <p:spPr>
          <a:xfrm>
            <a:off x="3149600" y="3048000"/>
            <a:ext cx="15494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job, files, routing</a:t>
            </a:r>
          </a:p>
        </p:txBody>
      </p:sp>
      <p:cxnSp>
        <p:nvCxnSpPr>
          <p:cNvPr id="15" name="Connector 14"/>
          <p:cNvCxnSpPr/>
          <p:nvPr/>
        </p:nvCxnSpPr>
        <p:spPr>
          <a:xfrm>
            <a:off x="4826000" y="3009900"/>
            <a:ext cx="482600" cy="0"/>
          </a:xfrm>
          <a:prstGeom prst="line">
            <a:avLst/>
          </a:prstGeom>
          <a:ln w="3175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08600" y="2603500"/>
            <a:ext cx="1803400" cy="812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35600" y="2705100"/>
            <a:ext cx="15494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n8n</a:t>
            </a:r>
          </a:p>
        </p:txBody>
      </p:sp>
      <p:sp>
        <p:nvSpPr>
          <p:cNvPr id="18" name="TextBox 17"/>
          <p:cNvSpPr txBox="1"/>
          <p:nvPr/>
        </p:nvSpPr>
        <p:spPr>
          <a:xfrm>
            <a:off x="5435600" y="3048000"/>
            <a:ext cx="15494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order, retry</a:t>
            </a:r>
          </a:p>
        </p:txBody>
      </p:sp>
      <p:cxnSp>
        <p:nvCxnSpPr>
          <p:cNvPr id="19" name="Connector 18"/>
          <p:cNvCxnSpPr/>
          <p:nvPr/>
        </p:nvCxnSpPr>
        <p:spPr>
          <a:xfrm>
            <a:off x="7112000" y="3009900"/>
            <a:ext cx="482600" cy="0"/>
          </a:xfrm>
          <a:prstGeom prst="line">
            <a:avLst/>
          </a:prstGeom>
          <a:ln w="3175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594600" y="2603500"/>
            <a:ext cx="1803400" cy="812800"/>
          </a:xfrm>
          <a:prstGeom prst="roundRect">
            <a:avLst/>
          </a:prstGeom>
          <a:solidFill>
            <a:srgbClr val="1D3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21600" y="2705100"/>
            <a:ext cx="15494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AI runtime</a:t>
            </a:r>
          </a:p>
        </p:txBody>
      </p:sp>
      <p:sp>
        <p:nvSpPr>
          <p:cNvPr id="22" name="TextBox 21"/>
          <p:cNvSpPr txBox="1"/>
          <p:nvPr/>
        </p:nvSpPr>
        <p:spPr>
          <a:xfrm>
            <a:off x="7721600" y="3048000"/>
            <a:ext cx="15494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model providers</a:t>
            </a:r>
          </a:p>
        </p:txBody>
      </p:sp>
      <p:sp>
        <p:nvSpPr>
          <p:cNvPr id="23" name="Rounded Rectangle 22"/>
          <p:cNvSpPr/>
          <p:nvPr/>
        </p:nvSpPr>
        <p:spPr>
          <a:xfrm>
            <a:off x="9880600" y="2603500"/>
            <a:ext cx="1574800" cy="812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07600" y="2705100"/>
            <a:ext cx="1320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FFmpeg</a:t>
            </a:r>
          </a:p>
        </p:txBody>
      </p:sp>
      <p:sp>
        <p:nvSpPr>
          <p:cNvPr id="25" name="TextBox 24"/>
          <p:cNvSpPr txBox="1"/>
          <p:nvPr/>
        </p:nvSpPr>
        <p:spPr>
          <a:xfrm>
            <a:off x="10007600" y="3048000"/>
            <a:ext cx="1320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media engine</a:t>
            </a:r>
          </a:p>
        </p:txBody>
      </p:sp>
      <p:cxnSp>
        <p:nvCxnSpPr>
          <p:cNvPr id="26" name="Connector 25"/>
          <p:cNvCxnSpPr/>
          <p:nvPr/>
        </p:nvCxnSpPr>
        <p:spPr>
          <a:xfrm>
            <a:off x="9398000" y="3009900"/>
            <a:ext cx="482600" cy="0"/>
          </a:xfrm>
          <a:prstGeom prst="line">
            <a:avLst/>
          </a:prstGeom>
          <a:ln w="3175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632200" y="4572000"/>
            <a:ext cx="4927600" cy="914400"/>
          </a:xfrm>
          <a:prstGeom prst="round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87800" y="4724400"/>
            <a:ext cx="1905000" cy="355600"/>
          </a:xfrm>
          <a:prstGeom prst="rect">
            <a:avLst/>
          </a:prstGeom>
          <a:noFill/>
        </p:spPr>
        <p:txBody>
          <a:bodyPr wrap="square" lIns="0" tIns="0" rIns="0" bIns="0" anchor="t">
            <a:spAutoFit/>
          </a:bodyPr>
          <a:lstStyle/>
          <a:p>
            <a:pPr algn="l">
              <a:lnSpc>
                <a:spcPct val="100000"/>
              </a:lnSpc>
              <a:spcBef>
                <a:spcPts val="0"/>
              </a:spcBef>
              <a:spcAft>
                <a:spcPts val="0"/>
              </a:spcAft>
            </a:pPr>
            <a:r>
              <a:rPr sz="2000" b="1">
                <a:solidFill>
                  <a:srgbClr val="18231E"/>
                </a:solidFill>
                <a:latin typeface="Avenir Next"/>
              </a:rPr>
              <a:t>dubflow_core</a:t>
            </a:r>
          </a:p>
        </p:txBody>
      </p:sp>
      <p:sp>
        <p:nvSpPr>
          <p:cNvPr id="29" name="TextBox 28"/>
          <p:cNvSpPr txBox="1"/>
          <p:nvPr/>
        </p:nvSpPr>
        <p:spPr>
          <a:xfrm>
            <a:off x="5943600" y="4673600"/>
            <a:ext cx="2286000" cy="68580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6B7771"/>
                </a:solidFill>
                <a:latin typeface="Avenir Next"/>
              </a:rPr>
              <a:t>languages, segments</a:t>
            </a:r>
            <a:br/>
            <a:r>
              <a:rPr sz="1400" b="0">
                <a:solidFill>
                  <a:srgbClr val="6B7771"/>
                </a:solidFill>
                <a:latin typeface="Avenir Next"/>
              </a:rPr>
              <a:t>alignment, mixing</a:t>
            </a:r>
          </a:p>
        </p:txBody>
      </p:sp>
      <p:cxnSp>
        <p:nvCxnSpPr>
          <p:cNvPr id="30" name="Connector 29"/>
          <p:cNvCxnSpPr/>
          <p:nvPr/>
        </p:nvCxnSpPr>
        <p:spPr>
          <a:xfrm flipV="1">
            <a:off x="6096000" y="3556000"/>
            <a:ext cx="0" cy="1016000"/>
          </a:xfrm>
          <a:prstGeom prst="line">
            <a:avLst/>
          </a:prstGeom>
          <a:ln w="25400">
            <a:solidFill>
              <a:srgbClr val="D8FF5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02 / KIẾN TRÚC</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06</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Ranh giới trách nhiệm</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Tách đúng chỗ giúp debug nhanh và tránh coupling</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06600"/>
            <a:ext cx="2425700" cy="3937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311400"/>
            <a:ext cx="1968500" cy="482600"/>
          </a:xfrm>
          <a:prstGeom prst="rect">
            <a:avLst/>
          </a:prstGeom>
          <a:noFill/>
        </p:spPr>
        <p:txBody>
          <a:bodyPr wrap="square" lIns="0" tIns="0" rIns="0" bIns="0" anchor="t">
            <a:spAutoFit/>
          </a:bodyPr>
          <a:lstStyle/>
          <a:p>
            <a:pPr algn="l">
              <a:lnSpc>
                <a:spcPct val="100000"/>
              </a:lnSpc>
              <a:spcBef>
                <a:spcPts val="0"/>
              </a:spcBef>
              <a:spcAft>
                <a:spcPts val="0"/>
              </a:spcAft>
            </a:pPr>
            <a:r>
              <a:rPr sz="2400" b="1">
                <a:solidFill>
                  <a:srgbClr val="18231E"/>
                </a:solidFill>
                <a:latin typeface="Avenir Next"/>
              </a:rPr>
              <a:t>UI</a:t>
            </a:r>
          </a:p>
        </p:txBody>
      </p:sp>
      <p:cxnSp>
        <p:nvCxnSpPr>
          <p:cNvPr id="10" name="Connector 9"/>
          <p:cNvCxnSpPr/>
          <p:nvPr/>
        </p:nvCxnSpPr>
        <p:spPr>
          <a:xfrm>
            <a:off x="914400" y="2921000"/>
            <a:ext cx="1968500" cy="0"/>
          </a:xfrm>
          <a:prstGeom prst="line">
            <a:avLst/>
          </a:prstGeom>
          <a:ln w="15240">
            <a:solidFill>
              <a:srgbClr val="18231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3225800"/>
            <a:ext cx="1968500" cy="16764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Cấu hình</a:t>
            </a:r>
            <a:br/>
            <a:r>
              <a:rPr sz="1700" b="1">
                <a:solidFill>
                  <a:srgbClr val="18231E"/>
                </a:solidFill>
                <a:latin typeface="Avenir Next"/>
              </a:rPr>
              <a:t>Hiển thị trạng thái</a:t>
            </a:r>
            <a:br/>
            <a:r>
              <a:rPr sz="1700" b="1">
                <a:solidFill>
                  <a:srgbClr val="18231E"/>
                </a:solidFill>
                <a:latin typeface="Avenir Next"/>
              </a:rPr>
              <a:t>Tải kết quả</a:t>
            </a:r>
          </a:p>
        </p:txBody>
      </p:sp>
      <p:sp>
        <p:nvSpPr>
          <p:cNvPr id="12" name="Rounded Rectangle 11"/>
          <p:cNvSpPr/>
          <p:nvPr/>
        </p:nvSpPr>
        <p:spPr>
          <a:xfrm>
            <a:off x="3441700" y="2006600"/>
            <a:ext cx="2425700" cy="3937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70300" y="2311400"/>
            <a:ext cx="1968500" cy="482600"/>
          </a:xfrm>
          <a:prstGeom prst="rect">
            <a:avLst/>
          </a:prstGeom>
          <a:noFill/>
        </p:spPr>
        <p:txBody>
          <a:bodyPr wrap="square" lIns="0" tIns="0" rIns="0" bIns="0" anchor="t">
            <a:spAutoFit/>
          </a:bodyPr>
          <a:lstStyle/>
          <a:p>
            <a:pPr algn="l">
              <a:lnSpc>
                <a:spcPct val="100000"/>
              </a:lnSpc>
              <a:spcBef>
                <a:spcPts val="0"/>
              </a:spcBef>
              <a:spcAft>
                <a:spcPts val="0"/>
              </a:spcAft>
            </a:pPr>
            <a:r>
              <a:rPr sz="2400" b="1">
                <a:solidFill>
                  <a:srgbClr val="18231E"/>
                </a:solidFill>
                <a:latin typeface="Avenir Next"/>
              </a:rPr>
              <a:t>Gateway</a:t>
            </a:r>
          </a:p>
        </p:txBody>
      </p:sp>
      <p:cxnSp>
        <p:nvCxnSpPr>
          <p:cNvPr id="14" name="Connector 13"/>
          <p:cNvCxnSpPr/>
          <p:nvPr/>
        </p:nvCxnSpPr>
        <p:spPr>
          <a:xfrm>
            <a:off x="3670300" y="2921000"/>
            <a:ext cx="1968500" cy="0"/>
          </a:xfrm>
          <a:prstGeom prst="line">
            <a:avLst/>
          </a:prstGeom>
          <a:ln w="15240">
            <a:solidFill>
              <a:srgbClr val="18231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70300" y="3225800"/>
            <a:ext cx="1968500" cy="16764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Job state</a:t>
            </a:r>
            <a:br/>
            <a:r>
              <a:rPr sz="1700" b="1">
                <a:solidFill>
                  <a:srgbClr val="18231E"/>
                </a:solidFill>
                <a:latin typeface="Avenir Next"/>
              </a:rPr>
              <a:t>File storage</a:t>
            </a:r>
            <a:br/>
            <a:r>
              <a:rPr sz="1700" b="1">
                <a:solidFill>
                  <a:srgbClr val="18231E"/>
                </a:solidFill>
                <a:latin typeface="Avenir Next"/>
              </a:rPr>
              <a:t>Backend routing</a:t>
            </a:r>
          </a:p>
        </p:txBody>
      </p:sp>
      <p:sp>
        <p:nvSpPr>
          <p:cNvPr id="16" name="Rounded Rectangle 15"/>
          <p:cNvSpPr/>
          <p:nvPr/>
        </p:nvSpPr>
        <p:spPr>
          <a:xfrm>
            <a:off x="6197600" y="2006600"/>
            <a:ext cx="2425700" cy="3937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26200" y="2311400"/>
            <a:ext cx="1968500" cy="482600"/>
          </a:xfrm>
          <a:prstGeom prst="rect">
            <a:avLst/>
          </a:prstGeom>
          <a:noFill/>
        </p:spPr>
        <p:txBody>
          <a:bodyPr wrap="square" lIns="0" tIns="0" rIns="0" bIns="0" anchor="t">
            <a:spAutoFit/>
          </a:bodyPr>
          <a:lstStyle/>
          <a:p>
            <a:pPr algn="l">
              <a:lnSpc>
                <a:spcPct val="100000"/>
              </a:lnSpc>
              <a:spcBef>
                <a:spcPts val="0"/>
              </a:spcBef>
              <a:spcAft>
                <a:spcPts val="0"/>
              </a:spcAft>
            </a:pPr>
            <a:r>
              <a:rPr sz="2400" b="1">
                <a:solidFill>
                  <a:srgbClr val="FFFFFF"/>
                </a:solidFill>
                <a:latin typeface="Avenir Next"/>
              </a:rPr>
              <a:t>n8n</a:t>
            </a:r>
          </a:p>
        </p:txBody>
      </p:sp>
      <p:cxnSp>
        <p:nvCxnSpPr>
          <p:cNvPr id="18" name="Connector 17"/>
          <p:cNvCxnSpPr/>
          <p:nvPr/>
        </p:nvCxnSpPr>
        <p:spPr>
          <a:xfrm>
            <a:off x="6426200" y="2921000"/>
            <a:ext cx="1968500"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26200" y="3225800"/>
            <a:ext cx="1968500" cy="16764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FFFFFF"/>
                </a:solidFill>
                <a:latin typeface="Avenir Next"/>
              </a:rPr>
              <a:t>Thứ tự stage</a:t>
            </a:r>
            <a:br/>
            <a:r>
              <a:rPr sz="1700" b="1">
                <a:solidFill>
                  <a:srgbClr val="FFFFFF"/>
                </a:solidFill>
                <a:latin typeface="Avenir Next"/>
              </a:rPr>
              <a:t>Retry workflow</a:t>
            </a:r>
            <a:br/>
            <a:r>
              <a:rPr sz="1700" b="1">
                <a:solidFill>
                  <a:srgbClr val="FFFFFF"/>
                </a:solidFill>
                <a:latin typeface="Avenir Next"/>
              </a:rPr>
              <a:t>Nhánh kết quả</a:t>
            </a:r>
          </a:p>
        </p:txBody>
      </p:sp>
      <p:sp>
        <p:nvSpPr>
          <p:cNvPr id="20" name="Rounded Rectangle 19"/>
          <p:cNvSpPr/>
          <p:nvPr/>
        </p:nvSpPr>
        <p:spPr>
          <a:xfrm>
            <a:off x="8953500" y="2006600"/>
            <a:ext cx="2425700" cy="39370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2100" y="2311400"/>
            <a:ext cx="1968500" cy="482600"/>
          </a:xfrm>
          <a:prstGeom prst="rect">
            <a:avLst/>
          </a:prstGeom>
          <a:noFill/>
        </p:spPr>
        <p:txBody>
          <a:bodyPr wrap="square" lIns="0" tIns="0" rIns="0" bIns="0" anchor="t">
            <a:spAutoFit/>
          </a:bodyPr>
          <a:lstStyle/>
          <a:p>
            <a:pPr algn="l">
              <a:lnSpc>
                <a:spcPct val="100000"/>
              </a:lnSpc>
              <a:spcBef>
                <a:spcPts val="0"/>
              </a:spcBef>
              <a:spcAft>
                <a:spcPts val="0"/>
              </a:spcAft>
            </a:pPr>
            <a:r>
              <a:rPr sz="2400" b="1">
                <a:solidFill>
                  <a:srgbClr val="FFFFFF"/>
                </a:solidFill>
                <a:latin typeface="Avenir Next"/>
              </a:rPr>
              <a:t>AI</a:t>
            </a:r>
          </a:p>
        </p:txBody>
      </p:sp>
      <p:cxnSp>
        <p:nvCxnSpPr>
          <p:cNvPr id="22" name="Connector 21"/>
          <p:cNvCxnSpPr/>
          <p:nvPr/>
        </p:nvCxnSpPr>
        <p:spPr>
          <a:xfrm>
            <a:off x="9182100" y="2921000"/>
            <a:ext cx="1968500"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82100" y="3225800"/>
            <a:ext cx="1968500" cy="16764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FFFFFF"/>
                </a:solidFill>
                <a:latin typeface="Avenir Next"/>
              </a:rPr>
              <a:t>Lazy load model</a:t>
            </a:r>
            <a:br/>
            <a:r>
              <a:rPr sz="1700" b="1">
                <a:solidFill>
                  <a:srgbClr val="FFFFFF"/>
                </a:solidFill>
                <a:latin typeface="Avenir Next"/>
              </a:rPr>
              <a:t>Inference</a:t>
            </a:r>
            <a:br/>
            <a:r>
              <a:rPr sz="1700" b="1">
                <a:solidFill>
                  <a:srgbClr val="FFFFFF"/>
                </a:solidFill>
                <a:latin typeface="Avenir Next"/>
              </a:rPr>
              <a:t>Task async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02 / TRIỂN KHAI</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07</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Một codebase, hai runtime</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Backend routing che giấu khác biệt giữa máy local và GPU Colab</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108200"/>
            <a:ext cx="4445000" cy="3225800"/>
          </a:xfrm>
          <a:prstGeom prst="roundRect">
            <a:avLst/>
          </a:prstGeom>
          <a:solidFill>
            <a:srgbClr val="FFFEFA"/>
          </a:solidFill>
          <a:ln w="2540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3600" y="2260600"/>
            <a:ext cx="482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5200" y="2286000"/>
            <a:ext cx="279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A</a:t>
            </a:r>
          </a:p>
        </p:txBody>
      </p:sp>
      <p:sp>
        <p:nvSpPr>
          <p:cNvPr id="11" name="TextBox 10"/>
          <p:cNvSpPr txBox="1"/>
          <p:nvPr/>
        </p:nvSpPr>
        <p:spPr>
          <a:xfrm>
            <a:off x="914400" y="2743200"/>
            <a:ext cx="3987800" cy="431800"/>
          </a:xfrm>
          <a:prstGeom prst="rect">
            <a:avLst/>
          </a:prstGeom>
          <a:noFill/>
        </p:spPr>
        <p:txBody>
          <a:bodyPr wrap="square" lIns="0" tIns="0" rIns="0" bIns="0" anchor="ctr">
            <a:spAutoFit/>
          </a:bodyPr>
          <a:lstStyle/>
          <a:p>
            <a:pPr algn="l">
              <a:lnSpc>
                <a:spcPct val="100000"/>
              </a:lnSpc>
              <a:spcBef>
                <a:spcPts val="0"/>
              </a:spcBef>
              <a:spcAft>
                <a:spcPts val="0"/>
              </a:spcAft>
            </a:pPr>
            <a:r>
              <a:rPr sz="2600" b="1">
                <a:solidFill>
                  <a:srgbClr val="18231E"/>
                </a:solidFill>
                <a:latin typeface="Avenir Next"/>
              </a:rPr>
              <a:t>LOCAL</a:t>
            </a:r>
          </a:p>
        </p:txBody>
      </p:sp>
      <p:sp>
        <p:nvSpPr>
          <p:cNvPr id="12" name="TextBox 11"/>
          <p:cNvSpPr txBox="1"/>
          <p:nvPr/>
        </p:nvSpPr>
        <p:spPr>
          <a:xfrm>
            <a:off x="914400" y="3213100"/>
            <a:ext cx="3987800" cy="2006600"/>
          </a:xfrm>
          <a:prstGeom prst="rect">
            <a:avLst/>
          </a:prstGeom>
          <a:noFill/>
        </p:spPr>
        <p:txBody>
          <a:bodyPr wrap="square" lIns="0" tIns="0" rIns="0" bIns="0" anchor="t">
            <a:spAutoFit/>
          </a:bodyPr>
          <a:lstStyle/>
          <a:p>
            <a:pPr algn="l">
              <a:lnSpc>
                <a:spcPct val="100000"/>
              </a:lnSpc>
              <a:spcBef>
                <a:spcPts val="0"/>
              </a:spcBef>
              <a:spcAft>
                <a:spcPts val="0"/>
              </a:spcAft>
            </a:pPr>
            <a:r>
              <a:rPr sz="1800" b="0">
                <a:solidFill>
                  <a:srgbClr val="6B7771"/>
                </a:solidFill>
                <a:latin typeface="Avenir Next"/>
              </a:rPr>
              <a:t>Docker network</a:t>
            </a:r>
            <a:br/>
            <a:r>
              <a:rPr sz="1800" b="0">
                <a:solidFill>
                  <a:srgbClr val="6B7771"/>
                </a:solidFill>
                <a:latin typeface="Avenir Next"/>
              </a:rPr>
              <a:t>Không qua internet</a:t>
            </a:r>
            <a:br/>
            <a:r>
              <a:rPr sz="1800" b="0">
                <a:solidFill>
                  <a:srgbClr val="6B7771"/>
                </a:solidFill>
                <a:latin typeface="Avenir Next"/>
              </a:rPr>
              <a:t>CPU hoặc NVIDIA GPU</a:t>
            </a:r>
          </a:p>
        </p:txBody>
      </p:sp>
      <p:sp>
        <p:nvSpPr>
          <p:cNvPr id="13" name="Rounded Rectangle 12"/>
          <p:cNvSpPr/>
          <p:nvPr/>
        </p:nvSpPr>
        <p:spPr>
          <a:xfrm>
            <a:off x="7061200" y="2108200"/>
            <a:ext cx="4445000" cy="3225800"/>
          </a:xfrm>
          <a:prstGeom prst="roundRect">
            <a:avLst/>
          </a:prstGeom>
          <a:solidFill>
            <a:srgbClr val="14241F"/>
          </a:solidFill>
          <a:ln w="15240">
            <a:solidFill>
              <a:srgbClr val="1424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239000" y="2260600"/>
            <a:ext cx="482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40600" y="2286000"/>
            <a:ext cx="279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B</a:t>
            </a:r>
          </a:p>
        </p:txBody>
      </p:sp>
      <p:sp>
        <p:nvSpPr>
          <p:cNvPr id="16" name="TextBox 15"/>
          <p:cNvSpPr txBox="1"/>
          <p:nvPr/>
        </p:nvSpPr>
        <p:spPr>
          <a:xfrm>
            <a:off x="7289800" y="2743200"/>
            <a:ext cx="3987800" cy="431800"/>
          </a:xfrm>
          <a:prstGeom prst="rect">
            <a:avLst/>
          </a:prstGeom>
          <a:noFill/>
        </p:spPr>
        <p:txBody>
          <a:bodyPr wrap="square" lIns="0" tIns="0" rIns="0" bIns="0" anchor="ctr">
            <a:spAutoFit/>
          </a:bodyPr>
          <a:lstStyle/>
          <a:p>
            <a:pPr algn="l">
              <a:lnSpc>
                <a:spcPct val="100000"/>
              </a:lnSpc>
              <a:spcBef>
                <a:spcPts val="0"/>
              </a:spcBef>
              <a:spcAft>
                <a:spcPts val="0"/>
              </a:spcAft>
            </a:pPr>
            <a:r>
              <a:rPr sz="2600" b="1">
                <a:solidFill>
                  <a:srgbClr val="FFFFFF"/>
                </a:solidFill>
                <a:latin typeface="Avenir Next"/>
              </a:rPr>
              <a:t>COLAB</a:t>
            </a:r>
          </a:p>
        </p:txBody>
      </p:sp>
      <p:sp>
        <p:nvSpPr>
          <p:cNvPr id="17" name="TextBox 16"/>
          <p:cNvSpPr txBox="1"/>
          <p:nvPr/>
        </p:nvSpPr>
        <p:spPr>
          <a:xfrm>
            <a:off x="7289800" y="3213100"/>
            <a:ext cx="3987800" cy="2006600"/>
          </a:xfrm>
          <a:prstGeom prst="rect">
            <a:avLst/>
          </a:prstGeom>
          <a:noFill/>
        </p:spPr>
        <p:txBody>
          <a:bodyPr wrap="square" lIns="0" tIns="0" rIns="0" bIns="0" anchor="t">
            <a:spAutoFit/>
          </a:bodyPr>
          <a:lstStyle/>
          <a:p>
            <a:pPr algn="l">
              <a:lnSpc>
                <a:spcPct val="100000"/>
              </a:lnSpc>
              <a:spcBef>
                <a:spcPts val="0"/>
              </a:spcBef>
              <a:spcAft>
                <a:spcPts val="0"/>
              </a:spcAft>
            </a:pPr>
            <a:r>
              <a:rPr sz="1800" b="0">
                <a:solidFill>
                  <a:srgbClr val="A8E6D2"/>
                </a:solidFill>
                <a:latin typeface="Avenir Next"/>
              </a:rPr>
              <a:t>Cloudflare tunnel</a:t>
            </a:r>
            <a:br/>
            <a:r>
              <a:rPr sz="1800" b="0">
                <a:solidFill>
                  <a:srgbClr val="A8E6D2"/>
                </a:solidFill>
                <a:latin typeface="Avenir Next"/>
              </a:rPr>
              <a:t>GPU theo phiên</a:t>
            </a:r>
            <a:br/>
            <a:r>
              <a:rPr sz="1800" b="0">
                <a:solidFill>
                  <a:srgbClr val="A8E6D2"/>
                </a:solidFill>
                <a:latin typeface="Avenir Next"/>
              </a:rPr>
              <a:t>URL đổi khi restart</a:t>
            </a:r>
          </a:p>
        </p:txBody>
      </p:sp>
      <p:sp>
        <p:nvSpPr>
          <p:cNvPr id="18" name="Rounded Rectangle 17"/>
          <p:cNvSpPr/>
          <p:nvPr/>
        </p:nvSpPr>
        <p:spPr>
          <a:xfrm>
            <a:off x="5410200" y="3136900"/>
            <a:ext cx="1371600" cy="812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537200" y="3238500"/>
            <a:ext cx="11176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Gateway</a:t>
            </a:r>
          </a:p>
        </p:txBody>
      </p:sp>
      <p:sp>
        <p:nvSpPr>
          <p:cNvPr id="20" name="TextBox 19"/>
          <p:cNvSpPr txBox="1"/>
          <p:nvPr/>
        </p:nvSpPr>
        <p:spPr>
          <a:xfrm>
            <a:off x="5537200" y="3581400"/>
            <a:ext cx="11176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router</a:t>
            </a:r>
          </a:p>
        </p:txBody>
      </p:sp>
      <p:cxnSp>
        <p:nvCxnSpPr>
          <p:cNvPr id="21" name="Connector 20"/>
          <p:cNvCxnSpPr/>
          <p:nvPr/>
        </p:nvCxnSpPr>
        <p:spPr>
          <a:xfrm>
            <a:off x="5130800" y="3543300"/>
            <a:ext cx="2794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781800" y="3543300"/>
            <a:ext cx="2794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191000" y="5702300"/>
            <a:ext cx="38100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92600" y="5727700"/>
            <a:ext cx="36068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cùng /health + /capabilities + /tasks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02 / KIẾN TRÚC</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08</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Sequence của một job</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Control plane đi qua n8n, data plane đi qua gateway</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31800" y="1905000"/>
            <a:ext cx="1371600" cy="3302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Browser</a:t>
            </a:r>
          </a:p>
        </p:txBody>
      </p:sp>
      <p:cxnSp>
        <p:nvCxnSpPr>
          <p:cNvPr id="9" name="Connector 8"/>
          <p:cNvCxnSpPr/>
          <p:nvPr/>
        </p:nvCxnSpPr>
        <p:spPr>
          <a:xfrm>
            <a:off x="1117600" y="2286000"/>
            <a:ext cx="0" cy="36068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946400" y="1905000"/>
            <a:ext cx="1371600" cy="3302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Gateway</a:t>
            </a:r>
          </a:p>
        </p:txBody>
      </p:sp>
      <p:cxnSp>
        <p:nvCxnSpPr>
          <p:cNvPr id="11" name="Connector 10"/>
          <p:cNvCxnSpPr/>
          <p:nvPr/>
        </p:nvCxnSpPr>
        <p:spPr>
          <a:xfrm>
            <a:off x="3632200" y="2286000"/>
            <a:ext cx="0" cy="36068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61000" y="1905000"/>
            <a:ext cx="1371600" cy="3302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n8n</a:t>
            </a:r>
          </a:p>
        </p:txBody>
      </p:sp>
      <p:cxnSp>
        <p:nvCxnSpPr>
          <p:cNvPr id="13" name="Connector 12"/>
          <p:cNvCxnSpPr/>
          <p:nvPr/>
        </p:nvCxnSpPr>
        <p:spPr>
          <a:xfrm>
            <a:off x="6146800" y="2286000"/>
            <a:ext cx="0" cy="36068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975600" y="1905000"/>
            <a:ext cx="1371600" cy="3302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AI</a:t>
            </a:r>
          </a:p>
        </p:txBody>
      </p:sp>
      <p:cxnSp>
        <p:nvCxnSpPr>
          <p:cNvPr id="15" name="Connector 14"/>
          <p:cNvCxnSpPr/>
          <p:nvPr/>
        </p:nvCxnSpPr>
        <p:spPr>
          <a:xfrm>
            <a:off x="8661400" y="2286000"/>
            <a:ext cx="0" cy="36068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236200" y="1905000"/>
            <a:ext cx="1371600" cy="3302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Storage</a:t>
            </a:r>
          </a:p>
        </p:txBody>
      </p:sp>
      <p:cxnSp>
        <p:nvCxnSpPr>
          <p:cNvPr id="17" name="Connector 16"/>
          <p:cNvCxnSpPr/>
          <p:nvPr/>
        </p:nvCxnSpPr>
        <p:spPr>
          <a:xfrm>
            <a:off x="10922000" y="2286000"/>
            <a:ext cx="0" cy="36068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17600" y="2514600"/>
            <a:ext cx="25146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219200" y="2286000"/>
            <a:ext cx="23114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1">
                <a:solidFill>
                  <a:srgbClr val="6B7771"/>
                </a:solidFill>
                <a:latin typeface="Avenir Next"/>
              </a:rPr>
              <a:t>upload + config</a:t>
            </a:r>
          </a:p>
        </p:txBody>
      </p:sp>
      <p:cxnSp>
        <p:nvCxnSpPr>
          <p:cNvPr id="20" name="Connector 19"/>
          <p:cNvCxnSpPr/>
          <p:nvPr/>
        </p:nvCxnSpPr>
        <p:spPr>
          <a:xfrm>
            <a:off x="3632200" y="3022600"/>
            <a:ext cx="7289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733800" y="2794000"/>
            <a:ext cx="70866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1">
                <a:solidFill>
                  <a:srgbClr val="6B7771"/>
                </a:solidFill>
                <a:latin typeface="Avenir Next"/>
              </a:rPr>
              <a:t>save job</a:t>
            </a:r>
          </a:p>
        </p:txBody>
      </p:sp>
      <p:cxnSp>
        <p:nvCxnSpPr>
          <p:cNvPr id="22" name="Connector 21"/>
          <p:cNvCxnSpPr/>
          <p:nvPr/>
        </p:nvCxnSpPr>
        <p:spPr>
          <a:xfrm>
            <a:off x="3632200" y="3530600"/>
            <a:ext cx="25146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33800" y="3302000"/>
            <a:ext cx="23114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1">
                <a:solidFill>
                  <a:srgbClr val="6B7771"/>
                </a:solidFill>
                <a:latin typeface="Avenir Next"/>
              </a:rPr>
              <a:t>trigger workflow</a:t>
            </a:r>
          </a:p>
        </p:txBody>
      </p:sp>
      <p:cxnSp>
        <p:nvCxnSpPr>
          <p:cNvPr id="24" name="Connector 23"/>
          <p:cNvCxnSpPr/>
          <p:nvPr/>
        </p:nvCxnSpPr>
        <p:spPr>
          <a:xfrm flipH="1">
            <a:off x="3632200" y="4038600"/>
            <a:ext cx="2514600" cy="0"/>
          </a:xfrm>
          <a:prstGeom prst="line">
            <a:avLst/>
          </a:prstGeom>
          <a:ln w="25400">
            <a:solidFill>
              <a:srgbClr val="E7B8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33800" y="3810000"/>
            <a:ext cx="23114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1">
                <a:solidFill>
                  <a:srgbClr val="6B7771"/>
                </a:solidFill>
                <a:latin typeface="Avenir Next"/>
              </a:rPr>
              <a:t>POST /stages/*</a:t>
            </a:r>
          </a:p>
        </p:txBody>
      </p:sp>
      <p:cxnSp>
        <p:nvCxnSpPr>
          <p:cNvPr id="26" name="Connector 25"/>
          <p:cNvCxnSpPr/>
          <p:nvPr/>
        </p:nvCxnSpPr>
        <p:spPr>
          <a:xfrm>
            <a:off x="3632200" y="4546600"/>
            <a:ext cx="50292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733800" y="4318000"/>
            <a:ext cx="4826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1">
                <a:solidFill>
                  <a:srgbClr val="6B7771"/>
                </a:solidFill>
                <a:latin typeface="Avenir Next"/>
              </a:rPr>
              <a:t>model task</a:t>
            </a:r>
          </a:p>
        </p:txBody>
      </p:sp>
      <p:cxnSp>
        <p:nvCxnSpPr>
          <p:cNvPr id="28" name="Connector 27"/>
          <p:cNvCxnSpPr/>
          <p:nvPr/>
        </p:nvCxnSpPr>
        <p:spPr>
          <a:xfrm flipH="1">
            <a:off x="3632200" y="5054600"/>
            <a:ext cx="5029200" cy="0"/>
          </a:xfrm>
          <a:prstGeom prst="line">
            <a:avLst/>
          </a:prstGeom>
          <a:ln w="25400">
            <a:solidFill>
              <a:srgbClr val="E7B8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733800" y="4826000"/>
            <a:ext cx="4826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1">
                <a:solidFill>
                  <a:srgbClr val="6B7771"/>
                </a:solidFill>
                <a:latin typeface="Avenir Next"/>
              </a:rPr>
              <a:t>result / task_id</a:t>
            </a:r>
          </a:p>
        </p:txBody>
      </p:sp>
      <p:cxnSp>
        <p:nvCxnSpPr>
          <p:cNvPr id="30" name="Connector 29"/>
          <p:cNvCxnSpPr/>
          <p:nvPr/>
        </p:nvCxnSpPr>
        <p:spPr>
          <a:xfrm flipH="1">
            <a:off x="1117600" y="5562600"/>
            <a:ext cx="2514600" cy="0"/>
          </a:xfrm>
          <a:prstGeom prst="line">
            <a:avLst/>
          </a:prstGeom>
          <a:ln w="25400">
            <a:solidFill>
              <a:srgbClr val="E7B8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219200" y="5334000"/>
            <a:ext cx="23114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1">
                <a:solidFill>
                  <a:srgbClr val="6B7771"/>
                </a:solidFill>
                <a:latin typeface="Avenir Next"/>
              </a:rPr>
              <a:t>poll status + download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03 / PIPELINE</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09</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11 checkpoint quan sát được</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Upload là checkpoint đầu, sau đó là 10 stage xử lý</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85800" y="2159000"/>
            <a:ext cx="533400" cy="533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4700" y="2286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01</a:t>
            </a:r>
          </a:p>
        </p:txBody>
      </p:sp>
      <p:sp>
        <p:nvSpPr>
          <p:cNvPr id="10" name="TextBox 9"/>
          <p:cNvSpPr txBox="1"/>
          <p:nvPr/>
        </p:nvSpPr>
        <p:spPr>
          <a:xfrm>
            <a:off x="355600" y="2844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Upload</a:t>
            </a:r>
          </a:p>
        </p:txBody>
      </p:sp>
      <p:cxnSp>
        <p:nvCxnSpPr>
          <p:cNvPr id="11" name="Connector 10"/>
          <p:cNvCxnSpPr/>
          <p:nvPr/>
        </p:nvCxnSpPr>
        <p:spPr>
          <a:xfrm>
            <a:off x="1219200" y="2425700"/>
            <a:ext cx="13081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527300" y="2159000"/>
            <a:ext cx="533400" cy="533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16200" y="2286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02</a:t>
            </a:r>
          </a:p>
        </p:txBody>
      </p:sp>
      <p:sp>
        <p:nvSpPr>
          <p:cNvPr id="14" name="TextBox 13"/>
          <p:cNvSpPr txBox="1"/>
          <p:nvPr/>
        </p:nvSpPr>
        <p:spPr>
          <a:xfrm>
            <a:off x="2197100" y="2844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Extract</a:t>
            </a:r>
          </a:p>
        </p:txBody>
      </p:sp>
      <p:cxnSp>
        <p:nvCxnSpPr>
          <p:cNvPr id="15" name="Connector 14"/>
          <p:cNvCxnSpPr/>
          <p:nvPr/>
        </p:nvCxnSpPr>
        <p:spPr>
          <a:xfrm>
            <a:off x="3060700" y="2425700"/>
            <a:ext cx="13081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368800" y="2159000"/>
            <a:ext cx="533400" cy="533400"/>
          </a:xfrm>
          <a:prstGeom prst="ellipse">
            <a:avLst/>
          </a:prstGeom>
          <a:solidFill>
            <a:srgbClr val="D8FF58"/>
          </a:solidFill>
          <a:ln w="25400">
            <a:solidFill>
              <a:srgbClr val="D8F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57700" y="2286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03</a:t>
            </a:r>
          </a:p>
        </p:txBody>
      </p:sp>
      <p:sp>
        <p:nvSpPr>
          <p:cNvPr id="18" name="TextBox 17"/>
          <p:cNvSpPr txBox="1"/>
          <p:nvPr/>
        </p:nvSpPr>
        <p:spPr>
          <a:xfrm>
            <a:off x="4038600" y="2844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Diarize</a:t>
            </a:r>
          </a:p>
        </p:txBody>
      </p:sp>
      <p:cxnSp>
        <p:nvCxnSpPr>
          <p:cNvPr id="19" name="Connector 18"/>
          <p:cNvCxnSpPr/>
          <p:nvPr/>
        </p:nvCxnSpPr>
        <p:spPr>
          <a:xfrm>
            <a:off x="4902200" y="2425700"/>
            <a:ext cx="13081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210300" y="2159000"/>
            <a:ext cx="533400" cy="533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99200" y="2286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04</a:t>
            </a:r>
          </a:p>
        </p:txBody>
      </p:sp>
      <p:sp>
        <p:nvSpPr>
          <p:cNvPr id="22" name="TextBox 21"/>
          <p:cNvSpPr txBox="1"/>
          <p:nvPr/>
        </p:nvSpPr>
        <p:spPr>
          <a:xfrm>
            <a:off x="5880100" y="2844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ASR</a:t>
            </a:r>
          </a:p>
        </p:txBody>
      </p:sp>
      <p:cxnSp>
        <p:nvCxnSpPr>
          <p:cNvPr id="23" name="Connector 22"/>
          <p:cNvCxnSpPr/>
          <p:nvPr/>
        </p:nvCxnSpPr>
        <p:spPr>
          <a:xfrm>
            <a:off x="6743700" y="2425700"/>
            <a:ext cx="13081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8051800" y="2159000"/>
            <a:ext cx="533400" cy="533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40700" y="2286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05</a:t>
            </a:r>
          </a:p>
        </p:txBody>
      </p:sp>
      <p:sp>
        <p:nvSpPr>
          <p:cNvPr id="26" name="TextBox 25"/>
          <p:cNvSpPr txBox="1"/>
          <p:nvPr/>
        </p:nvSpPr>
        <p:spPr>
          <a:xfrm>
            <a:off x="7721600" y="2844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Merge</a:t>
            </a:r>
          </a:p>
        </p:txBody>
      </p:sp>
      <p:cxnSp>
        <p:nvCxnSpPr>
          <p:cNvPr id="27" name="Connector 26"/>
          <p:cNvCxnSpPr/>
          <p:nvPr/>
        </p:nvCxnSpPr>
        <p:spPr>
          <a:xfrm>
            <a:off x="8585200" y="2425700"/>
            <a:ext cx="13081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893300" y="2159000"/>
            <a:ext cx="533400" cy="533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982200" y="2286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06</a:t>
            </a:r>
          </a:p>
        </p:txBody>
      </p:sp>
      <p:sp>
        <p:nvSpPr>
          <p:cNvPr id="30" name="TextBox 29"/>
          <p:cNvSpPr txBox="1"/>
          <p:nvPr/>
        </p:nvSpPr>
        <p:spPr>
          <a:xfrm>
            <a:off x="9563100" y="2844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Translate</a:t>
            </a:r>
          </a:p>
        </p:txBody>
      </p:sp>
      <p:sp>
        <p:nvSpPr>
          <p:cNvPr id="31" name="Oval 30"/>
          <p:cNvSpPr/>
          <p:nvPr/>
        </p:nvSpPr>
        <p:spPr>
          <a:xfrm>
            <a:off x="685800" y="4191000"/>
            <a:ext cx="533400" cy="533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4700" y="4318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07</a:t>
            </a:r>
          </a:p>
        </p:txBody>
      </p:sp>
      <p:sp>
        <p:nvSpPr>
          <p:cNvPr id="33" name="TextBox 32"/>
          <p:cNvSpPr txBox="1"/>
          <p:nvPr/>
        </p:nvSpPr>
        <p:spPr>
          <a:xfrm>
            <a:off x="355600" y="4876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TTS</a:t>
            </a:r>
          </a:p>
        </p:txBody>
      </p:sp>
      <p:cxnSp>
        <p:nvCxnSpPr>
          <p:cNvPr id="34" name="Connector 33"/>
          <p:cNvCxnSpPr/>
          <p:nvPr/>
        </p:nvCxnSpPr>
        <p:spPr>
          <a:xfrm>
            <a:off x="1219200" y="4457700"/>
            <a:ext cx="16764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2895600" y="4191000"/>
            <a:ext cx="533400" cy="533400"/>
          </a:xfrm>
          <a:prstGeom prst="ellipse">
            <a:avLst/>
          </a:prstGeom>
          <a:solidFill>
            <a:srgbClr val="A8E6D2"/>
          </a:solidFill>
          <a:ln w="2540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84500" y="4318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08</a:t>
            </a:r>
          </a:p>
        </p:txBody>
      </p:sp>
      <p:sp>
        <p:nvSpPr>
          <p:cNvPr id="37" name="TextBox 36"/>
          <p:cNvSpPr txBox="1"/>
          <p:nvPr/>
        </p:nvSpPr>
        <p:spPr>
          <a:xfrm>
            <a:off x="2565400" y="4876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Align</a:t>
            </a:r>
          </a:p>
        </p:txBody>
      </p:sp>
      <p:cxnSp>
        <p:nvCxnSpPr>
          <p:cNvPr id="38" name="Connector 37"/>
          <p:cNvCxnSpPr/>
          <p:nvPr/>
        </p:nvCxnSpPr>
        <p:spPr>
          <a:xfrm>
            <a:off x="3429000" y="4457700"/>
            <a:ext cx="16764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5105400" y="4191000"/>
            <a:ext cx="533400" cy="533400"/>
          </a:xfrm>
          <a:prstGeom prst="ellipse">
            <a:avLst/>
          </a:prstGeom>
          <a:solidFill>
            <a:srgbClr val="A8E6D2"/>
          </a:solidFill>
          <a:ln w="2540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194300" y="4318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09</a:t>
            </a:r>
          </a:p>
        </p:txBody>
      </p:sp>
      <p:sp>
        <p:nvSpPr>
          <p:cNvPr id="41" name="TextBox 40"/>
          <p:cNvSpPr txBox="1"/>
          <p:nvPr/>
        </p:nvSpPr>
        <p:spPr>
          <a:xfrm>
            <a:off x="4775200" y="4876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Separate</a:t>
            </a:r>
          </a:p>
        </p:txBody>
      </p:sp>
      <p:cxnSp>
        <p:nvCxnSpPr>
          <p:cNvPr id="42" name="Connector 41"/>
          <p:cNvCxnSpPr/>
          <p:nvPr/>
        </p:nvCxnSpPr>
        <p:spPr>
          <a:xfrm>
            <a:off x="5638800" y="4457700"/>
            <a:ext cx="16764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7315200" y="4191000"/>
            <a:ext cx="533400" cy="533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04100" y="4318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10</a:t>
            </a:r>
          </a:p>
        </p:txBody>
      </p:sp>
      <p:sp>
        <p:nvSpPr>
          <p:cNvPr id="45" name="TextBox 44"/>
          <p:cNvSpPr txBox="1"/>
          <p:nvPr/>
        </p:nvSpPr>
        <p:spPr>
          <a:xfrm>
            <a:off x="6985000" y="4876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Mix</a:t>
            </a:r>
          </a:p>
        </p:txBody>
      </p:sp>
      <p:cxnSp>
        <p:nvCxnSpPr>
          <p:cNvPr id="46" name="Connector 45"/>
          <p:cNvCxnSpPr/>
          <p:nvPr/>
        </p:nvCxnSpPr>
        <p:spPr>
          <a:xfrm>
            <a:off x="7848600" y="4457700"/>
            <a:ext cx="16764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9525000" y="4191000"/>
            <a:ext cx="533400" cy="533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613900" y="4318000"/>
            <a:ext cx="3556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18231E"/>
                </a:solidFill>
                <a:latin typeface="Avenir Next"/>
              </a:rPr>
              <a:t>11</a:t>
            </a:r>
          </a:p>
        </p:txBody>
      </p:sp>
      <p:sp>
        <p:nvSpPr>
          <p:cNvPr id="49" name="TextBox 48"/>
          <p:cNvSpPr txBox="1"/>
          <p:nvPr/>
        </p:nvSpPr>
        <p:spPr>
          <a:xfrm>
            <a:off x="9194800" y="4876800"/>
            <a:ext cx="1193800" cy="381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Render</a:t>
            </a:r>
          </a:p>
        </p:txBody>
      </p:sp>
      <p:sp>
        <p:nvSpPr>
          <p:cNvPr id="50" name="Rounded Rectangle 49"/>
          <p:cNvSpPr/>
          <p:nvPr/>
        </p:nvSpPr>
        <p:spPr>
          <a:xfrm>
            <a:off x="8890000" y="5994400"/>
            <a:ext cx="21590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991600" y="6019800"/>
            <a:ext cx="19558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viền xanh = optional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03 / DỮ LIỆU</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10</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Canonical segment là xương sống</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Mọi stage đọc và bổ sung cùng một cấu trúc</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632200" y="2032000"/>
            <a:ext cx="4927600" cy="3937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38600" y="2336800"/>
            <a:ext cx="20320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D8FF58"/>
                </a:solidFill>
                <a:latin typeface="Avenir Next"/>
              </a:rPr>
              <a:t>SEGMENT</a:t>
            </a:r>
          </a:p>
        </p:txBody>
      </p:sp>
      <p:sp>
        <p:nvSpPr>
          <p:cNvPr id="10" name="TextBox 9"/>
          <p:cNvSpPr txBox="1"/>
          <p:nvPr/>
        </p:nvSpPr>
        <p:spPr>
          <a:xfrm>
            <a:off x="4038600" y="2895600"/>
            <a:ext cx="1676400" cy="2794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FFFFFF"/>
                </a:solidFill>
                <a:latin typeface="Avenir Next"/>
              </a:rPr>
              <a:t>start / end</a:t>
            </a:r>
          </a:p>
        </p:txBody>
      </p:sp>
      <p:sp>
        <p:nvSpPr>
          <p:cNvPr id="11" name="TextBox 10"/>
          <p:cNvSpPr txBox="1"/>
          <p:nvPr/>
        </p:nvSpPr>
        <p:spPr>
          <a:xfrm>
            <a:off x="5969000" y="2895600"/>
            <a:ext cx="2133600" cy="27940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A8E6D2"/>
                </a:solidFill>
                <a:latin typeface="Avenir Next"/>
              </a:rPr>
              <a:t>cửa sổ thời gian</a:t>
            </a:r>
          </a:p>
        </p:txBody>
      </p:sp>
      <p:cxnSp>
        <p:nvCxnSpPr>
          <p:cNvPr id="12" name="Connector 11"/>
          <p:cNvCxnSpPr/>
          <p:nvPr/>
        </p:nvCxnSpPr>
        <p:spPr>
          <a:xfrm>
            <a:off x="4038600" y="3225800"/>
            <a:ext cx="4064000" cy="0"/>
          </a:xfrm>
          <a:prstGeom prst="line">
            <a:avLst/>
          </a:prstGeom>
          <a:ln w="10160">
            <a:solidFill>
              <a:srgbClr val="2D756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038600" y="3352800"/>
            <a:ext cx="1676400" cy="2794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FFFFFF"/>
                </a:solidFill>
                <a:latin typeface="Avenir Next"/>
              </a:rPr>
              <a:t>text</a:t>
            </a:r>
          </a:p>
        </p:txBody>
      </p:sp>
      <p:sp>
        <p:nvSpPr>
          <p:cNvPr id="14" name="TextBox 13"/>
          <p:cNvSpPr txBox="1"/>
          <p:nvPr/>
        </p:nvSpPr>
        <p:spPr>
          <a:xfrm>
            <a:off x="5969000" y="3352800"/>
            <a:ext cx="2133600" cy="27940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A8E6D2"/>
                </a:solidFill>
                <a:latin typeface="Avenir Next"/>
              </a:rPr>
              <a:t>ASR output</a:t>
            </a:r>
          </a:p>
        </p:txBody>
      </p:sp>
      <p:cxnSp>
        <p:nvCxnSpPr>
          <p:cNvPr id="15" name="Connector 14"/>
          <p:cNvCxnSpPr/>
          <p:nvPr/>
        </p:nvCxnSpPr>
        <p:spPr>
          <a:xfrm>
            <a:off x="4038600" y="3683000"/>
            <a:ext cx="4064000" cy="0"/>
          </a:xfrm>
          <a:prstGeom prst="line">
            <a:avLst/>
          </a:prstGeom>
          <a:ln w="10160">
            <a:solidFill>
              <a:srgbClr val="2D756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038600" y="3810000"/>
            <a:ext cx="1676400" cy="2794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FFFFFF"/>
                </a:solidFill>
                <a:latin typeface="Avenir Next"/>
              </a:rPr>
              <a:t>speaker</a:t>
            </a:r>
          </a:p>
        </p:txBody>
      </p:sp>
      <p:sp>
        <p:nvSpPr>
          <p:cNvPr id="17" name="TextBox 16"/>
          <p:cNvSpPr txBox="1"/>
          <p:nvPr/>
        </p:nvSpPr>
        <p:spPr>
          <a:xfrm>
            <a:off x="5969000" y="3810000"/>
            <a:ext cx="2133600" cy="27940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A8E6D2"/>
                </a:solidFill>
                <a:latin typeface="Avenir Next"/>
              </a:rPr>
              <a:t>nhãn người nói</a:t>
            </a:r>
          </a:p>
        </p:txBody>
      </p:sp>
      <p:cxnSp>
        <p:nvCxnSpPr>
          <p:cNvPr id="18" name="Connector 17"/>
          <p:cNvCxnSpPr/>
          <p:nvPr/>
        </p:nvCxnSpPr>
        <p:spPr>
          <a:xfrm>
            <a:off x="4038600" y="4140200"/>
            <a:ext cx="4064000" cy="0"/>
          </a:xfrm>
          <a:prstGeom prst="line">
            <a:avLst/>
          </a:prstGeom>
          <a:ln w="10160">
            <a:solidFill>
              <a:srgbClr val="2D756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38600" y="4267200"/>
            <a:ext cx="1676400" cy="2794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FFFFFF"/>
                </a:solidFill>
                <a:latin typeface="Avenir Next"/>
              </a:rPr>
              <a:t>translation</a:t>
            </a:r>
          </a:p>
        </p:txBody>
      </p:sp>
      <p:sp>
        <p:nvSpPr>
          <p:cNvPr id="20" name="TextBox 19"/>
          <p:cNvSpPr txBox="1"/>
          <p:nvPr/>
        </p:nvSpPr>
        <p:spPr>
          <a:xfrm>
            <a:off x="5969000" y="4267200"/>
            <a:ext cx="2133600" cy="27940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A8E6D2"/>
                </a:solidFill>
                <a:latin typeface="Avenir Next"/>
              </a:rPr>
              <a:t>NMT output</a:t>
            </a:r>
          </a:p>
        </p:txBody>
      </p:sp>
      <p:cxnSp>
        <p:nvCxnSpPr>
          <p:cNvPr id="21" name="Connector 20"/>
          <p:cNvCxnSpPr/>
          <p:nvPr/>
        </p:nvCxnSpPr>
        <p:spPr>
          <a:xfrm>
            <a:off x="4038600" y="4597400"/>
            <a:ext cx="4064000" cy="0"/>
          </a:xfrm>
          <a:prstGeom prst="line">
            <a:avLst/>
          </a:prstGeom>
          <a:ln w="10160">
            <a:solidFill>
              <a:srgbClr val="2D756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038600" y="4724400"/>
            <a:ext cx="1676400" cy="2794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FFFFFF"/>
                </a:solidFill>
                <a:latin typeface="Avenir Next"/>
              </a:rPr>
              <a:t>tts_path</a:t>
            </a:r>
          </a:p>
        </p:txBody>
      </p:sp>
      <p:sp>
        <p:nvSpPr>
          <p:cNvPr id="23" name="TextBox 22"/>
          <p:cNvSpPr txBox="1"/>
          <p:nvPr/>
        </p:nvSpPr>
        <p:spPr>
          <a:xfrm>
            <a:off x="5969000" y="4724400"/>
            <a:ext cx="2133600" cy="27940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A8E6D2"/>
                </a:solidFill>
                <a:latin typeface="Avenir Next"/>
              </a:rPr>
              <a:t>WAV từng câu</a:t>
            </a:r>
          </a:p>
        </p:txBody>
      </p:sp>
      <p:cxnSp>
        <p:nvCxnSpPr>
          <p:cNvPr id="24" name="Connector 23"/>
          <p:cNvCxnSpPr/>
          <p:nvPr/>
        </p:nvCxnSpPr>
        <p:spPr>
          <a:xfrm>
            <a:off x="4038600" y="5054600"/>
            <a:ext cx="4064000" cy="0"/>
          </a:xfrm>
          <a:prstGeom prst="line">
            <a:avLst/>
          </a:prstGeom>
          <a:ln w="10160">
            <a:solidFill>
              <a:srgbClr val="2D756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038600" y="5181600"/>
            <a:ext cx="1676400" cy="2794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FFFFFF"/>
                </a:solidFill>
                <a:latin typeface="Avenir Next"/>
              </a:rPr>
              <a:t>alignment</a:t>
            </a:r>
          </a:p>
        </p:txBody>
      </p:sp>
      <p:sp>
        <p:nvSpPr>
          <p:cNvPr id="26" name="TextBox 25"/>
          <p:cNvSpPr txBox="1"/>
          <p:nvPr/>
        </p:nvSpPr>
        <p:spPr>
          <a:xfrm>
            <a:off x="5969000" y="5181600"/>
            <a:ext cx="2133600" cy="27940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A8E6D2"/>
                </a:solidFill>
                <a:latin typeface="Avenir Next"/>
              </a:rPr>
              <a:t>speed + overflow</a:t>
            </a:r>
          </a:p>
        </p:txBody>
      </p:sp>
      <p:cxnSp>
        <p:nvCxnSpPr>
          <p:cNvPr id="27" name="Connector 26"/>
          <p:cNvCxnSpPr/>
          <p:nvPr/>
        </p:nvCxnSpPr>
        <p:spPr>
          <a:xfrm>
            <a:off x="4038600" y="5511800"/>
            <a:ext cx="4064000" cy="0"/>
          </a:xfrm>
          <a:prstGeom prst="line">
            <a:avLst/>
          </a:prstGeom>
          <a:ln w="10160">
            <a:solidFill>
              <a:srgbClr val="2D7565"/>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66800" y="2768600"/>
            <a:ext cx="1676400" cy="5842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93800" y="2857500"/>
            <a:ext cx="14224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ASR</a:t>
            </a:r>
          </a:p>
        </p:txBody>
      </p:sp>
      <p:cxnSp>
        <p:nvCxnSpPr>
          <p:cNvPr id="30" name="Connector 29"/>
          <p:cNvCxnSpPr/>
          <p:nvPr/>
        </p:nvCxnSpPr>
        <p:spPr>
          <a:xfrm>
            <a:off x="2743200" y="3060700"/>
            <a:ext cx="8890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39800" y="4394200"/>
            <a:ext cx="1676400" cy="5842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66800" y="4483100"/>
            <a:ext cx="14224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Diarization</a:t>
            </a:r>
          </a:p>
        </p:txBody>
      </p:sp>
      <p:cxnSp>
        <p:nvCxnSpPr>
          <p:cNvPr id="33" name="Connector 32"/>
          <p:cNvCxnSpPr/>
          <p:nvPr/>
        </p:nvCxnSpPr>
        <p:spPr>
          <a:xfrm>
            <a:off x="2616200" y="4686300"/>
            <a:ext cx="10160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575800" y="2768600"/>
            <a:ext cx="1676400" cy="5842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702800" y="2857500"/>
            <a:ext cx="14224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Translate</a:t>
            </a:r>
          </a:p>
        </p:txBody>
      </p:sp>
      <p:cxnSp>
        <p:nvCxnSpPr>
          <p:cNvPr id="36" name="Connector 35"/>
          <p:cNvCxnSpPr/>
          <p:nvPr/>
        </p:nvCxnSpPr>
        <p:spPr>
          <a:xfrm>
            <a:off x="8559800" y="3060700"/>
            <a:ext cx="10160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448800" y="4394200"/>
            <a:ext cx="1676400" cy="5842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575800" y="4483100"/>
            <a:ext cx="14224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TTS + align</a:t>
            </a:r>
          </a:p>
        </p:txBody>
      </p:sp>
      <p:cxnSp>
        <p:nvCxnSpPr>
          <p:cNvPr id="39" name="Connector 38"/>
          <p:cNvCxnSpPr/>
          <p:nvPr/>
        </p:nvCxnSpPr>
        <p:spPr>
          <a:xfrm>
            <a:off x="8559800" y="4686300"/>
            <a:ext cx="8890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03 / MEDIA</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11</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Extract tạo hai nhánh audio</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Một bản cho model, một bản cho phối âm cuối</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984500"/>
            <a:ext cx="17780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3086100"/>
            <a:ext cx="1524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VIDEO</a:t>
            </a:r>
          </a:p>
        </p:txBody>
      </p:sp>
      <p:sp>
        <p:nvSpPr>
          <p:cNvPr id="10" name="TextBox 9"/>
          <p:cNvSpPr txBox="1"/>
          <p:nvPr/>
        </p:nvSpPr>
        <p:spPr>
          <a:xfrm>
            <a:off x="812800" y="3429000"/>
            <a:ext cx="1524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MP4 / MKV / MOV</a:t>
            </a:r>
          </a:p>
        </p:txBody>
      </p:sp>
      <p:sp>
        <p:nvSpPr>
          <p:cNvPr id="11" name="Oval 10"/>
          <p:cNvSpPr/>
          <p:nvPr/>
        </p:nvSpPr>
        <p:spPr>
          <a:xfrm>
            <a:off x="3302000" y="2895600"/>
            <a:ext cx="787400" cy="787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78200" y="3149600"/>
            <a:ext cx="635000" cy="228600"/>
          </a:xfrm>
          <a:prstGeom prst="rect">
            <a:avLst/>
          </a:prstGeom>
          <a:noFill/>
        </p:spPr>
        <p:txBody>
          <a:bodyPr wrap="square" lIns="0" tIns="0" rIns="0" bIns="0" anchor="t">
            <a:spAutoFit/>
          </a:bodyPr>
          <a:lstStyle/>
          <a:p>
            <a:pPr algn="ctr">
              <a:lnSpc>
                <a:spcPct val="100000"/>
              </a:lnSpc>
              <a:spcBef>
                <a:spcPts val="0"/>
              </a:spcBef>
              <a:spcAft>
                <a:spcPts val="0"/>
              </a:spcAft>
            </a:pPr>
            <a:r>
              <a:rPr sz="1200" b="1">
                <a:solidFill>
                  <a:srgbClr val="18231E"/>
                </a:solidFill>
                <a:latin typeface="Avenir Next"/>
              </a:rPr>
              <a:t>FFmpeg</a:t>
            </a:r>
          </a:p>
        </p:txBody>
      </p:sp>
      <p:cxnSp>
        <p:nvCxnSpPr>
          <p:cNvPr id="13" name="Connector 12"/>
          <p:cNvCxnSpPr/>
          <p:nvPr/>
        </p:nvCxnSpPr>
        <p:spPr>
          <a:xfrm flipV="1">
            <a:off x="2463800" y="3289300"/>
            <a:ext cx="838200" cy="8890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089400" y="2603500"/>
            <a:ext cx="1625600" cy="52070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089400" y="3479800"/>
            <a:ext cx="1625600" cy="73660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715000" y="2057400"/>
            <a:ext cx="2717800" cy="1498600"/>
          </a:xfrm>
          <a:prstGeom prst="roundRect">
            <a:avLst/>
          </a:prstGeom>
          <a:solidFill>
            <a:srgbClr val="A8E6D2"/>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0" y="2286000"/>
            <a:ext cx="2260600" cy="431800"/>
          </a:xfrm>
          <a:prstGeom prst="rect">
            <a:avLst/>
          </a:prstGeom>
          <a:noFill/>
        </p:spPr>
        <p:txBody>
          <a:bodyPr wrap="square" lIns="0" tIns="0" rIns="0" bIns="0" anchor="ctr">
            <a:spAutoFit/>
          </a:bodyPr>
          <a:lstStyle/>
          <a:p>
            <a:pPr algn="l">
              <a:lnSpc>
                <a:spcPct val="100000"/>
              </a:lnSpc>
              <a:spcBef>
                <a:spcPts val="0"/>
              </a:spcBef>
              <a:spcAft>
                <a:spcPts val="0"/>
              </a:spcAft>
            </a:pPr>
            <a:r>
              <a:rPr sz="2200" b="1">
                <a:solidFill>
                  <a:srgbClr val="18231E"/>
                </a:solidFill>
                <a:latin typeface="Avenir Next"/>
              </a:rPr>
              <a:t>16 kHz mono</a:t>
            </a:r>
          </a:p>
        </p:txBody>
      </p:sp>
      <p:sp>
        <p:nvSpPr>
          <p:cNvPr id="18" name="TextBox 17"/>
          <p:cNvSpPr txBox="1"/>
          <p:nvPr/>
        </p:nvSpPr>
        <p:spPr>
          <a:xfrm>
            <a:off x="5943600" y="2755900"/>
            <a:ext cx="2260600" cy="6858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ASR, diarization</a:t>
            </a:r>
          </a:p>
        </p:txBody>
      </p:sp>
      <p:sp>
        <p:nvSpPr>
          <p:cNvPr id="19" name="Rounded Rectangle 18"/>
          <p:cNvSpPr/>
          <p:nvPr/>
        </p:nvSpPr>
        <p:spPr>
          <a:xfrm>
            <a:off x="5715000" y="3937000"/>
            <a:ext cx="2717800" cy="14986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0" y="4165600"/>
            <a:ext cx="2260600" cy="431800"/>
          </a:xfrm>
          <a:prstGeom prst="rect">
            <a:avLst/>
          </a:prstGeom>
          <a:noFill/>
        </p:spPr>
        <p:txBody>
          <a:bodyPr wrap="square" lIns="0" tIns="0" rIns="0" bIns="0" anchor="ctr">
            <a:spAutoFit/>
          </a:bodyPr>
          <a:lstStyle/>
          <a:p>
            <a:pPr algn="l">
              <a:lnSpc>
                <a:spcPct val="100000"/>
              </a:lnSpc>
              <a:spcBef>
                <a:spcPts val="0"/>
              </a:spcBef>
              <a:spcAft>
                <a:spcPts val="0"/>
              </a:spcAft>
            </a:pPr>
            <a:r>
              <a:rPr sz="2200" b="1">
                <a:solidFill>
                  <a:srgbClr val="18231E"/>
                </a:solidFill>
                <a:latin typeface="Avenir Next"/>
              </a:rPr>
              <a:t>48 kHz soundtrack</a:t>
            </a:r>
          </a:p>
        </p:txBody>
      </p:sp>
      <p:sp>
        <p:nvSpPr>
          <p:cNvPr id="21" name="TextBox 20"/>
          <p:cNvSpPr txBox="1"/>
          <p:nvPr/>
        </p:nvSpPr>
        <p:spPr>
          <a:xfrm>
            <a:off x="5943600" y="4635500"/>
            <a:ext cx="2260600" cy="6858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mix, render</a:t>
            </a:r>
          </a:p>
        </p:txBody>
      </p:sp>
      <p:sp>
        <p:nvSpPr>
          <p:cNvPr id="22" name="Rounded Rectangle 21"/>
          <p:cNvSpPr/>
          <p:nvPr/>
        </p:nvSpPr>
        <p:spPr>
          <a:xfrm>
            <a:off x="9017000" y="2717800"/>
            <a:ext cx="2489200" cy="1955800"/>
          </a:xfrm>
          <a:prstGeom prst="roundRect">
            <a:avLst/>
          </a:prstGeom>
          <a:solidFill>
            <a:srgbClr val="14241F"/>
          </a:solidFill>
          <a:ln w="15240">
            <a:solidFill>
              <a:srgbClr val="1424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45600" y="2946400"/>
            <a:ext cx="2032000" cy="431800"/>
          </a:xfrm>
          <a:prstGeom prst="rect">
            <a:avLst/>
          </a:prstGeom>
          <a:noFill/>
        </p:spPr>
        <p:txBody>
          <a:bodyPr wrap="square" lIns="0" tIns="0" rIns="0" bIns="0" anchor="ctr">
            <a:spAutoFit/>
          </a:bodyPr>
          <a:lstStyle/>
          <a:p>
            <a:pPr algn="l">
              <a:lnSpc>
                <a:spcPct val="100000"/>
              </a:lnSpc>
              <a:spcBef>
                <a:spcPts val="0"/>
              </a:spcBef>
              <a:spcAft>
                <a:spcPts val="0"/>
              </a:spcAft>
            </a:pPr>
            <a:r>
              <a:rPr sz="2000" b="1">
                <a:solidFill>
                  <a:srgbClr val="D8FF58"/>
                </a:solidFill>
                <a:latin typeface="Avenir Next"/>
              </a:rPr>
              <a:t>Tại sao?</a:t>
            </a:r>
          </a:p>
        </p:txBody>
      </p:sp>
      <p:sp>
        <p:nvSpPr>
          <p:cNvPr id="24" name="TextBox 23"/>
          <p:cNvSpPr txBox="1"/>
          <p:nvPr/>
        </p:nvSpPr>
        <p:spPr>
          <a:xfrm>
            <a:off x="9245600" y="3416300"/>
            <a:ext cx="2032000" cy="11430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FFFFFF"/>
                </a:solidFill>
                <a:latin typeface="Avenir Next"/>
              </a:rPr>
              <a:t>Model speech cần tín hiệu gọn. Mix cần fidelity cao hơn.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04 / DIARIZATION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12</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Ai nói khi nào?</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pyannote 3.1 tạo speaker turns, không nhận dạng danh tính thật</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6600" y="1955800"/>
            <a:ext cx="1270000" cy="254000"/>
          </a:xfrm>
          <a:prstGeom prst="rect">
            <a:avLst/>
          </a:prstGeom>
          <a:noFill/>
        </p:spPr>
        <p:txBody>
          <a:bodyPr wrap="square" lIns="0" tIns="0" rIns="0" bIns="0" anchor="t">
            <a:spAutoFit/>
          </a:bodyPr>
          <a:lstStyle/>
          <a:p>
            <a:pPr algn="l">
              <a:lnSpc>
                <a:spcPct val="100000"/>
              </a:lnSpc>
              <a:spcBef>
                <a:spcPts val="0"/>
              </a:spcBef>
              <a:spcAft>
                <a:spcPts val="0"/>
              </a:spcAft>
            </a:pPr>
            <a:r>
              <a:rPr sz="1200" b="1">
                <a:solidFill>
                  <a:srgbClr val="6B7771"/>
                </a:solidFill>
                <a:latin typeface="Avenir Next"/>
              </a:rPr>
              <a:t>waveform</a:t>
            </a:r>
          </a:p>
        </p:txBody>
      </p:sp>
      <p:sp>
        <p:nvSpPr>
          <p:cNvPr id="9" name="Rectangle 8"/>
          <p:cNvSpPr/>
          <p:nvPr/>
        </p:nvSpPr>
        <p:spPr>
          <a:xfrm>
            <a:off x="787400" y="2730500"/>
            <a:ext cx="76200" cy="2286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66800" y="2622550"/>
            <a:ext cx="76200" cy="4445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346200" y="2514600"/>
            <a:ext cx="76200" cy="6604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625600" y="2406650"/>
            <a:ext cx="76200" cy="8763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905000" y="2641600"/>
            <a:ext cx="76200" cy="4064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184400" y="2533650"/>
            <a:ext cx="76200" cy="6223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463800" y="2425700"/>
            <a:ext cx="76200" cy="8382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0" y="2660650"/>
            <a:ext cx="76200" cy="3683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022600" y="2552700"/>
            <a:ext cx="76200" cy="5842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02000" y="2444750"/>
            <a:ext cx="76200" cy="8001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581400" y="2679700"/>
            <a:ext cx="76200" cy="3302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860800" y="2571750"/>
            <a:ext cx="76200" cy="5461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140200" y="2463800"/>
            <a:ext cx="76200" cy="7620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19600" y="2698750"/>
            <a:ext cx="76200" cy="2921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699000" y="2590800"/>
            <a:ext cx="76200" cy="5080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978400" y="2482850"/>
            <a:ext cx="76200" cy="7239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257800" y="2717800"/>
            <a:ext cx="76200" cy="2540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537200" y="2609850"/>
            <a:ext cx="76200" cy="4699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816600" y="2501900"/>
            <a:ext cx="76200" cy="6858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096000" y="2393950"/>
            <a:ext cx="76200" cy="9017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375400" y="2628900"/>
            <a:ext cx="76200" cy="4318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654800" y="2520950"/>
            <a:ext cx="76200" cy="6477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934200" y="2413000"/>
            <a:ext cx="76200" cy="8636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213600" y="2647950"/>
            <a:ext cx="76200" cy="3937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493000" y="2540000"/>
            <a:ext cx="76200" cy="6096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772400" y="2432050"/>
            <a:ext cx="76200" cy="8255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51800" y="2667000"/>
            <a:ext cx="76200" cy="3556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331200" y="2559050"/>
            <a:ext cx="76200" cy="5715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610600" y="2451100"/>
            <a:ext cx="76200" cy="7874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890000" y="2686050"/>
            <a:ext cx="76200" cy="317500"/>
          </a:xfrm>
          <a:prstGeom prst="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169400" y="2578100"/>
            <a:ext cx="76200" cy="5334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448800" y="2470150"/>
            <a:ext cx="76200" cy="7493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728200" y="2705100"/>
            <a:ext cx="76200" cy="2794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0007600" y="2597150"/>
            <a:ext cx="76200" cy="495300"/>
          </a:xfrm>
          <a:prstGeom prst="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a:off x="787400" y="3175000"/>
            <a:ext cx="9499600" cy="0"/>
          </a:xfrm>
          <a:prstGeom prst="line">
            <a:avLst/>
          </a:prstGeom>
          <a:ln w="12700">
            <a:solidFill>
              <a:srgbClr val="CBD0C8"/>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787400" y="3581400"/>
            <a:ext cx="3175000" cy="6096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 y="3733800"/>
            <a:ext cx="29210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SPEAKER_00</a:t>
            </a:r>
          </a:p>
        </p:txBody>
      </p:sp>
      <p:sp>
        <p:nvSpPr>
          <p:cNvPr id="46" name="Rounded Rectangle 45"/>
          <p:cNvSpPr/>
          <p:nvPr/>
        </p:nvSpPr>
        <p:spPr>
          <a:xfrm>
            <a:off x="4064000" y="3581400"/>
            <a:ext cx="3175000" cy="609600"/>
          </a:xfrm>
          <a:prstGeom prst="round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191000" y="3733800"/>
            <a:ext cx="29210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SPEAKER_01</a:t>
            </a:r>
          </a:p>
        </p:txBody>
      </p:sp>
      <p:sp>
        <p:nvSpPr>
          <p:cNvPr id="48" name="Rounded Rectangle 47"/>
          <p:cNvSpPr/>
          <p:nvPr/>
        </p:nvSpPr>
        <p:spPr>
          <a:xfrm>
            <a:off x="7340600" y="3581400"/>
            <a:ext cx="2946400" cy="6096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67600" y="3733800"/>
            <a:ext cx="26924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SPEAKER_00</a:t>
            </a:r>
          </a:p>
        </p:txBody>
      </p:sp>
      <p:sp>
        <p:nvSpPr>
          <p:cNvPr id="50" name="Rounded Rectangle 49"/>
          <p:cNvSpPr/>
          <p:nvPr/>
        </p:nvSpPr>
        <p:spPr>
          <a:xfrm>
            <a:off x="787400" y="4800600"/>
            <a:ext cx="1600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89000" y="4826000"/>
            <a:ext cx="1397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16 kHz mono</a:t>
            </a:r>
          </a:p>
        </p:txBody>
      </p:sp>
      <p:sp>
        <p:nvSpPr>
          <p:cNvPr id="52" name="Rounded Rectangle 51"/>
          <p:cNvSpPr/>
          <p:nvPr/>
        </p:nvSpPr>
        <p:spPr>
          <a:xfrm>
            <a:off x="2565400" y="4800600"/>
            <a:ext cx="14732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667000" y="4826000"/>
            <a:ext cx="1270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CUDA nếu có</a:t>
            </a:r>
          </a:p>
        </p:txBody>
      </p:sp>
      <p:sp>
        <p:nvSpPr>
          <p:cNvPr id="54" name="Rounded Rectangle 53"/>
          <p:cNvSpPr/>
          <p:nvPr/>
        </p:nvSpPr>
        <p:spPr>
          <a:xfrm>
            <a:off x="4216400" y="4800600"/>
            <a:ext cx="1676400" cy="381000"/>
          </a:xfrm>
          <a:prstGeom prst="roundRect">
            <a:avLst/>
          </a:prstGeom>
          <a:solidFill>
            <a:srgbClr val="F28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318000" y="4826000"/>
            <a:ext cx="14732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gated weights</a:t>
            </a:r>
          </a:p>
        </p:txBody>
      </p:sp>
      <p:sp>
        <p:nvSpPr>
          <p:cNvPr id="56" name="TextBox 55"/>
          <p:cNvSpPr txBox="1"/>
          <p:nvPr/>
        </p:nvSpPr>
        <p:spPr>
          <a:xfrm>
            <a:off x="7620000" y="4699000"/>
            <a:ext cx="3352800" cy="812800"/>
          </a:xfrm>
          <a:prstGeom prst="rect">
            <a:avLst/>
          </a:prstGeom>
          <a:noFill/>
        </p:spPr>
        <p:txBody>
          <a:bodyPr wrap="square" lIns="0" tIns="0" rIns="0" bIns="0" anchor="t">
            <a:spAutoFit/>
          </a:bodyPr>
          <a:lstStyle/>
          <a:p>
            <a:pPr algn="ctr">
              <a:lnSpc>
                <a:spcPct val="100000"/>
              </a:lnSpc>
              <a:spcBef>
                <a:spcPts val="0"/>
              </a:spcBef>
              <a:spcAft>
                <a:spcPts val="0"/>
              </a:spcAft>
            </a:pPr>
            <a:r>
              <a:rPr sz="1800" b="1">
                <a:solidFill>
                  <a:srgbClr val="18231E"/>
                </a:solidFill>
                <a:latin typeface="Avenir Next"/>
              </a:rPr>
              <a:t>Diarization = who spoke when</a:t>
            </a:r>
            <a:br/>
            <a:r>
              <a:rPr sz="1800" b="1">
                <a:solidFill>
                  <a:srgbClr val="18231E"/>
                </a:solidFill>
                <a:latin typeface="Avenir Next"/>
              </a:rPr>
              <a:t>Không phải speaker identification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04 / DIARIZATION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13</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Gán speaker bằng độ chồng lấp</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Mỗi transcript segment nhận speaker có overlap lớn nhất</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6600" y="2108200"/>
            <a:ext cx="1270000" cy="254000"/>
          </a:xfrm>
          <a:prstGeom prst="rect">
            <a:avLst/>
          </a:prstGeom>
          <a:noFill/>
        </p:spPr>
        <p:txBody>
          <a:bodyPr wrap="square" lIns="0" tIns="0" rIns="0" bIns="0" anchor="t">
            <a:spAutoFit/>
          </a:bodyPr>
          <a:lstStyle/>
          <a:p>
            <a:pPr algn="l">
              <a:lnSpc>
                <a:spcPct val="100000"/>
              </a:lnSpc>
              <a:spcBef>
                <a:spcPts val="0"/>
              </a:spcBef>
              <a:spcAft>
                <a:spcPts val="0"/>
              </a:spcAft>
            </a:pPr>
            <a:r>
              <a:rPr sz="1300" b="1">
                <a:solidFill>
                  <a:srgbClr val="6B7771"/>
                </a:solidFill>
                <a:latin typeface="Avenir Next"/>
              </a:rPr>
              <a:t>Transcript</a:t>
            </a:r>
          </a:p>
        </p:txBody>
      </p:sp>
      <p:sp>
        <p:nvSpPr>
          <p:cNvPr id="9" name="Rounded Rectangle 8"/>
          <p:cNvSpPr/>
          <p:nvPr/>
        </p:nvSpPr>
        <p:spPr>
          <a:xfrm>
            <a:off x="1905000" y="2032000"/>
            <a:ext cx="3479800" cy="685800"/>
          </a:xfrm>
          <a:prstGeom prst="roundRect">
            <a:avLst/>
          </a:prstGeom>
          <a:solidFill>
            <a:srgbClr val="FFFEFA"/>
          </a:solidFill>
          <a:ln w="1905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33600" y="2235200"/>
            <a:ext cx="3022600" cy="279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segment 12: 3.2s đến 5.9s</a:t>
            </a:r>
          </a:p>
        </p:txBody>
      </p:sp>
      <p:sp>
        <p:nvSpPr>
          <p:cNvPr id="11" name="TextBox 10"/>
          <p:cNvSpPr txBox="1"/>
          <p:nvPr/>
        </p:nvSpPr>
        <p:spPr>
          <a:xfrm>
            <a:off x="736600" y="3175000"/>
            <a:ext cx="1270000" cy="254000"/>
          </a:xfrm>
          <a:prstGeom prst="rect">
            <a:avLst/>
          </a:prstGeom>
          <a:noFill/>
        </p:spPr>
        <p:txBody>
          <a:bodyPr wrap="square" lIns="0" tIns="0" rIns="0" bIns="0" anchor="t">
            <a:spAutoFit/>
          </a:bodyPr>
          <a:lstStyle/>
          <a:p>
            <a:pPr algn="l">
              <a:lnSpc>
                <a:spcPct val="100000"/>
              </a:lnSpc>
              <a:spcBef>
                <a:spcPts val="0"/>
              </a:spcBef>
              <a:spcAft>
                <a:spcPts val="0"/>
              </a:spcAft>
            </a:pPr>
            <a:r>
              <a:rPr sz="1300" b="1">
                <a:solidFill>
                  <a:srgbClr val="6B7771"/>
                </a:solidFill>
                <a:latin typeface="Avenir Next"/>
              </a:rPr>
              <a:t>Speaker turns</a:t>
            </a:r>
          </a:p>
        </p:txBody>
      </p:sp>
      <p:sp>
        <p:nvSpPr>
          <p:cNvPr id="12" name="Rounded Rectangle 11"/>
          <p:cNvSpPr/>
          <p:nvPr/>
        </p:nvSpPr>
        <p:spPr>
          <a:xfrm>
            <a:off x="1905000" y="3073400"/>
            <a:ext cx="1625600" cy="685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530600" y="3073400"/>
            <a:ext cx="2819400" cy="685800"/>
          </a:xfrm>
          <a:prstGeom prst="round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50000" y="3073400"/>
            <a:ext cx="1143000" cy="685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7600" y="3276600"/>
            <a:ext cx="6604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S0</a:t>
            </a:r>
          </a:p>
        </p:txBody>
      </p:sp>
      <p:sp>
        <p:nvSpPr>
          <p:cNvPr id="16" name="TextBox 15"/>
          <p:cNvSpPr txBox="1"/>
          <p:nvPr/>
        </p:nvSpPr>
        <p:spPr>
          <a:xfrm>
            <a:off x="4610100" y="3276600"/>
            <a:ext cx="6604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S1</a:t>
            </a:r>
          </a:p>
        </p:txBody>
      </p:sp>
      <p:sp>
        <p:nvSpPr>
          <p:cNvPr id="17" name="TextBox 16"/>
          <p:cNvSpPr txBox="1"/>
          <p:nvPr/>
        </p:nvSpPr>
        <p:spPr>
          <a:xfrm>
            <a:off x="6591300" y="3276600"/>
            <a:ext cx="6604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S0</a:t>
            </a:r>
          </a:p>
        </p:txBody>
      </p:sp>
      <p:cxnSp>
        <p:nvCxnSpPr>
          <p:cNvPr id="18" name="Connector 17"/>
          <p:cNvCxnSpPr/>
          <p:nvPr/>
        </p:nvCxnSpPr>
        <p:spPr>
          <a:xfrm>
            <a:off x="3530600" y="4140200"/>
            <a:ext cx="2819400" cy="0"/>
          </a:xfrm>
          <a:prstGeom prst="line">
            <a:avLst/>
          </a:prstGeom>
          <a:ln w="63500">
            <a:solidFill>
              <a:srgbClr val="E7B85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75000" y="4368800"/>
            <a:ext cx="3556000" cy="431800"/>
          </a:xfrm>
          <a:prstGeom prst="rect">
            <a:avLst/>
          </a:prstGeom>
          <a:noFill/>
        </p:spPr>
        <p:txBody>
          <a:bodyPr wrap="square" lIns="0" tIns="0" rIns="0" bIns="0" anchor="t">
            <a:spAutoFit/>
          </a:bodyPr>
          <a:lstStyle/>
          <a:p>
            <a:pPr algn="ctr">
              <a:lnSpc>
                <a:spcPct val="100000"/>
              </a:lnSpc>
              <a:spcBef>
                <a:spcPts val="0"/>
              </a:spcBef>
              <a:spcAft>
                <a:spcPts val="0"/>
              </a:spcAft>
            </a:pPr>
            <a:r>
              <a:rPr sz="2000" b="1">
                <a:solidFill>
                  <a:srgbClr val="18231E"/>
                </a:solidFill>
                <a:latin typeface="Avenir Next"/>
              </a:rPr>
              <a:t>overlap lớn nhất: SPEAKER_01</a:t>
            </a:r>
          </a:p>
        </p:txBody>
      </p:sp>
      <p:sp>
        <p:nvSpPr>
          <p:cNvPr id="20" name="Rounded Rectangle 19"/>
          <p:cNvSpPr/>
          <p:nvPr/>
        </p:nvSpPr>
        <p:spPr>
          <a:xfrm>
            <a:off x="8255000" y="2336800"/>
            <a:ext cx="2794000" cy="2311400"/>
          </a:xfrm>
          <a:prstGeom prst="roundRect">
            <a:avLst/>
          </a:prstGeom>
          <a:solidFill>
            <a:srgbClr val="14241F"/>
          </a:solidFill>
          <a:ln w="15240">
            <a:solidFill>
              <a:srgbClr val="1424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83600" y="2565400"/>
            <a:ext cx="2336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D8FF58"/>
                </a:solidFill>
                <a:latin typeface="Avenir Next"/>
              </a:rPr>
              <a:t>Fallback</a:t>
            </a:r>
          </a:p>
        </p:txBody>
      </p:sp>
      <p:sp>
        <p:nvSpPr>
          <p:cNvPr id="22" name="TextBox 21"/>
          <p:cNvSpPr txBox="1"/>
          <p:nvPr/>
        </p:nvSpPr>
        <p:spPr>
          <a:xfrm>
            <a:off x="8483600" y="3035300"/>
            <a:ext cx="2336800" cy="1498600"/>
          </a:xfrm>
          <a:prstGeom prst="rect">
            <a:avLst/>
          </a:prstGeom>
          <a:noFill/>
        </p:spPr>
        <p:txBody>
          <a:bodyPr wrap="square" lIns="0" tIns="0" rIns="0" bIns="0" anchor="t">
            <a:spAutoFit/>
          </a:bodyPr>
          <a:lstStyle/>
          <a:p>
            <a:pPr algn="ctr">
              <a:lnSpc>
                <a:spcPct val="100000"/>
              </a:lnSpc>
              <a:spcBef>
                <a:spcPts val="0"/>
              </a:spcBef>
              <a:spcAft>
                <a:spcPts val="0"/>
              </a:spcAft>
            </a:pPr>
            <a:r>
              <a:rPr sz="1700" b="0">
                <a:solidFill>
                  <a:srgbClr val="FFFFFF"/>
                </a:solidFill>
                <a:latin typeface="Avenir Next"/>
              </a:rPr>
              <a:t>nearest turn ≤ 2s</a:t>
            </a:r>
            <a:br/>
            <a:r>
              <a:rPr sz="1700" b="0">
                <a:solidFill>
                  <a:srgbClr val="FFFFFF"/>
                </a:solidFill>
                <a:latin typeface="Avenir Next"/>
              </a:rPr>
              <a:t>else SPEAKER_00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05 / ASR</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14</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Vì sao chọn faster-whisper?</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Timestamps tốt, nhiều checkpoint và chạy được cả CPU lẫn GPU</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38200" y="2108200"/>
            <a:ext cx="24130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Timestamp</a:t>
            </a:r>
          </a:p>
        </p:txBody>
      </p:sp>
      <p:sp>
        <p:nvSpPr>
          <p:cNvPr id="9" name="Rounded Rectangle 8"/>
          <p:cNvSpPr/>
          <p:nvPr/>
        </p:nvSpPr>
        <p:spPr>
          <a:xfrm>
            <a:off x="3403600" y="1981200"/>
            <a:ext cx="2032000" cy="5334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56000" y="2082800"/>
            <a:ext cx="17272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bắt buộc</a:t>
            </a:r>
          </a:p>
        </p:txBody>
      </p:sp>
      <p:sp>
        <p:nvSpPr>
          <p:cNvPr id="11" name="TextBox 10"/>
          <p:cNvSpPr txBox="1"/>
          <p:nvPr/>
        </p:nvSpPr>
        <p:spPr>
          <a:xfrm>
            <a:off x="838200" y="2844800"/>
            <a:ext cx="24130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Auto language</a:t>
            </a:r>
          </a:p>
        </p:txBody>
      </p:sp>
      <p:sp>
        <p:nvSpPr>
          <p:cNvPr id="12" name="Rounded Rectangle 11"/>
          <p:cNvSpPr/>
          <p:nvPr/>
        </p:nvSpPr>
        <p:spPr>
          <a:xfrm>
            <a:off x="3403600" y="2717800"/>
            <a:ext cx="2032000" cy="5334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56000" y="2819400"/>
            <a:ext cx="17272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có</a:t>
            </a:r>
          </a:p>
        </p:txBody>
      </p:sp>
      <p:sp>
        <p:nvSpPr>
          <p:cNvPr id="14" name="TextBox 13"/>
          <p:cNvSpPr txBox="1"/>
          <p:nvPr/>
        </p:nvSpPr>
        <p:spPr>
          <a:xfrm>
            <a:off x="838200" y="3581400"/>
            <a:ext cx="24130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CPU INT8</a:t>
            </a:r>
          </a:p>
        </p:txBody>
      </p:sp>
      <p:sp>
        <p:nvSpPr>
          <p:cNvPr id="15" name="Rounded Rectangle 14"/>
          <p:cNvSpPr/>
          <p:nvPr/>
        </p:nvSpPr>
        <p:spPr>
          <a:xfrm>
            <a:off x="3403600" y="3454400"/>
            <a:ext cx="2032000" cy="5334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56000" y="3556000"/>
            <a:ext cx="17272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có</a:t>
            </a:r>
          </a:p>
        </p:txBody>
      </p:sp>
      <p:sp>
        <p:nvSpPr>
          <p:cNvPr id="17" name="TextBox 16"/>
          <p:cNvSpPr txBox="1"/>
          <p:nvPr/>
        </p:nvSpPr>
        <p:spPr>
          <a:xfrm>
            <a:off x="838200" y="4318000"/>
            <a:ext cx="24130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CUDA FP16</a:t>
            </a:r>
          </a:p>
        </p:txBody>
      </p:sp>
      <p:sp>
        <p:nvSpPr>
          <p:cNvPr id="18" name="Rounded Rectangle 17"/>
          <p:cNvSpPr/>
          <p:nvPr/>
        </p:nvSpPr>
        <p:spPr>
          <a:xfrm>
            <a:off x="3403600" y="4191000"/>
            <a:ext cx="2032000" cy="5334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56000" y="4292600"/>
            <a:ext cx="17272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có</a:t>
            </a:r>
          </a:p>
        </p:txBody>
      </p:sp>
      <p:sp>
        <p:nvSpPr>
          <p:cNvPr id="20" name="TextBox 19"/>
          <p:cNvSpPr txBox="1"/>
          <p:nvPr/>
        </p:nvSpPr>
        <p:spPr>
          <a:xfrm>
            <a:off x="838200" y="5054600"/>
            <a:ext cx="24130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VAD</a:t>
            </a:r>
          </a:p>
        </p:txBody>
      </p:sp>
      <p:sp>
        <p:nvSpPr>
          <p:cNvPr id="21" name="Rounded Rectangle 20"/>
          <p:cNvSpPr/>
          <p:nvPr/>
        </p:nvSpPr>
        <p:spPr>
          <a:xfrm>
            <a:off x="3403600" y="4927600"/>
            <a:ext cx="2032000" cy="5334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56000" y="5029200"/>
            <a:ext cx="17272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tích hợp</a:t>
            </a:r>
          </a:p>
        </p:txBody>
      </p:sp>
      <p:sp>
        <p:nvSpPr>
          <p:cNvPr id="23" name="Rounded Rectangle 22"/>
          <p:cNvSpPr/>
          <p:nvPr/>
        </p:nvSpPr>
        <p:spPr>
          <a:xfrm>
            <a:off x="6502400" y="2006600"/>
            <a:ext cx="4495800" cy="37084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34200" y="2362200"/>
            <a:ext cx="3632200" cy="254000"/>
          </a:xfrm>
          <a:prstGeom prst="rect">
            <a:avLst/>
          </a:prstGeom>
          <a:noFill/>
        </p:spPr>
        <p:txBody>
          <a:bodyPr wrap="square" lIns="0" tIns="0" rIns="0" bIns="0" anchor="t">
            <a:spAutoFit/>
          </a:bodyPr>
          <a:lstStyle/>
          <a:p>
            <a:pPr algn="ctr">
              <a:lnSpc>
                <a:spcPct val="100000"/>
              </a:lnSpc>
              <a:spcBef>
                <a:spcPts val="0"/>
              </a:spcBef>
              <a:spcAft>
                <a:spcPts val="0"/>
              </a:spcAft>
            </a:pPr>
            <a:r>
              <a:rPr sz="1200" b="1">
                <a:solidFill>
                  <a:srgbClr val="D8FF58"/>
                </a:solidFill>
                <a:latin typeface="Avenir Next"/>
              </a:rPr>
              <a:t>LỰA CHỌN MẶC ĐỊNH</a:t>
            </a:r>
          </a:p>
        </p:txBody>
      </p:sp>
      <p:sp>
        <p:nvSpPr>
          <p:cNvPr id="25" name="TextBox 24"/>
          <p:cNvSpPr txBox="1"/>
          <p:nvPr/>
        </p:nvSpPr>
        <p:spPr>
          <a:xfrm>
            <a:off x="7112000" y="2870200"/>
            <a:ext cx="3276600" cy="1346200"/>
          </a:xfrm>
          <a:prstGeom prst="rect">
            <a:avLst/>
          </a:prstGeom>
          <a:noFill/>
        </p:spPr>
        <p:txBody>
          <a:bodyPr wrap="square" lIns="0" tIns="0" rIns="0" bIns="0" anchor="ctr">
            <a:spAutoFit/>
          </a:bodyPr>
          <a:lstStyle/>
          <a:p>
            <a:pPr algn="ctr">
              <a:lnSpc>
                <a:spcPct val="100000"/>
              </a:lnSpc>
              <a:spcBef>
                <a:spcPts val="0"/>
              </a:spcBef>
              <a:spcAft>
                <a:spcPts val="0"/>
              </a:spcAft>
            </a:pPr>
            <a:r>
              <a:rPr sz="4200" b="1">
                <a:solidFill>
                  <a:srgbClr val="FFFFFF"/>
                </a:solidFill>
                <a:latin typeface="Avenir Next"/>
              </a:rPr>
              <a:t>Whisper</a:t>
            </a:r>
            <a:br/>
            <a:r>
              <a:rPr sz="4200" b="1">
                <a:solidFill>
                  <a:srgbClr val="FFFFFF"/>
                </a:solidFill>
                <a:latin typeface="Avenir Next"/>
              </a:rPr>
              <a:t>small</a:t>
            </a:r>
          </a:p>
        </p:txBody>
      </p:sp>
      <p:sp>
        <p:nvSpPr>
          <p:cNvPr id="26" name="Rounded Rectangle 25"/>
          <p:cNvSpPr/>
          <p:nvPr/>
        </p:nvSpPr>
        <p:spPr>
          <a:xfrm>
            <a:off x="7112000" y="4572000"/>
            <a:ext cx="14224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13600" y="4597400"/>
            <a:ext cx="12192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beam = 5</a:t>
            </a:r>
          </a:p>
        </p:txBody>
      </p:sp>
      <p:sp>
        <p:nvSpPr>
          <p:cNvPr id="28" name="Rounded Rectangle 27"/>
          <p:cNvSpPr/>
          <p:nvPr/>
        </p:nvSpPr>
        <p:spPr>
          <a:xfrm>
            <a:off x="8763000" y="4572000"/>
            <a:ext cx="1600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864600" y="4597400"/>
            <a:ext cx="1397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VAD filter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05 / ASR</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15</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Bên trong faster-whisper</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Từ sóng âm đến segment có timestamp</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565400"/>
            <a:ext cx="17018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667000"/>
            <a:ext cx="1447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Audio</a:t>
            </a:r>
          </a:p>
        </p:txBody>
      </p:sp>
      <p:sp>
        <p:nvSpPr>
          <p:cNvPr id="10" name="TextBox 9"/>
          <p:cNvSpPr txBox="1"/>
          <p:nvPr/>
        </p:nvSpPr>
        <p:spPr>
          <a:xfrm>
            <a:off x="812800" y="3009900"/>
            <a:ext cx="144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16 kHz</a:t>
            </a:r>
          </a:p>
        </p:txBody>
      </p:sp>
      <p:cxnSp>
        <p:nvCxnSpPr>
          <p:cNvPr id="11" name="Connector 10"/>
          <p:cNvCxnSpPr/>
          <p:nvPr/>
        </p:nvCxnSpPr>
        <p:spPr>
          <a:xfrm>
            <a:off x="2387600" y="2971800"/>
            <a:ext cx="4064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94000" y="2565400"/>
            <a:ext cx="17018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1000" y="2667000"/>
            <a:ext cx="1447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Log-Mel</a:t>
            </a:r>
          </a:p>
        </p:txBody>
      </p:sp>
      <p:sp>
        <p:nvSpPr>
          <p:cNvPr id="14" name="TextBox 13"/>
          <p:cNvSpPr txBox="1"/>
          <p:nvPr/>
        </p:nvSpPr>
        <p:spPr>
          <a:xfrm>
            <a:off x="2921000" y="3009900"/>
            <a:ext cx="144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features</a:t>
            </a:r>
          </a:p>
        </p:txBody>
      </p:sp>
      <p:cxnSp>
        <p:nvCxnSpPr>
          <p:cNvPr id="15" name="Connector 14"/>
          <p:cNvCxnSpPr/>
          <p:nvPr/>
        </p:nvCxnSpPr>
        <p:spPr>
          <a:xfrm>
            <a:off x="4495800" y="2971800"/>
            <a:ext cx="4064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02200" y="2565400"/>
            <a:ext cx="17018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0" y="2667000"/>
            <a:ext cx="1447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Encoder</a:t>
            </a:r>
          </a:p>
        </p:txBody>
      </p:sp>
      <p:sp>
        <p:nvSpPr>
          <p:cNvPr id="18" name="TextBox 17"/>
          <p:cNvSpPr txBox="1"/>
          <p:nvPr/>
        </p:nvSpPr>
        <p:spPr>
          <a:xfrm>
            <a:off x="5029200" y="3009900"/>
            <a:ext cx="144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context</a:t>
            </a:r>
          </a:p>
        </p:txBody>
      </p:sp>
      <p:cxnSp>
        <p:nvCxnSpPr>
          <p:cNvPr id="19" name="Connector 18"/>
          <p:cNvCxnSpPr/>
          <p:nvPr/>
        </p:nvCxnSpPr>
        <p:spPr>
          <a:xfrm>
            <a:off x="6604000" y="2971800"/>
            <a:ext cx="4064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010400" y="2565400"/>
            <a:ext cx="17018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7400" y="2667000"/>
            <a:ext cx="1447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Decoder</a:t>
            </a:r>
          </a:p>
        </p:txBody>
      </p:sp>
      <p:sp>
        <p:nvSpPr>
          <p:cNvPr id="22" name="TextBox 21"/>
          <p:cNvSpPr txBox="1"/>
          <p:nvPr/>
        </p:nvSpPr>
        <p:spPr>
          <a:xfrm>
            <a:off x="7137400" y="3009900"/>
            <a:ext cx="144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tokens</a:t>
            </a:r>
          </a:p>
        </p:txBody>
      </p:sp>
      <p:cxnSp>
        <p:nvCxnSpPr>
          <p:cNvPr id="23" name="Connector 22"/>
          <p:cNvCxnSpPr/>
          <p:nvPr/>
        </p:nvCxnSpPr>
        <p:spPr>
          <a:xfrm>
            <a:off x="8712200" y="2971800"/>
            <a:ext cx="4064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118600" y="2565400"/>
            <a:ext cx="1701800" cy="812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45600" y="2667000"/>
            <a:ext cx="1447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Segments</a:t>
            </a:r>
          </a:p>
        </p:txBody>
      </p:sp>
      <p:sp>
        <p:nvSpPr>
          <p:cNvPr id="26" name="TextBox 25"/>
          <p:cNvSpPr txBox="1"/>
          <p:nvPr/>
        </p:nvSpPr>
        <p:spPr>
          <a:xfrm>
            <a:off x="9245600" y="3009900"/>
            <a:ext cx="1447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text + time</a:t>
            </a:r>
          </a:p>
        </p:txBody>
      </p:sp>
      <p:sp>
        <p:nvSpPr>
          <p:cNvPr id="27" name="Rounded Rectangle 26"/>
          <p:cNvSpPr/>
          <p:nvPr/>
        </p:nvSpPr>
        <p:spPr>
          <a:xfrm>
            <a:off x="3810000" y="4165600"/>
            <a:ext cx="17780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11600" y="4191000"/>
            <a:ext cx="15748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beam search 5</a:t>
            </a:r>
          </a:p>
        </p:txBody>
      </p:sp>
      <p:sp>
        <p:nvSpPr>
          <p:cNvPr id="29" name="Rounded Rectangle 28"/>
          <p:cNvSpPr/>
          <p:nvPr/>
        </p:nvSpPr>
        <p:spPr>
          <a:xfrm>
            <a:off x="5765800" y="4165600"/>
            <a:ext cx="2006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867400" y="4191000"/>
            <a:ext cx="1803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VAD loại im lặng</a:t>
            </a:r>
          </a:p>
        </p:txBody>
      </p:sp>
      <p:sp>
        <p:nvSpPr>
          <p:cNvPr id="31" name="TextBox 30"/>
          <p:cNvSpPr txBox="1"/>
          <p:nvPr/>
        </p:nvSpPr>
        <p:spPr>
          <a:xfrm>
            <a:off x="2438400" y="5105400"/>
            <a:ext cx="2286000" cy="330200"/>
          </a:xfrm>
          <a:prstGeom prst="rect">
            <a:avLst/>
          </a:prstGeom>
          <a:noFill/>
        </p:spPr>
        <p:txBody>
          <a:bodyPr wrap="square" lIns="0" tIns="0" rIns="0" bIns="0" anchor="t">
            <a:spAutoFit/>
          </a:bodyPr>
          <a:lstStyle/>
          <a:p>
            <a:pPr algn="ctr">
              <a:lnSpc>
                <a:spcPct val="100000"/>
              </a:lnSpc>
              <a:spcBef>
                <a:spcPts val="0"/>
              </a:spcBef>
              <a:spcAft>
                <a:spcPts val="0"/>
              </a:spcAft>
            </a:pPr>
            <a:r>
              <a:rPr sz="1800" b="1">
                <a:solidFill>
                  <a:srgbClr val="18231E"/>
                </a:solidFill>
                <a:latin typeface="Avenir Next"/>
              </a:rPr>
              <a:t>GPU: float16</a:t>
            </a:r>
          </a:p>
        </p:txBody>
      </p:sp>
      <p:sp>
        <p:nvSpPr>
          <p:cNvPr id="32" name="TextBox 31"/>
          <p:cNvSpPr txBox="1"/>
          <p:nvPr/>
        </p:nvSpPr>
        <p:spPr>
          <a:xfrm>
            <a:off x="7467600" y="5105400"/>
            <a:ext cx="2286000" cy="330200"/>
          </a:xfrm>
          <a:prstGeom prst="rect">
            <a:avLst/>
          </a:prstGeom>
          <a:noFill/>
        </p:spPr>
        <p:txBody>
          <a:bodyPr wrap="square" lIns="0" tIns="0" rIns="0" bIns="0" anchor="t">
            <a:spAutoFit/>
          </a:bodyPr>
          <a:lstStyle/>
          <a:p>
            <a:pPr algn="ctr">
              <a:lnSpc>
                <a:spcPct val="100000"/>
              </a:lnSpc>
              <a:spcBef>
                <a:spcPts val="0"/>
              </a:spcBef>
              <a:spcAft>
                <a:spcPts val="0"/>
              </a:spcAft>
            </a:pPr>
            <a:r>
              <a:rPr sz="1800" b="1">
                <a:solidFill>
                  <a:srgbClr val="18231E"/>
                </a:solidFill>
                <a:latin typeface="Avenir Next"/>
              </a:rPr>
              <a:t>CPU: int8</a:t>
            </a:r>
          </a:p>
        </p:txBody>
      </p:sp>
      <p:cxnSp>
        <p:nvCxnSpPr>
          <p:cNvPr id="33" name="Connector 32"/>
          <p:cNvCxnSpPr/>
          <p:nvPr/>
        </p:nvCxnSpPr>
        <p:spPr>
          <a:xfrm>
            <a:off x="4724400" y="5283200"/>
            <a:ext cx="2743200" cy="0"/>
          </a:xfrm>
          <a:prstGeom prst="line">
            <a:avLst/>
          </a:prstGeom>
          <a:ln w="25400">
            <a:solidFill>
              <a:srgbClr val="CBD0C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05 / ASR</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16</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Các lựa chọn ASR khác</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Model tốt nhất phụ thuộc timestamp, ngôn ngữ và tài nguyên</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32000"/>
            <a:ext cx="3302000" cy="3733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9800" y="2336800"/>
            <a:ext cx="2794000" cy="508000"/>
          </a:xfrm>
          <a:prstGeom prst="rect">
            <a:avLst/>
          </a:prstGeom>
          <a:noFill/>
        </p:spPr>
        <p:txBody>
          <a:bodyPr wrap="square" lIns="0" tIns="0" rIns="0" bIns="0" anchor="t">
            <a:spAutoFit/>
          </a:bodyPr>
          <a:lstStyle/>
          <a:p>
            <a:pPr algn="ctr">
              <a:lnSpc>
                <a:spcPct val="100000"/>
              </a:lnSpc>
              <a:spcBef>
                <a:spcPts val="0"/>
              </a:spcBef>
              <a:spcAft>
                <a:spcPts val="0"/>
              </a:spcAft>
            </a:pPr>
            <a:r>
              <a:rPr sz="2300" b="1">
                <a:solidFill>
                  <a:srgbClr val="18231E"/>
                </a:solidFill>
                <a:latin typeface="Avenir Next"/>
              </a:rPr>
              <a:t>faster-whisper</a:t>
            </a:r>
          </a:p>
        </p:txBody>
      </p:sp>
      <p:cxnSp>
        <p:nvCxnSpPr>
          <p:cNvPr id="10" name="Connector 9"/>
          <p:cNvCxnSpPr/>
          <p:nvPr/>
        </p:nvCxnSpPr>
        <p:spPr>
          <a:xfrm>
            <a:off x="1041400" y="2997200"/>
            <a:ext cx="2590800" cy="0"/>
          </a:xfrm>
          <a:prstGeom prst="line">
            <a:avLst/>
          </a:prstGeom>
          <a:ln w="12700">
            <a:solidFill>
              <a:srgbClr val="18231E"/>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92200" y="3378200"/>
            <a:ext cx="254000" cy="254000"/>
          </a:xfrm>
          <a:prstGeom prst="ellipse">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98600" y="33528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timestamps</a:t>
            </a:r>
          </a:p>
        </p:txBody>
      </p:sp>
      <p:sp>
        <p:nvSpPr>
          <p:cNvPr id="13" name="Oval 12"/>
          <p:cNvSpPr/>
          <p:nvPr/>
        </p:nvSpPr>
        <p:spPr>
          <a:xfrm>
            <a:off x="1092200" y="4089400"/>
            <a:ext cx="254000" cy="254000"/>
          </a:xfrm>
          <a:prstGeom prst="ellipse">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98600" y="40640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auto detect</a:t>
            </a:r>
          </a:p>
        </p:txBody>
      </p:sp>
      <p:sp>
        <p:nvSpPr>
          <p:cNvPr id="15" name="Oval 14"/>
          <p:cNvSpPr/>
          <p:nvPr/>
        </p:nvSpPr>
        <p:spPr>
          <a:xfrm>
            <a:off x="1092200" y="4800600"/>
            <a:ext cx="254000" cy="254000"/>
          </a:xfrm>
          <a:prstGeom prst="ellipse">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98600" y="47752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CPU/GPU</a:t>
            </a:r>
          </a:p>
        </p:txBody>
      </p:sp>
      <p:sp>
        <p:nvSpPr>
          <p:cNvPr id="17" name="Rounded Rectangle 16"/>
          <p:cNvSpPr/>
          <p:nvPr/>
        </p:nvSpPr>
        <p:spPr>
          <a:xfrm>
            <a:off x="4445000" y="2032000"/>
            <a:ext cx="3302000" cy="37338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99000" y="2336800"/>
            <a:ext cx="2794000" cy="508000"/>
          </a:xfrm>
          <a:prstGeom prst="rect">
            <a:avLst/>
          </a:prstGeom>
          <a:noFill/>
        </p:spPr>
        <p:txBody>
          <a:bodyPr wrap="square" lIns="0" tIns="0" rIns="0" bIns="0" anchor="t">
            <a:spAutoFit/>
          </a:bodyPr>
          <a:lstStyle/>
          <a:p>
            <a:pPr algn="ctr">
              <a:lnSpc>
                <a:spcPct val="100000"/>
              </a:lnSpc>
              <a:spcBef>
                <a:spcPts val="0"/>
              </a:spcBef>
              <a:spcAft>
                <a:spcPts val="0"/>
              </a:spcAft>
            </a:pPr>
            <a:r>
              <a:rPr sz="2300" b="1">
                <a:solidFill>
                  <a:srgbClr val="18231E"/>
                </a:solidFill>
                <a:latin typeface="Avenir Next"/>
              </a:rPr>
              <a:t>Seamless ASR</a:t>
            </a:r>
          </a:p>
        </p:txBody>
      </p:sp>
      <p:cxnSp>
        <p:nvCxnSpPr>
          <p:cNvPr id="19" name="Connector 18"/>
          <p:cNvCxnSpPr/>
          <p:nvPr/>
        </p:nvCxnSpPr>
        <p:spPr>
          <a:xfrm>
            <a:off x="4800600" y="2997200"/>
            <a:ext cx="2590800" cy="0"/>
          </a:xfrm>
          <a:prstGeom prst="line">
            <a:avLst/>
          </a:prstGeom>
          <a:ln w="12700">
            <a:solidFill>
              <a:srgbClr val="18231E"/>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51400" y="3378200"/>
            <a:ext cx="254000" cy="254000"/>
          </a:xfrm>
          <a:prstGeom prst="ellipse">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57800" y="33528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shared checkpoint</a:t>
            </a:r>
          </a:p>
        </p:txBody>
      </p:sp>
      <p:sp>
        <p:nvSpPr>
          <p:cNvPr id="22" name="Oval 21"/>
          <p:cNvSpPr/>
          <p:nvPr/>
        </p:nvSpPr>
        <p:spPr>
          <a:xfrm>
            <a:off x="4851400" y="4089400"/>
            <a:ext cx="254000" cy="254000"/>
          </a:xfrm>
          <a:prstGeom prst="ellipse">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57800" y="40640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multimodal</a:t>
            </a:r>
          </a:p>
        </p:txBody>
      </p:sp>
      <p:sp>
        <p:nvSpPr>
          <p:cNvPr id="24" name="Oval 23"/>
          <p:cNvSpPr/>
          <p:nvPr/>
        </p:nvSpPr>
        <p:spPr>
          <a:xfrm>
            <a:off x="4851400" y="4800600"/>
            <a:ext cx="254000" cy="254000"/>
          </a:xfrm>
          <a:prstGeom prst="ellipse">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57800" y="47752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no native time</a:t>
            </a:r>
          </a:p>
        </p:txBody>
      </p:sp>
      <p:sp>
        <p:nvSpPr>
          <p:cNvPr id="26" name="Rounded Rectangle 25"/>
          <p:cNvSpPr/>
          <p:nvPr/>
        </p:nvSpPr>
        <p:spPr>
          <a:xfrm>
            <a:off x="8204200" y="2032000"/>
            <a:ext cx="3302000" cy="3733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58200" y="2336800"/>
            <a:ext cx="2794000" cy="508000"/>
          </a:xfrm>
          <a:prstGeom prst="rect">
            <a:avLst/>
          </a:prstGeom>
          <a:noFill/>
        </p:spPr>
        <p:txBody>
          <a:bodyPr wrap="square" lIns="0" tIns="0" rIns="0" bIns="0" anchor="t">
            <a:spAutoFit/>
          </a:bodyPr>
          <a:lstStyle/>
          <a:p>
            <a:pPr algn="ctr">
              <a:lnSpc>
                <a:spcPct val="100000"/>
              </a:lnSpc>
              <a:spcBef>
                <a:spcPts val="0"/>
              </a:spcBef>
              <a:spcAft>
                <a:spcPts val="0"/>
              </a:spcAft>
            </a:pPr>
            <a:r>
              <a:rPr sz="2300" b="1">
                <a:solidFill>
                  <a:srgbClr val="FFFFFF"/>
                </a:solidFill>
                <a:latin typeface="Avenir Next"/>
              </a:rPr>
              <a:t>MMS ASR</a:t>
            </a:r>
          </a:p>
        </p:txBody>
      </p:sp>
      <p:cxnSp>
        <p:nvCxnSpPr>
          <p:cNvPr id="28" name="Connector 27"/>
          <p:cNvCxnSpPr/>
          <p:nvPr/>
        </p:nvCxnSpPr>
        <p:spPr>
          <a:xfrm>
            <a:off x="8559800" y="2997200"/>
            <a:ext cx="259080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610600" y="3378200"/>
            <a:ext cx="254000" cy="254000"/>
          </a:xfrm>
          <a:prstGeom prst="ellipse">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17000" y="33528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FFFFFF"/>
                </a:solidFill>
                <a:latin typeface="Avenir Next"/>
              </a:rPr>
              <a:t>rộng ngôn ngữ</a:t>
            </a:r>
          </a:p>
        </p:txBody>
      </p:sp>
      <p:sp>
        <p:nvSpPr>
          <p:cNvPr id="31" name="Oval 30"/>
          <p:cNvSpPr/>
          <p:nvPr/>
        </p:nvSpPr>
        <p:spPr>
          <a:xfrm>
            <a:off x="8610600" y="4089400"/>
            <a:ext cx="254000" cy="254000"/>
          </a:xfrm>
          <a:prstGeom prst="ellipse">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17000" y="40640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FFFFFF"/>
                </a:solidFill>
                <a:latin typeface="Avenir Next"/>
              </a:rPr>
              <a:t>local</a:t>
            </a:r>
          </a:p>
        </p:txBody>
      </p:sp>
      <p:sp>
        <p:nvSpPr>
          <p:cNvPr id="33" name="Oval 32"/>
          <p:cNvSpPr/>
          <p:nvPr/>
        </p:nvSpPr>
        <p:spPr>
          <a:xfrm>
            <a:off x="8610600" y="4800600"/>
            <a:ext cx="254000" cy="254000"/>
          </a:xfrm>
          <a:prstGeom prst="ellipse">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17000" y="4775200"/>
            <a:ext cx="2108200" cy="3556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FFFFFF"/>
                </a:solidFill>
                <a:latin typeface="Avenir Next"/>
              </a:rPr>
              <a:t>no native time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06 / DỊCH</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17</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NMT theo kiểu encoder-decoder</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Language token ép đầu ra đúng ngôn ngữ đích</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717800"/>
            <a:ext cx="1905000" cy="8128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819400"/>
            <a:ext cx="1651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Text nguồn</a:t>
            </a:r>
          </a:p>
        </p:txBody>
      </p:sp>
      <p:sp>
        <p:nvSpPr>
          <p:cNvPr id="10" name="TextBox 9"/>
          <p:cNvSpPr txBox="1"/>
          <p:nvPr/>
        </p:nvSpPr>
        <p:spPr>
          <a:xfrm>
            <a:off x="812800" y="3162300"/>
            <a:ext cx="1651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src_lang</a:t>
            </a:r>
          </a:p>
        </p:txBody>
      </p:sp>
      <p:sp>
        <p:nvSpPr>
          <p:cNvPr id="11" name="Rounded Rectangle 10"/>
          <p:cNvSpPr/>
          <p:nvPr/>
        </p:nvSpPr>
        <p:spPr>
          <a:xfrm>
            <a:off x="3200400" y="2717800"/>
            <a:ext cx="19050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2819400"/>
            <a:ext cx="1651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Tokenizer</a:t>
            </a:r>
          </a:p>
        </p:txBody>
      </p:sp>
      <p:sp>
        <p:nvSpPr>
          <p:cNvPr id="13" name="TextBox 12"/>
          <p:cNvSpPr txBox="1"/>
          <p:nvPr/>
        </p:nvSpPr>
        <p:spPr>
          <a:xfrm>
            <a:off x="3327400" y="3162300"/>
            <a:ext cx="1651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FLORES code</a:t>
            </a:r>
          </a:p>
        </p:txBody>
      </p:sp>
      <p:sp>
        <p:nvSpPr>
          <p:cNvPr id="14" name="Rounded Rectangle 13"/>
          <p:cNvSpPr/>
          <p:nvPr/>
        </p:nvSpPr>
        <p:spPr>
          <a:xfrm>
            <a:off x="5715000" y="2717800"/>
            <a:ext cx="1905000" cy="812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42000" y="2819400"/>
            <a:ext cx="1651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Seq2Seq</a:t>
            </a:r>
          </a:p>
        </p:txBody>
      </p:sp>
      <p:sp>
        <p:nvSpPr>
          <p:cNvPr id="16" name="TextBox 15"/>
          <p:cNvSpPr txBox="1"/>
          <p:nvPr/>
        </p:nvSpPr>
        <p:spPr>
          <a:xfrm>
            <a:off x="5842000" y="3162300"/>
            <a:ext cx="1651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NLLB</a:t>
            </a:r>
          </a:p>
        </p:txBody>
      </p:sp>
      <p:sp>
        <p:nvSpPr>
          <p:cNvPr id="17" name="Rounded Rectangle 16"/>
          <p:cNvSpPr/>
          <p:nvPr/>
        </p:nvSpPr>
        <p:spPr>
          <a:xfrm>
            <a:off x="8229600" y="2717800"/>
            <a:ext cx="14732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56600" y="2819400"/>
            <a:ext cx="1219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Beam 4</a:t>
            </a:r>
          </a:p>
        </p:txBody>
      </p:sp>
      <p:sp>
        <p:nvSpPr>
          <p:cNvPr id="19" name="TextBox 18"/>
          <p:cNvSpPr txBox="1"/>
          <p:nvPr/>
        </p:nvSpPr>
        <p:spPr>
          <a:xfrm>
            <a:off x="8356600" y="3162300"/>
            <a:ext cx="12192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search</a:t>
            </a:r>
          </a:p>
        </p:txBody>
      </p:sp>
      <p:sp>
        <p:nvSpPr>
          <p:cNvPr id="20" name="Rounded Rectangle 19"/>
          <p:cNvSpPr/>
          <p:nvPr/>
        </p:nvSpPr>
        <p:spPr>
          <a:xfrm>
            <a:off x="10312400" y="2717800"/>
            <a:ext cx="1193800" cy="812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439400" y="2819400"/>
            <a:ext cx="939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Text đích</a:t>
            </a:r>
          </a:p>
        </p:txBody>
      </p:sp>
      <p:sp>
        <p:nvSpPr>
          <p:cNvPr id="22" name="TextBox 21"/>
          <p:cNvSpPr txBox="1"/>
          <p:nvPr/>
        </p:nvSpPr>
        <p:spPr>
          <a:xfrm>
            <a:off x="10439400" y="3162300"/>
            <a:ext cx="939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BOS</a:t>
            </a:r>
          </a:p>
        </p:txBody>
      </p:sp>
      <p:cxnSp>
        <p:nvCxnSpPr>
          <p:cNvPr id="23" name="Connector 22"/>
          <p:cNvCxnSpPr/>
          <p:nvPr/>
        </p:nvCxnSpPr>
        <p:spPr>
          <a:xfrm>
            <a:off x="2590800" y="3124200"/>
            <a:ext cx="6096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05400" y="3124200"/>
            <a:ext cx="6096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20000" y="3124200"/>
            <a:ext cx="6096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702800" y="3124200"/>
            <a:ext cx="6096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600200" y="4495800"/>
            <a:ext cx="17526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701800" y="4521200"/>
            <a:ext cx="1549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batch segments</a:t>
            </a:r>
          </a:p>
        </p:txBody>
      </p:sp>
      <p:sp>
        <p:nvSpPr>
          <p:cNvPr id="29" name="Rounded Rectangle 28"/>
          <p:cNvSpPr/>
          <p:nvPr/>
        </p:nvSpPr>
        <p:spPr>
          <a:xfrm>
            <a:off x="3810000" y="4495800"/>
            <a:ext cx="18796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911600" y="4521200"/>
            <a:ext cx="1676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max input 512</a:t>
            </a:r>
          </a:p>
        </p:txBody>
      </p:sp>
      <p:sp>
        <p:nvSpPr>
          <p:cNvPr id="31" name="Rounded Rectangle 30"/>
          <p:cNvSpPr/>
          <p:nvPr/>
        </p:nvSpPr>
        <p:spPr>
          <a:xfrm>
            <a:off x="6146800" y="4495800"/>
            <a:ext cx="1981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48400" y="4521200"/>
            <a:ext cx="1778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max output 256</a:t>
            </a:r>
          </a:p>
        </p:txBody>
      </p:sp>
      <p:sp>
        <p:nvSpPr>
          <p:cNvPr id="33" name="Rounded Rectangle 32"/>
          <p:cNvSpPr/>
          <p:nvPr/>
        </p:nvSpPr>
        <p:spPr>
          <a:xfrm>
            <a:off x="8585200" y="4495800"/>
            <a:ext cx="16002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86800" y="4521200"/>
            <a:ext cx="1397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forced BOS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06 / DỊCH</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18</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Tại sao chọn NLLB 600M?</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Cân bằng coverage, tài nguyên và khả năng tái lập</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06600"/>
            <a:ext cx="3302000" cy="3937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524000" y="2260600"/>
            <a:ext cx="1625600" cy="381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25600" y="2286000"/>
            <a:ext cx="1422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FFFFFF"/>
                </a:solidFill>
                <a:latin typeface="Avenir Next"/>
              </a:rPr>
              <a:t>Mặc định</a:t>
            </a:r>
          </a:p>
        </p:txBody>
      </p:sp>
      <p:sp>
        <p:nvSpPr>
          <p:cNvPr id="11" name="TextBox 10"/>
          <p:cNvSpPr txBox="1"/>
          <p:nvPr/>
        </p:nvSpPr>
        <p:spPr>
          <a:xfrm>
            <a:off x="914400" y="2870200"/>
            <a:ext cx="2844800" cy="4572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NLLB 600M</a:t>
            </a:r>
          </a:p>
        </p:txBody>
      </p:sp>
      <p:sp>
        <p:nvSpPr>
          <p:cNvPr id="12" name="TextBox 11"/>
          <p:cNvSpPr txBox="1"/>
          <p:nvPr/>
        </p:nvSpPr>
        <p:spPr>
          <a:xfrm>
            <a:off x="1143000" y="36322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50/50 app</a:t>
            </a:r>
          </a:p>
        </p:txBody>
      </p:sp>
      <p:sp>
        <p:nvSpPr>
          <p:cNvPr id="13" name="TextBox 12"/>
          <p:cNvSpPr txBox="1"/>
          <p:nvPr/>
        </p:nvSpPr>
        <p:spPr>
          <a:xfrm>
            <a:off x="1143000" y="41910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nhẹ nhất</a:t>
            </a:r>
          </a:p>
        </p:txBody>
      </p:sp>
      <p:sp>
        <p:nvSpPr>
          <p:cNvPr id="14" name="TextBox 13"/>
          <p:cNvSpPr txBox="1"/>
          <p:nvPr/>
        </p:nvSpPr>
        <p:spPr>
          <a:xfrm>
            <a:off x="1143000" y="47498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NMT ổn định</a:t>
            </a:r>
          </a:p>
        </p:txBody>
      </p:sp>
      <p:sp>
        <p:nvSpPr>
          <p:cNvPr id="15" name="Rounded Rectangle 14"/>
          <p:cNvSpPr/>
          <p:nvPr/>
        </p:nvSpPr>
        <p:spPr>
          <a:xfrm>
            <a:off x="4445000" y="2006600"/>
            <a:ext cx="3302000" cy="3937000"/>
          </a:xfrm>
          <a:prstGeom prst="roundRect">
            <a:avLst/>
          </a:prstGeom>
          <a:solidFill>
            <a:srgbClr val="FFFEFA"/>
          </a:solidFill>
          <a:ln w="1905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83200" y="2260600"/>
            <a:ext cx="1625600" cy="381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84800" y="2286000"/>
            <a:ext cx="1422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FFFFFF"/>
                </a:solidFill>
                <a:latin typeface="Avenir Next"/>
              </a:rPr>
              <a:t>Chất lượng</a:t>
            </a:r>
          </a:p>
        </p:txBody>
      </p:sp>
      <p:sp>
        <p:nvSpPr>
          <p:cNvPr id="18" name="TextBox 17"/>
          <p:cNvSpPr txBox="1"/>
          <p:nvPr/>
        </p:nvSpPr>
        <p:spPr>
          <a:xfrm>
            <a:off x="4673600" y="2870200"/>
            <a:ext cx="2844800" cy="4572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NLLB 1.3B</a:t>
            </a:r>
          </a:p>
        </p:txBody>
      </p:sp>
      <p:sp>
        <p:nvSpPr>
          <p:cNvPr id="19" name="TextBox 18"/>
          <p:cNvSpPr txBox="1"/>
          <p:nvPr/>
        </p:nvSpPr>
        <p:spPr>
          <a:xfrm>
            <a:off x="4902200" y="36322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50/50 app</a:t>
            </a:r>
          </a:p>
        </p:txBody>
      </p:sp>
      <p:sp>
        <p:nvSpPr>
          <p:cNvPr id="20" name="TextBox 19"/>
          <p:cNvSpPr txBox="1"/>
          <p:nvPr/>
        </p:nvSpPr>
        <p:spPr>
          <a:xfrm>
            <a:off x="4902200" y="41910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khoảng 2x memory</a:t>
            </a:r>
          </a:p>
        </p:txBody>
      </p:sp>
      <p:sp>
        <p:nvSpPr>
          <p:cNvPr id="21" name="TextBox 20"/>
          <p:cNvSpPr txBox="1"/>
          <p:nvPr/>
        </p:nvSpPr>
        <p:spPr>
          <a:xfrm>
            <a:off x="4902200" y="47498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chậm hơn</a:t>
            </a:r>
          </a:p>
        </p:txBody>
      </p:sp>
      <p:sp>
        <p:nvSpPr>
          <p:cNvPr id="22" name="Rounded Rectangle 21"/>
          <p:cNvSpPr/>
          <p:nvPr/>
        </p:nvSpPr>
        <p:spPr>
          <a:xfrm>
            <a:off x="8204200" y="2006600"/>
            <a:ext cx="3302000" cy="3937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042400" y="2260600"/>
            <a:ext cx="16256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0" y="2286000"/>
            <a:ext cx="1422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Chia sẻ model</a:t>
            </a:r>
          </a:p>
        </p:txBody>
      </p:sp>
      <p:sp>
        <p:nvSpPr>
          <p:cNvPr id="25" name="TextBox 24"/>
          <p:cNvSpPr txBox="1"/>
          <p:nvPr/>
        </p:nvSpPr>
        <p:spPr>
          <a:xfrm>
            <a:off x="8432800" y="2870200"/>
            <a:ext cx="2844800" cy="4572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FFFFFF"/>
                </a:solidFill>
                <a:latin typeface="Avenir Next"/>
              </a:rPr>
              <a:t>Seamless</a:t>
            </a:r>
          </a:p>
        </p:txBody>
      </p:sp>
      <p:sp>
        <p:nvSpPr>
          <p:cNvPr id="26" name="TextBox 25"/>
          <p:cNvSpPr txBox="1"/>
          <p:nvPr/>
        </p:nvSpPr>
        <p:spPr>
          <a:xfrm>
            <a:off x="8661400" y="36322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FFFFFF"/>
                </a:solidFill>
                <a:latin typeface="Avenir Next"/>
              </a:rPr>
              <a:t>49/50 app</a:t>
            </a:r>
          </a:p>
        </p:txBody>
      </p:sp>
      <p:sp>
        <p:nvSpPr>
          <p:cNvPr id="27" name="TextBox 26"/>
          <p:cNvSpPr txBox="1"/>
          <p:nvPr/>
        </p:nvSpPr>
        <p:spPr>
          <a:xfrm>
            <a:off x="8661400" y="41910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FFFFFF"/>
                </a:solidFill>
                <a:latin typeface="Avenir Next"/>
              </a:rPr>
              <a:t>ASR + text</a:t>
            </a:r>
          </a:p>
        </p:txBody>
      </p:sp>
      <p:sp>
        <p:nvSpPr>
          <p:cNvPr id="28" name="TextBox 27"/>
          <p:cNvSpPr txBox="1"/>
          <p:nvPr/>
        </p:nvSpPr>
        <p:spPr>
          <a:xfrm>
            <a:off x="8661400" y="4749800"/>
            <a:ext cx="2387600" cy="3556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FFFFFF"/>
                </a:solidFill>
                <a:latin typeface="Avenir Next"/>
              </a:rPr>
              <a:t>checkpoint lớn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06 / DỊCH</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19</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Tên riêng vẫn là điểm yếu</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Hiện trạng và hướng xử lý không dịch nhầm entity</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159000"/>
            <a:ext cx="3175000" cy="2667000"/>
          </a:xfrm>
          <a:prstGeom prst="roundRect">
            <a:avLst/>
          </a:prstGeom>
          <a:solidFill>
            <a:srgbClr val="F28B7D"/>
          </a:solidFill>
          <a:ln w="15240">
            <a:solidFill>
              <a:srgbClr val="F28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387600"/>
            <a:ext cx="2717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2000" b="1">
                <a:solidFill>
                  <a:srgbClr val="18231E"/>
                </a:solidFill>
                <a:latin typeface="Avenir Next"/>
              </a:rPr>
              <a:t>HIỆN TẠI</a:t>
            </a:r>
          </a:p>
        </p:txBody>
      </p:sp>
      <p:sp>
        <p:nvSpPr>
          <p:cNvPr id="10" name="TextBox 9"/>
          <p:cNvSpPr txBox="1"/>
          <p:nvPr/>
        </p:nvSpPr>
        <p:spPr>
          <a:xfrm>
            <a:off x="914400" y="2857500"/>
            <a:ext cx="2717800" cy="1854200"/>
          </a:xfrm>
          <a:prstGeom prst="rect">
            <a:avLst/>
          </a:prstGeom>
          <a:noFill/>
        </p:spPr>
        <p:txBody>
          <a:bodyPr wrap="square" lIns="0" tIns="0" rIns="0" bIns="0" anchor="t">
            <a:spAutoFit/>
          </a:bodyPr>
          <a:lstStyle/>
          <a:p>
            <a:pPr algn="ctr">
              <a:lnSpc>
                <a:spcPct val="100000"/>
              </a:lnSpc>
              <a:spcBef>
                <a:spcPts val="0"/>
              </a:spcBef>
              <a:spcAft>
                <a:spcPts val="0"/>
              </a:spcAft>
            </a:pPr>
            <a:r>
              <a:rPr sz="2200" b="0">
                <a:solidFill>
                  <a:srgbClr val="6B7771"/>
                </a:solidFill>
                <a:latin typeface="Avenir Next"/>
              </a:rPr>
              <a:t>“Mr Brown”</a:t>
            </a:r>
            <a:br/>
            <a:r>
              <a:rPr sz="2200" b="0">
                <a:solidFill>
                  <a:srgbClr val="6B7771"/>
                </a:solidFill>
                <a:latin typeface="Avenir Next"/>
              </a:rPr>
              <a:t>có thể bị dịch nghĩa</a:t>
            </a:r>
          </a:p>
        </p:txBody>
      </p:sp>
      <p:cxnSp>
        <p:nvCxnSpPr>
          <p:cNvPr id="11" name="Connector 10"/>
          <p:cNvCxnSpPr/>
          <p:nvPr/>
        </p:nvCxnSpPr>
        <p:spPr>
          <a:xfrm>
            <a:off x="3860800" y="3505200"/>
            <a:ext cx="8636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24400" y="2768600"/>
            <a:ext cx="1346200" cy="5842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51400" y="2857500"/>
            <a:ext cx="1092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NER</a:t>
            </a:r>
          </a:p>
        </p:txBody>
      </p:sp>
      <p:cxnSp>
        <p:nvCxnSpPr>
          <p:cNvPr id="14" name="Connector 13"/>
          <p:cNvCxnSpPr/>
          <p:nvPr/>
        </p:nvCxnSpPr>
        <p:spPr>
          <a:xfrm>
            <a:off x="6070600" y="3060700"/>
            <a:ext cx="431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02400" y="2768600"/>
            <a:ext cx="1346200" cy="5842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2857500"/>
            <a:ext cx="1092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Mask</a:t>
            </a:r>
          </a:p>
        </p:txBody>
      </p:sp>
      <p:cxnSp>
        <p:nvCxnSpPr>
          <p:cNvPr id="17" name="Connector 16"/>
          <p:cNvCxnSpPr/>
          <p:nvPr/>
        </p:nvCxnSpPr>
        <p:spPr>
          <a:xfrm>
            <a:off x="7848600" y="3060700"/>
            <a:ext cx="431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280400" y="2768600"/>
            <a:ext cx="1346200" cy="5842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07400" y="2857500"/>
            <a:ext cx="1092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NMT</a:t>
            </a:r>
          </a:p>
        </p:txBody>
      </p:sp>
      <p:cxnSp>
        <p:nvCxnSpPr>
          <p:cNvPr id="20" name="Connector 19"/>
          <p:cNvCxnSpPr/>
          <p:nvPr/>
        </p:nvCxnSpPr>
        <p:spPr>
          <a:xfrm>
            <a:off x="9626600" y="3060700"/>
            <a:ext cx="431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058400" y="2768600"/>
            <a:ext cx="1346200" cy="5842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85400" y="2857500"/>
            <a:ext cx="1092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Restore</a:t>
            </a:r>
          </a:p>
        </p:txBody>
      </p:sp>
      <p:sp>
        <p:nvSpPr>
          <p:cNvPr id="23" name="TextBox 22"/>
          <p:cNvSpPr txBox="1"/>
          <p:nvPr/>
        </p:nvSpPr>
        <p:spPr>
          <a:xfrm>
            <a:off x="4876800" y="4114800"/>
            <a:ext cx="6350000" cy="431800"/>
          </a:xfrm>
          <a:prstGeom prst="rect">
            <a:avLst/>
          </a:prstGeom>
          <a:noFill/>
        </p:spPr>
        <p:txBody>
          <a:bodyPr wrap="square" lIns="0" tIns="0" rIns="0" bIns="0" anchor="t">
            <a:spAutoFit/>
          </a:bodyPr>
          <a:lstStyle/>
          <a:p>
            <a:pPr algn="ctr">
              <a:lnSpc>
                <a:spcPct val="100000"/>
              </a:lnSpc>
              <a:spcBef>
                <a:spcPts val="0"/>
              </a:spcBef>
              <a:spcAft>
                <a:spcPts val="0"/>
              </a:spcAft>
            </a:pPr>
            <a:r>
              <a:rPr sz="1800" b="1">
                <a:solidFill>
                  <a:srgbClr val="18231E"/>
                </a:solidFill>
                <a:latin typeface="Avenir Next"/>
              </a:rPr>
              <a:t>Mr Brown | __PERSON_0__ | dịch | Mr Brown</a:t>
            </a:r>
          </a:p>
        </p:txBody>
      </p:sp>
      <p:sp>
        <p:nvSpPr>
          <p:cNvPr id="24" name="Rounded Rectangle 23"/>
          <p:cNvSpPr/>
          <p:nvPr/>
        </p:nvSpPr>
        <p:spPr>
          <a:xfrm>
            <a:off x="7950200" y="5054600"/>
            <a:ext cx="2921000" cy="381000"/>
          </a:xfrm>
          <a:prstGeom prst="round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51800" y="5080000"/>
            <a:ext cx="27178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ROADMAP, CHƯA IMPLEMENT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07 / TTS</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20</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TTS chạy theo từng segment</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Provider nhận text, language, speaker và rate</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641600"/>
            <a:ext cx="1879600" cy="8128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743200"/>
            <a:ext cx="16256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Segments</a:t>
            </a:r>
          </a:p>
        </p:txBody>
      </p:sp>
      <p:sp>
        <p:nvSpPr>
          <p:cNvPr id="10" name="TextBox 9"/>
          <p:cNvSpPr txBox="1"/>
          <p:nvPr/>
        </p:nvSpPr>
        <p:spPr>
          <a:xfrm>
            <a:off x="812800" y="3086100"/>
            <a:ext cx="16256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translation</a:t>
            </a:r>
          </a:p>
        </p:txBody>
      </p:sp>
      <p:sp>
        <p:nvSpPr>
          <p:cNvPr id="11" name="Rounded Rectangle 10"/>
          <p:cNvSpPr/>
          <p:nvPr/>
        </p:nvSpPr>
        <p:spPr>
          <a:xfrm>
            <a:off x="3556000" y="2159000"/>
            <a:ext cx="3581400" cy="1905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37000" y="2438400"/>
            <a:ext cx="2819400" cy="330200"/>
          </a:xfrm>
          <a:prstGeom prst="rect">
            <a:avLst/>
          </a:prstGeom>
          <a:noFill/>
        </p:spPr>
        <p:txBody>
          <a:bodyPr wrap="square" lIns="0" tIns="0" rIns="0" bIns="0" anchor="t">
            <a:spAutoFit/>
          </a:bodyPr>
          <a:lstStyle/>
          <a:p>
            <a:pPr algn="ctr">
              <a:lnSpc>
                <a:spcPct val="100000"/>
              </a:lnSpc>
              <a:spcBef>
                <a:spcPts val="0"/>
              </a:spcBef>
              <a:spcAft>
                <a:spcPts val="0"/>
              </a:spcAft>
            </a:pPr>
            <a:r>
              <a:rPr sz="1800" b="1">
                <a:solidFill>
                  <a:srgbClr val="D8FF58"/>
                </a:solidFill>
                <a:latin typeface="Avenir Next"/>
              </a:rPr>
              <a:t>TTS PROVIDER</a:t>
            </a:r>
          </a:p>
        </p:txBody>
      </p:sp>
      <p:sp>
        <p:nvSpPr>
          <p:cNvPr id="13" name="Rounded Rectangle 12"/>
          <p:cNvSpPr/>
          <p:nvPr/>
        </p:nvSpPr>
        <p:spPr>
          <a:xfrm>
            <a:off x="3962400" y="3098800"/>
            <a:ext cx="11684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64000" y="3124200"/>
            <a:ext cx="9652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Edge</a:t>
            </a:r>
          </a:p>
        </p:txBody>
      </p:sp>
      <p:sp>
        <p:nvSpPr>
          <p:cNvPr id="15" name="Rounded Rectangle 14"/>
          <p:cNvSpPr/>
          <p:nvPr/>
        </p:nvSpPr>
        <p:spPr>
          <a:xfrm>
            <a:off x="5562600" y="3098800"/>
            <a:ext cx="11684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4200" y="3124200"/>
            <a:ext cx="9652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MMS</a:t>
            </a:r>
          </a:p>
        </p:txBody>
      </p:sp>
      <p:sp>
        <p:nvSpPr>
          <p:cNvPr id="17" name="Rounded Rectangle 16"/>
          <p:cNvSpPr/>
          <p:nvPr/>
        </p:nvSpPr>
        <p:spPr>
          <a:xfrm>
            <a:off x="8128000" y="2641600"/>
            <a:ext cx="2235200" cy="812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55000" y="2743200"/>
            <a:ext cx="1981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WAV / segment</a:t>
            </a:r>
          </a:p>
        </p:txBody>
      </p:sp>
      <p:sp>
        <p:nvSpPr>
          <p:cNvPr id="19" name="TextBox 18"/>
          <p:cNvSpPr txBox="1"/>
          <p:nvPr/>
        </p:nvSpPr>
        <p:spPr>
          <a:xfrm>
            <a:off x="8255000" y="3086100"/>
            <a:ext cx="19812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normalized</a:t>
            </a:r>
          </a:p>
        </p:txBody>
      </p:sp>
      <p:cxnSp>
        <p:nvCxnSpPr>
          <p:cNvPr id="20" name="Connector 19"/>
          <p:cNvCxnSpPr/>
          <p:nvPr/>
        </p:nvCxnSpPr>
        <p:spPr>
          <a:xfrm>
            <a:off x="2565400" y="3048000"/>
            <a:ext cx="9906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137400" y="3048000"/>
            <a:ext cx="9906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45600" y="3454400"/>
            <a:ext cx="0" cy="111760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42200" y="4572000"/>
            <a:ext cx="3606800" cy="1168400"/>
          </a:xfrm>
          <a:prstGeom prst="roundRect">
            <a:avLst/>
          </a:prstGeom>
          <a:solidFill>
            <a:srgbClr val="A8E6D2"/>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70800" y="4800600"/>
            <a:ext cx="31496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18231E"/>
                </a:solidFill>
                <a:latin typeface="Avenir Next"/>
              </a:rPr>
              <a:t>Metadata giữ cùng file</a:t>
            </a:r>
          </a:p>
        </p:txBody>
      </p:sp>
      <p:sp>
        <p:nvSpPr>
          <p:cNvPr id="25" name="TextBox 24"/>
          <p:cNvSpPr txBox="1"/>
          <p:nvPr/>
        </p:nvSpPr>
        <p:spPr>
          <a:xfrm>
            <a:off x="7670800" y="5270500"/>
            <a:ext cx="3149600" cy="3556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speaker, start, end, speed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07 / TTS</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21</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Edge TTS và MMS-TTS</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Không có lựa chọn thắng tuyệt đối</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38200" y="2006600"/>
            <a:ext cx="3175000" cy="355600"/>
          </a:xfrm>
          <a:prstGeom prst="rect">
            <a:avLst/>
          </a:prstGeom>
          <a:noFill/>
        </p:spPr>
        <p:txBody>
          <a:bodyPr wrap="square" lIns="0" tIns="0" rIns="0" bIns="0" anchor="t">
            <a:spAutoFit/>
          </a:bodyPr>
          <a:lstStyle/>
          <a:p>
            <a:pPr algn="l">
              <a:lnSpc>
                <a:spcPct val="100000"/>
              </a:lnSpc>
              <a:spcBef>
                <a:spcPts val="0"/>
              </a:spcBef>
              <a:spcAft>
                <a:spcPts val="0"/>
              </a:spcAft>
            </a:pPr>
            <a:r>
              <a:rPr sz="1300" b="1">
                <a:solidFill>
                  <a:srgbClr val="6B7771"/>
                </a:solidFill>
                <a:latin typeface="Avenir Next"/>
              </a:rPr>
              <a:t>TIÊU CHÍ</a:t>
            </a:r>
          </a:p>
        </p:txBody>
      </p:sp>
      <p:sp>
        <p:nvSpPr>
          <p:cNvPr id="9" name="Rounded Rectangle 8"/>
          <p:cNvSpPr/>
          <p:nvPr/>
        </p:nvSpPr>
        <p:spPr>
          <a:xfrm>
            <a:off x="5461000" y="1905000"/>
            <a:ext cx="1752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62600" y="1930400"/>
            <a:ext cx="1549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EDGE</a:t>
            </a:r>
          </a:p>
        </p:txBody>
      </p:sp>
      <p:sp>
        <p:nvSpPr>
          <p:cNvPr id="11" name="Rounded Rectangle 10"/>
          <p:cNvSpPr/>
          <p:nvPr/>
        </p:nvSpPr>
        <p:spPr>
          <a:xfrm>
            <a:off x="8763000" y="1905000"/>
            <a:ext cx="1752600" cy="381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4600" y="1930400"/>
            <a:ext cx="1549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FFFFFF"/>
                </a:solidFill>
                <a:latin typeface="Avenir Next"/>
              </a:rPr>
              <a:t>MMS-TTS</a:t>
            </a:r>
          </a:p>
        </p:txBody>
      </p:sp>
      <p:sp>
        <p:nvSpPr>
          <p:cNvPr id="13" name="Rectangle 12"/>
          <p:cNvSpPr/>
          <p:nvPr/>
        </p:nvSpPr>
        <p:spPr>
          <a:xfrm>
            <a:off x="685800" y="2451100"/>
            <a:ext cx="10820400" cy="482600"/>
          </a:xfrm>
          <a:prstGeom prst="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8200" y="2514600"/>
            <a:ext cx="3175000" cy="3048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Coverage app</a:t>
            </a:r>
          </a:p>
        </p:txBody>
      </p:sp>
      <p:sp>
        <p:nvSpPr>
          <p:cNvPr id="15" name="TextBox 14"/>
          <p:cNvSpPr txBox="1"/>
          <p:nvPr/>
        </p:nvSpPr>
        <p:spPr>
          <a:xfrm>
            <a:off x="5181600" y="25146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49/50</a:t>
            </a:r>
          </a:p>
        </p:txBody>
      </p:sp>
      <p:sp>
        <p:nvSpPr>
          <p:cNvPr id="16" name="TextBox 15"/>
          <p:cNvSpPr txBox="1"/>
          <p:nvPr/>
        </p:nvSpPr>
        <p:spPr>
          <a:xfrm>
            <a:off x="8483600" y="25146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34/50</a:t>
            </a:r>
          </a:p>
        </p:txBody>
      </p:sp>
      <p:sp>
        <p:nvSpPr>
          <p:cNvPr id="17" name="TextBox 16"/>
          <p:cNvSpPr txBox="1"/>
          <p:nvPr/>
        </p:nvSpPr>
        <p:spPr>
          <a:xfrm>
            <a:off x="838200" y="3086100"/>
            <a:ext cx="3175000" cy="3048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Voice variety</a:t>
            </a:r>
          </a:p>
        </p:txBody>
      </p:sp>
      <p:sp>
        <p:nvSpPr>
          <p:cNvPr id="18" name="TextBox 17"/>
          <p:cNvSpPr txBox="1"/>
          <p:nvPr/>
        </p:nvSpPr>
        <p:spPr>
          <a:xfrm>
            <a:off x="5181600" y="30861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nhiều</a:t>
            </a:r>
          </a:p>
        </p:txBody>
      </p:sp>
      <p:sp>
        <p:nvSpPr>
          <p:cNvPr id="19" name="TextBox 18"/>
          <p:cNvSpPr txBox="1"/>
          <p:nvPr/>
        </p:nvSpPr>
        <p:spPr>
          <a:xfrm>
            <a:off x="8483600" y="30861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1 stock voice</a:t>
            </a:r>
          </a:p>
        </p:txBody>
      </p:sp>
      <p:sp>
        <p:nvSpPr>
          <p:cNvPr id="20" name="Rectangle 19"/>
          <p:cNvSpPr/>
          <p:nvPr/>
        </p:nvSpPr>
        <p:spPr>
          <a:xfrm>
            <a:off x="685800" y="3594100"/>
            <a:ext cx="10820400" cy="482600"/>
          </a:xfrm>
          <a:prstGeom prst="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8200" y="3657600"/>
            <a:ext cx="3175000" cy="3048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Multi-voice</a:t>
            </a:r>
          </a:p>
        </p:txBody>
      </p:sp>
      <p:sp>
        <p:nvSpPr>
          <p:cNvPr id="22" name="TextBox 21"/>
          <p:cNvSpPr txBox="1"/>
          <p:nvPr/>
        </p:nvSpPr>
        <p:spPr>
          <a:xfrm>
            <a:off x="5181600" y="36576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có</a:t>
            </a:r>
          </a:p>
        </p:txBody>
      </p:sp>
      <p:sp>
        <p:nvSpPr>
          <p:cNvPr id="23" name="TextBox 22"/>
          <p:cNvSpPr txBox="1"/>
          <p:nvPr/>
        </p:nvSpPr>
        <p:spPr>
          <a:xfrm>
            <a:off x="8483600" y="36576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không</a:t>
            </a:r>
          </a:p>
        </p:txBody>
      </p:sp>
      <p:sp>
        <p:nvSpPr>
          <p:cNvPr id="24" name="TextBox 23"/>
          <p:cNvSpPr txBox="1"/>
          <p:nvPr/>
        </p:nvSpPr>
        <p:spPr>
          <a:xfrm>
            <a:off x="838200" y="4229100"/>
            <a:ext cx="3175000" cy="3048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Offline</a:t>
            </a:r>
          </a:p>
        </p:txBody>
      </p:sp>
      <p:sp>
        <p:nvSpPr>
          <p:cNvPr id="25" name="TextBox 24"/>
          <p:cNvSpPr txBox="1"/>
          <p:nvPr/>
        </p:nvSpPr>
        <p:spPr>
          <a:xfrm>
            <a:off x="5181600" y="42291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không</a:t>
            </a:r>
          </a:p>
        </p:txBody>
      </p:sp>
      <p:sp>
        <p:nvSpPr>
          <p:cNvPr id="26" name="TextBox 25"/>
          <p:cNvSpPr txBox="1"/>
          <p:nvPr/>
        </p:nvSpPr>
        <p:spPr>
          <a:xfrm>
            <a:off x="8483600" y="42291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có sau download</a:t>
            </a:r>
          </a:p>
        </p:txBody>
      </p:sp>
      <p:sp>
        <p:nvSpPr>
          <p:cNvPr id="27" name="Rectangle 26"/>
          <p:cNvSpPr/>
          <p:nvPr/>
        </p:nvSpPr>
        <p:spPr>
          <a:xfrm>
            <a:off x="685800" y="4737100"/>
            <a:ext cx="10820400" cy="482600"/>
          </a:xfrm>
          <a:prstGeom prst="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8200" y="4800600"/>
            <a:ext cx="3175000" cy="3048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GPU</a:t>
            </a:r>
          </a:p>
        </p:txBody>
      </p:sp>
      <p:sp>
        <p:nvSpPr>
          <p:cNvPr id="29" name="TextBox 28"/>
          <p:cNvSpPr txBox="1"/>
          <p:nvPr/>
        </p:nvSpPr>
        <p:spPr>
          <a:xfrm>
            <a:off x="5181600" y="48006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không cần</a:t>
            </a:r>
          </a:p>
        </p:txBody>
      </p:sp>
      <p:sp>
        <p:nvSpPr>
          <p:cNvPr id="30" name="TextBox 29"/>
          <p:cNvSpPr txBox="1"/>
          <p:nvPr/>
        </p:nvSpPr>
        <p:spPr>
          <a:xfrm>
            <a:off x="8483600" y="48006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có lợi</a:t>
            </a:r>
          </a:p>
        </p:txBody>
      </p:sp>
      <p:sp>
        <p:nvSpPr>
          <p:cNvPr id="31" name="TextBox 30"/>
          <p:cNvSpPr txBox="1"/>
          <p:nvPr/>
        </p:nvSpPr>
        <p:spPr>
          <a:xfrm>
            <a:off x="838200" y="5372100"/>
            <a:ext cx="3175000" cy="304800"/>
          </a:xfrm>
          <a:prstGeom prst="rect">
            <a:avLst/>
          </a:prstGeom>
          <a:noFill/>
        </p:spPr>
        <p:txBody>
          <a:bodyPr wrap="square" lIns="0" tIns="0" rIns="0" bIns="0" anchor="t">
            <a:spAutoFit/>
          </a:bodyPr>
          <a:lstStyle/>
          <a:p>
            <a:pPr algn="l">
              <a:lnSpc>
                <a:spcPct val="100000"/>
              </a:lnSpc>
              <a:spcBef>
                <a:spcPts val="0"/>
              </a:spcBef>
              <a:spcAft>
                <a:spcPts val="0"/>
              </a:spcAft>
            </a:pPr>
            <a:r>
              <a:rPr sz="1600" b="1">
                <a:solidFill>
                  <a:srgbClr val="18231E"/>
                </a:solidFill>
                <a:latin typeface="Avenir Next"/>
              </a:rPr>
              <a:t>Privacy</a:t>
            </a:r>
          </a:p>
        </p:txBody>
      </p:sp>
      <p:sp>
        <p:nvSpPr>
          <p:cNvPr id="32" name="TextBox 31"/>
          <p:cNvSpPr txBox="1"/>
          <p:nvPr/>
        </p:nvSpPr>
        <p:spPr>
          <a:xfrm>
            <a:off x="5181600" y="53721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gửi text</a:t>
            </a:r>
          </a:p>
        </p:txBody>
      </p:sp>
      <p:sp>
        <p:nvSpPr>
          <p:cNvPr id="33" name="TextBox 32"/>
          <p:cNvSpPr txBox="1"/>
          <p:nvPr/>
        </p:nvSpPr>
        <p:spPr>
          <a:xfrm>
            <a:off x="8483600" y="5372100"/>
            <a:ext cx="23114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local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07 / TTS</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22</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Vì sao demo ưu tiên Edge TTS?</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Kết luận dựa trên test nghe của nhóm, không phải benchmark phổ quát</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06600"/>
            <a:ext cx="10820400" cy="14224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6000" y="2286000"/>
            <a:ext cx="3073400" cy="254000"/>
          </a:xfrm>
          <a:prstGeom prst="rect">
            <a:avLst/>
          </a:prstGeom>
          <a:noFill/>
        </p:spPr>
        <p:txBody>
          <a:bodyPr wrap="square" lIns="0" tIns="0" rIns="0" bIns="0" anchor="t">
            <a:spAutoFit/>
          </a:bodyPr>
          <a:lstStyle/>
          <a:p>
            <a:pPr algn="l">
              <a:lnSpc>
                <a:spcPct val="100000"/>
              </a:lnSpc>
              <a:spcBef>
                <a:spcPts val="0"/>
              </a:spcBef>
              <a:spcAft>
                <a:spcPts val="0"/>
              </a:spcAft>
            </a:pPr>
            <a:r>
              <a:rPr sz="1200" b="1">
                <a:solidFill>
                  <a:srgbClr val="D8FF58"/>
                </a:solidFill>
                <a:latin typeface="Avenir Next"/>
              </a:rPr>
              <a:t>OBSERVED IN OUR DEMO</a:t>
            </a:r>
          </a:p>
        </p:txBody>
      </p:sp>
      <p:sp>
        <p:nvSpPr>
          <p:cNvPr id="10" name="TextBox 9"/>
          <p:cNvSpPr txBox="1"/>
          <p:nvPr/>
        </p:nvSpPr>
        <p:spPr>
          <a:xfrm>
            <a:off x="1016000" y="2667000"/>
            <a:ext cx="9525000" cy="457200"/>
          </a:xfrm>
          <a:prstGeom prst="rect">
            <a:avLst/>
          </a:prstGeom>
          <a:noFill/>
        </p:spPr>
        <p:txBody>
          <a:bodyPr wrap="square" lIns="0" tIns="0" rIns="0" bIns="0" anchor="t">
            <a:spAutoFit/>
          </a:bodyPr>
          <a:lstStyle/>
          <a:p>
            <a:pPr algn="l">
              <a:lnSpc>
                <a:spcPct val="100000"/>
              </a:lnSpc>
              <a:spcBef>
                <a:spcPts val="0"/>
              </a:spcBef>
              <a:spcAft>
                <a:spcPts val="0"/>
              </a:spcAft>
            </a:pPr>
            <a:r>
              <a:rPr sz="2300" b="1">
                <a:solidFill>
                  <a:srgbClr val="FFFFFF"/>
                </a:solidFill>
                <a:latin typeface="Avenir Next"/>
              </a:rPr>
              <a:t>Edge nghe tự nhiên hơn MMS-TTS trên các clip nhóm đã thử</a:t>
            </a:r>
          </a:p>
        </p:txBody>
      </p:sp>
      <p:sp>
        <p:nvSpPr>
          <p:cNvPr id="11" name="Oval 10"/>
          <p:cNvSpPr/>
          <p:nvPr/>
        </p:nvSpPr>
        <p:spPr>
          <a:xfrm>
            <a:off x="1066800" y="4038600"/>
            <a:ext cx="1168400" cy="1168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68400" y="4292600"/>
            <a:ext cx="9652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Prosody</a:t>
            </a:r>
          </a:p>
        </p:txBody>
      </p:sp>
      <p:sp>
        <p:nvSpPr>
          <p:cNvPr id="13" name="TextBox 12"/>
          <p:cNvSpPr txBox="1"/>
          <p:nvPr/>
        </p:nvSpPr>
        <p:spPr>
          <a:xfrm>
            <a:off x="762000" y="5359400"/>
            <a:ext cx="17780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6B7771"/>
                </a:solidFill>
                <a:latin typeface="Avenir Next"/>
              </a:rPr>
              <a:t>ngắt và nhấn</a:t>
            </a:r>
          </a:p>
        </p:txBody>
      </p:sp>
      <p:sp>
        <p:nvSpPr>
          <p:cNvPr id="14" name="Oval 13"/>
          <p:cNvSpPr/>
          <p:nvPr/>
        </p:nvSpPr>
        <p:spPr>
          <a:xfrm>
            <a:off x="4470400" y="4038600"/>
            <a:ext cx="1168400" cy="1168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4292600"/>
            <a:ext cx="9652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Voice</a:t>
            </a:r>
          </a:p>
        </p:txBody>
      </p:sp>
      <p:sp>
        <p:nvSpPr>
          <p:cNvPr id="16" name="TextBox 15"/>
          <p:cNvSpPr txBox="1"/>
          <p:nvPr/>
        </p:nvSpPr>
        <p:spPr>
          <a:xfrm>
            <a:off x="4165600" y="5359400"/>
            <a:ext cx="17780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6B7771"/>
                </a:solidFill>
                <a:latin typeface="Avenir Next"/>
              </a:rPr>
              <a:t>nhiều lựa chọn</a:t>
            </a:r>
          </a:p>
        </p:txBody>
      </p:sp>
      <p:sp>
        <p:nvSpPr>
          <p:cNvPr id="17" name="Oval 16"/>
          <p:cNvSpPr/>
          <p:nvPr/>
        </p:nvSpPr>
        <p:spPr>
          <a:xfrm>
            <a:off x="7874000" y="4038600"/>
            <a:ext cx="1168400" cy="1168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75600" y="4292600"/>
            <a:ext cx="9652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Setup</a:t>
            </a:r>
          </a:p>
        </p:txBody>
      </p:sp>
      <p:sp>
        <p:nvSpPr>
          <p:cNvPr id="19" name="TextBox 18"/>
          <p:cNvSpPr txBox="1"/>
          <p:nvPr/>
        </p:nvSpPr>
        <p:spPr>
          <a:xfrm>
            <a:off x="7569200" y="5359400"/>
            <a:ext cx="17780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6B7771"/>
                </a:solidFill>
                <a:latin typeface="Avenir Next"/>
              </a:rPr>
              <a:t>không cần GPU</a:t>
            </a:r>
          </a:p>
        </p:txBody>
      </p:sp>
      <p:sp>
        <p:nvSpPr>
          <p:cNvPr id="20" name="TextBox 19"/>
          <p:cNvSpPr txBox="1"/>
          <p:nvPr/>
        </p:nvSpPr>
        <p:spPr>
          <a:xfrm>
            <a:off x="1016000" y="6045200"/>
            <a:ext cx="1016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F28B7D"/>
                </a:solidFill>
                <a:latin typeface="Avenir Next"/>
              </a:rPr>
              <a:t>Đổi lại: internet, privacy, phụ thuộc service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07 / MULTI-VOICE</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23</a:t>
            </a:r>
          </a:p>
        </p:txBody>
      </p:sp>
      <p:sp>
        <p:nvSpPr>
          <p:cNvPr id="5" name="TextBox 4"/>
          <p:cNvSpPr txBox="1"/>
          <p:nvPr/>
        </p:nvSpPr>
        <p:spPr>
          <a:xfrm>
            <a:off x="685800" y="584200"/>
            <a:ext cx="10414000" cy="477054"/>
          </a:xfrm>
          <a:prstGeom prst="rect">
            <a:avLst/>
          </a:prstGeom>
          <a:noFill/>
        </p:spPr>
        <p:txBody>
          <a:bodyPr wrap="square" lIns="0" tIns="0" rIns="0" bIns="0" anchor="t">
            <a:spAutoFit/>
          </a:bodyPr>
          <a:lstStyle/>
          <a:p>
            <a:pPr algn="l">
              <a:lnSpc>
                <a:spcPct val="100000"/>
              </a:lnSpc>
              <a:spcBef>
                <a:spcPts val="0"/>
              </a:spcBef>
              <a:spcAft>
                <a:spcPts val="0"/>
              </a:spcAft>
            </a:pPr>
            <a:r>
              <a:rPr lang="en-US" sz="3100" b="1">
                <a:solidFill>
                  <a:srgbClr val="18231E"/>
                </a:solidFill>
                <a:latin typeface="Avenir Next"/>
              </a:rPr>
              <a:t>Per-speaker voice là luồng mặc định</a:t>
            </a:r>
            <a:endParaRPr sz="3100" b="1">
              <a:solidFill>
                <a:srgbClr val="18231E"/>
              </a:solidFill>
              <a:latin typeface="Avenir Next"/>
            </a:endParaRPr>
          </a:p>
        </p:txBody>
      </p:sp>
      <p:sp>
        <p:nvSpPr>
          <p:cNvPr id="6" name="TextBox 5"/>
          <p:cNvSpPr txBox="1"/>
          <p:nvPr/>
        </p:nvSpPr>
        <p:spPr>
          <a:xfrm>
            <a:off x="685800" y="1168400"/>
            <a:ext cx="10414000" cy="246221"/>
          </a:xfrm>
          <a:prstGeom prst="rect">
            <a:avLst/>
          </a:prstGeom>
          <a:noFill/>
        </p:spPr>
        <p:txBody>
          <a:bodyPr wrap="square" lIns="0" tIns="0" rIns="0" bIns="0" anchor="t">
            <a:spAutoFit/>
          </a:bodyPr>
          <a:lstStyle/>
          <a:p>
            <a:pPr algn="l">
              <a:lnSpc>
                <a:spcPct val="100000"/>
              </a:lnSpc>
              <a:spcBef>
                <a:spcPts val="0"/>
              </a:spcBef>
              <a:spcAft>
                <a:spcPts val="0"/>
              </a:spcAft>
            </a:pPr>
            <a:r>
              <a:rPr lang="en-US" sz="1600" b="0">
                <a:solidFill>
                  <a:srgbClr val="6B7771"/>
                </a:solidFill>
                <a:latin typeface="Avenir Next"/>
              </a:rPr>
              <a:t>Mọi job đều chạy diarization, không cần cấu hình đặc biệt</a:t>
            </a:r>
            <a:endParaRPr sz="1600" b="0">
              <a:solidFill>
                <a:srgbClr val="6B7771"/>
              </a:solidFill>
              <a:latin typeface="Avenir Next"/>
            </a:endParaRP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1981200"/>
            <a:ext cx="3378200" cy="381000"/>
          </a:xfrm>
          <a:prstGeom prst="roundRect">
            <a:avLst/>
          </a:prstGeom>
          <a:solidFill>
            <a:srgbClr val="F28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400" y="2079367"/>
            <a:ext cx="3175000" cy="184666"/>
          </a:xfrm>
          <a:prstGeom prst="rect">
            <a:avLst/>
          </a:prstGeom>
          <a:noFill/>
        </p:spPr>
        <p:txBody>
          <a:bodyPr wrap="square" lIns="0" tIns="0" rIns="0" bIns="0" anchor="ctr">
            <a:spAutoFit/>
          </a:bodyPr>
          <a:lstStyle/>
          <a:p>
            <a:pPr algn="ctr">
              <a:lnSpc>
                <a:spcPct val="100000"/>
              </a:lnSpc>
              <a:spcBef>
                <a:spcPts val="0"/>
              </a:spcBef>
              <a:spcAft>
                <a:spcPts val="0"/>
              </a:spcAft>
            </a:pPr>
            <a:r>
              <a:rPr lang="en-US" sz="1200" b="1">
                <a:solidFill>
                  <a:srgbClr val="18231E"/>
                </a:solidFill>
                <a:latin typeface="Avenir Next"/>
              </a:rPr>
              <a:t>STANDARD PIPELINE</a:t>
            </a:r>
            <a:endParaRPr sz="1200" b="1">
              <a:solidFill>
                <a:srgbClr val="18231E"/>
              </a:solidFill>
              <a:latin typeface="Avenir Next"/>
            </a:endParaRPr>
          </a:p>
        </p:txBody>
      </p:sp>
      <p:sp>
        <p:nvSpPr>
          <p:cNvPr id="10" name="Rounded Rectangle 9"/>
          <p:cNvSpPr/>
          <p:nvPr/>
        </p:nvSpPr>
        <p:spPr>
          <a:xfrm>
            <a:off x="685800" y="2997200"/>
            <a:ext cx="20828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2800" y="3098800"/>
            <a:ext cx="1828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Diarize</a:t>
            </a:r>
          </a:p>
        </p:txBody>
      </p:sp>
      <p:sp>
        <p:nvSpPr>
          <p:cNvPr id="12" name="TextBox 11"/>
          <p:cNvSpPr txBox="1"/>
          <p:nvPr/>
        </p:nvSpPr>
        <p:spPr>
          <a:xfrm>
            <a:off x="812800" y="3441700"/>
            <a:ext cx="1828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speaker labels</a:t>
            </a:r>
          </a:p>
        </p:txBody>
      </p:sp>
      <p:cxnSp>
        <p:nvCxnSpPr>
          <p:cNvPr id="13" name="Connector 12"/>
          <p:cNvCxnSpPr/>
          <p:nvPr/>
        </p:nvCxnSpPr>
        <p:spPr>
          <a:xfrm>
            <a:off x="2768600" y="3403600"/>
            <a:ext cx="5080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76600" y="2997200"/>
            <a:ext cx="20828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03600" y="3098800"/>
            <a:ext cx="1828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Assign</a:t>
            </a:r>
          </a:p>
        </p:txBody>
      </p:sp>
      <p:sp>
        <p:nvSpPr>
          <p:cNvPr id="16" name="TextBox 15"/>
          <p:cNvSpPr txBox="1"/>
          <p:nvPr/>
        </p:nvSpPr>
        <p:spPr>
          <a:xfrm>
            <a:off x="3403600" y="3441700"/>
            <a:ext cx="1828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max overlap</a:t>
            </a:r>
          </a:p>
        </p:txBody>
      </p:sp>
      <p:cxnSp>
        <p:nvCxnSpPr>
          <p:cNvPr id="17" name="Connector 16"/>
          <p:cNvCxnSpPr/>
          <p:nvPr/>
        </p:nvCxnSpPr>
        <p:spPr>
          <a:xfrm>
            <a:off x="5359400" y="3403600"/>
            <a:ext cx="5080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67400" y="2997200"/>
            <a:ext cx="20828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94400" y="3098800"/>
            <a:ext cx="1828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Voice map</a:t>
            </a:r>
          </a:p>
        </p:txBody>
      </p:sp>
      <p:sp>
        <p:nvSpPr>
          <p:cNvPr id="20" name="TextBox 19"/>
          <p:cNvSpPr txBox="1"/>
          <p:nvPr/>
        </p:nvSpPr>
        <p:spPr>
          <a:xfrm>
            <a:off x="5994400" y="3441700"/>
            <a:ext cx="1828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stable per speaker</a:t>
            </a:r>
          </a:p>
        </p:txBody>
      </p:sp>
      <p:cxnSp>
        <p:nvCxnSpPr>
          <p:cNvPr id="21" name="Connector 20"/>
          <p:cNvCxnSpPr/>
          <p:nvPr/>
        </p:nvCxnSpPr>
        <p:spPr>
          <a:xfrm>
            <a:off x="7950200" y="3403600"/>
            <a:ext cx="5080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458200" y="2997200"/>
            <a:ext cx="2082800" cy="812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85200" y="3098800"/>
            <a:ext cx="1828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Edge TTS</a:t>
            </a:r>
          </a:p>
        </p:txBody>
      </p:sp>
      <p:sp>
        <p:nvSpPr>
          <p:cNvPr id="24" name="TextBox 23"/>
          <p:cNvSpPr txBox="1"/>
          <p:nvPr/>
        </p:nvSpPr>
        <p:spPr>
          <a:xfrm>
            <a:off x="8585200" y="3441700"/>
            <a:ext cx="1828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per segment</a:t>
            </a:r>
          </a:p>
        </p:txBody>
      </p:sp>
      <p:sp>
        <p:nvSpPr>
          <p:cNvPr id="25" name="Rounded Rectangle 24"/>
          <p:cNvSpPr/>
          <p:nvPr/>
        </p:nvSpPr>
        <p:spPr>
          <a:xfrm>
            <a:off x="3784600" y="4648200"/>
            <a:ext cx="4622800" cy="11684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40200" y="4851400"/>
            <a:ext cx="3911600" cy="7366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SPEAKER_00: vi-VN-HoaiMy</a:t>
            </a:r>
            <a:br/>
            <a:r>
              <a:rPr sz="1700" b="1">
                <a:solidFill>
                  <a:srgbClr val="18231E"/>
                </a:solidFill>
                <a:latin typeface="Avenir Next"/>
              </a:rPr>
              <a:t>SPEAKER_01: vi-VN-NamMinh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08 / ĐỒNG BỘ</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24</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Căn thời lượng theo cửa sổ</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Mỗi câu phải vừa trước khi câu kế tiếp bắt đầu</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12800" y="2667000"/>
            <a:ext cx="10464800" cy="0"/>
          </a:xfrm>
          <a:prstGeom prst="line">
            <a:avLst/>
          </a:prstGeom>
          <a:ln w="25400">
            <a:solidFill>
              <a:srgbClr val="CBD0C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2800" y="2514600"/>
            <a:ext cx="0" cy="304800"/>
          </a:xfrm>
          <a:prstGeom prst="line">
            <a:avLst/>
          </a:prstGeom>
          <a:ln w="19050">
            <a:solidFill>
              <a:srgbClr val="18231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35400" y="2514600"/>
            <a:ext cx="0" cy="304800"/>
          </a:xfrm>
          <a:prstGeom prst="line">
            <a:avLst/>
          </a:prstGeom>
          <a:ln w="19050">
            <a:solidFill>
              <a:srgbClr val="18231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88200" y="2514600"/>
            <a:ext cx="0" cy="304800"/>
          </a:xfrm>
          <a:prstGeom prst="line">
            <a:avLst/>
          </a:prstGeom>
          <a:ln w="19050">
            <a:solidFill>
              <a:srgbClr val="18231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277600" y="2514600"/>
            <a:ext cx="0" cy="304800"/>
          </a:xfrm>
          <a:prstGeom prst="line">
            <a:avLst/>
          </a:prstGeom>
          <a:ln w="19050">
            <a:solidFill>
              <a:srgbClr val="18231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2800" y="3048000"/>
            <a:ext cx="3022600" cy="5842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835400" y="3048000"/>
            <a:ext cx="3352800" cy="5842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188200" y="3048000"/>
            <a:ext cx="4089400" cy="584200"/>
          </a:xfrm>
          <a:prstGeom prst="roundRect">
            <a:avLst/>
          </a:prstGeom>
          <a:solidFill>
            <a:srgbClr val="FFFEFA"/>
          </a:solidFill>
          <a:ln w="1905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98600" y="3200400"/>
            <a:ext cx="16510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window 1</a:t>
            </a:r>
          </a:p>
        </p:txBody>
      </p:sp>
      <p:sp>
        <p:nvSpPr>
          <p:cNvPr id="17" name="TextBox 16"/>
          <p:cNvSpPr txBox="1"/>
          <p:nvPr/>
        </p:nvSpPr>
        <p:spPr>
          <a:xfrm>
            <a:off x="4699000" y="3200400"/>
            <a:ext cx="16510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window 2</a:t>
            </a:r>
          </a:p>
        </p:txBody>
      </p:sp>
      <p:sp>
        <p:nvSpPr>
          <p:cNvPr id="18" name="TextBox 17"/>
          <p:cNvSpPr txBox="1"/>
          <p:nvPr/>
        </p:nvSpPr>
        <p:spPr>
          <a:xfrm>
            <a:off x="8382000" y="3200400"/>
            <a:ext cx="16510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window 3</a:t>
            </a:r>
          </a:p>
        </p:txBody>
      </p:sp>
      <p:sp>
        <p:nvSpPr>
          <p:cNvPr id="19" name="Rounded Rectangle 18"/>
          <p:cNvSpPr/>
          <p:nvPr/>
        </p:nvSpPr>
        <p:spPr>
          <a:xfrm>
            <a:off x="3835400" y="4038600"/>
            <a:ext cx="4394200" cy="457200"/>
          </a:xfrm>
          <a:prstGeom prst="roundRect">
            <a:avLst/>
          </a:prstGeom>
          <a:solidFill>
            <a:srgbClr val="F28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76800" y="4140200"/>
            <a:ext cx="2311400" cy="2540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TTS raw dài hơn window</a:t>
            </a:r>
          </a:p>
        </p:txBody>
      </p:sp>
      <p:sp>
        <p:nvSpPr>
          <p:cNvPr id="21" name="TextBox 20"/>
          <p:cNvSpPr txBox="1"/>
          <p:nvPr/>
        </p:nvSpPr>
        <p:spPr>
          <a:xfrm>
            <a:off x="1117600" y="4800600"/>
            <a:ext cx="3352800" cy="558800"/>
          </a:xfrm>
          <a:prstGeom prst="rect">
            <a:avLst/>
          </a:prstGeom>
          <a:noFill/>
        </p:spPr>
        <p:txBody>
          <a:bodyPr wrap="square" lIns="0" tIns="0" rIns="0" bIns="0" anchor="t">
            <a:spAutoFit/>
          </a:bodyPr>
          <a:lstStyle/>
          <a:p>
            <a:pPr algn="ctr">
              <a:lnSpc>
                <a:spcPct val="100000"/>
              </a:lnSpc>
              <a:spcBef>
                <a:spcPts val="0"/>
              </a:spcBef>
              <a:spcAft>
                <a:spcPts val="0"/>
              </a:spcAft>
            </a:pPr>
            <a:r>
              <a:rPr sz="2800" b="1">
                <a:solidFill>
                  <a:srgbClr val="18231E"/>
                </a:solidFill>
                <a:latin typeface="Avenir Next"/>
              </a:rPr>
              <a:t>r = Ttts / Twindow</a:t>
            </a:r>
          </a:p>
        </p:txBody>
      </p:sp>
      <p:sp>
        <p:nvSpPr>
          <p:cNvPr id="22" name="Rounded Rectangle 21"/>
          <p:cNvSpPr/>
          <p:nvPr/>
        </p:nvSpPr>
        <p:spPr>
          <a:xfrm>
            <a:off x="5105400" y="4851400"/>
            <a:ext cx="2667000" cy="381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07000" y="4876800"/>
            <a:ext cx="24638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FFFFFF"/>
                </a:solidFill>
                <a:latin typeface="Avenir Next"/>
              </a:rPr>
              <a:t>0.75 ≤ speed ≤ 1.35</a:t>
            </a:r>
          </a:p>
        </p:txBody>
      </p:sp>
      <p:sp>
        <p:nvSpPr>
          <p:cNvPr id="24" name="Rounded Rectangle 23"/>
          <p:cNvSpPr/>
          <p:nvPr/>
        </p:nvSpPr>
        <p:spPr>
          <a:xfrm>
            <a:off x="8102600" y="4851400"/>
            <a:ext cx="2336800" cy="381000"/>
          </a:xfrm>
          <a:prstGeom prst="round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04200" y="4876800"/>
            <a:ext cx="21336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overflow: clamped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08 / ÂM THANH</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25</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Source separation giữ lại nền</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HTDemucs tách vocals khỏi accompaniment</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794000"/>
            <a:ext cx="20320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895600"/>
            <a:ext cx="1778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Original mix</a:t>
            </a:r>
          </a:p>
        </p:txBody>
      </p:sp>
      <p:sp>
        <p:nvSpPr>
          <p:cNvPr id="10" name="TextBox 9"/>
          <p:cNvSpPr txBox="1"/>
          <p:nvPr/>
        </p:nvSpPr>
        <p:spPr>
          <a:xfrm>
            <a:off x="812800" y="3238500"/>
            <a:ext cx="1778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speech + music</a:t>
            </a:r>
          </a:p>
        </p:txBody>
      </p:sp>
      <p:sp>
        <p:nvSpPr>
          <p:cNvPr id="11" name="Rounded Rectangle 10"/>
          <p:cNvSpPr/>
          <p:nvPr/>
        </p:nvSpPr>
        <p:spPr>
          <a:xfrm>
            <a:off x="3632200" y="2260600"/>
            <a:ext cx="3073400" cy="1828800"/>
          </a:xfrm>
          <a:prstGeom prst="roundRect">
            <a:avLst/>
          </a:prstGeom>
          <a:solidFill>
            <a:srgbClr val="A8E6D2"/>
          </a:solidFill>
          <a:ln w="2540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3200" y="2514600"/>
            <a:ext cx="2311400" cy="3556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HTDEMUCS</a:t>
            </a:r>
          </a:p>
        </p:txBody>
      </p:sp>
      <p:sp>
        <p:nvSpPr>
          <p:cNvPr id="13" name="Rounded Rectangle 12"/>
          <p:cNvSpPr/>
          <p:nvPr/>
        </p:nvSpPr>
        <p:spPr>
          <a:xfrm>
            <a:off x="4241800" y="3200400"/>
            <a:ext cx="1854200" cy="381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400" y="3225800"/>
            <a:ext cx="1651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FFFFFF"/>
                </a:solidFill>
                <a:latin typeface="Avenir Next"/>
              </a:rPr>
              <a:t>hybrid domain</a:t>
            </a:r>
          </a:p>
        </p:txBody>
      </p:sp>
      <p:cxnSp>
        <p:nvCxnSpPr>
          <p:cNvPr id="15" name="Connector 14"/>
          <p:cNvCxnSpPr/>
          <p:nvPr/>
        </p:nvCxnSpPr>
        <p:spPr>
          <a:xfrm>
            <a:off x="2717800" y="3200400"/>
            <a:ext cx="9144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705600" y="2413000"/>
            <a:ext cx="1498600" cy="43180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705600" y="3530600"/>
            <a:ext cx="1498600" cy="68580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204200" y="1955800"/>
            <a:ext cx="3302000" cy="1320800"/>
          </a:xfrm>
          <a:prstGeom prst="roundRect">
            <a:avLst/>
          </a:prstGeom>
          <a:solidFill>
            <a:srgbClr val="F28B7D"/>
          </a:solidFill>
          <a:ln w="15240">
            <a:solidFill>
              <a:srgbClr val="F28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32800" y="2184400"/>
            <a:ext cx="2844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18231E"/>
                </a:solidFill>
                <a:latin typeface="Avenir Next"/>
              </a:rPr>
              <a:t>VOCALS</a:t>
            </a:r>
          </a:p>
        </p:txBody>
      </p:sp>
      <p:sp>
        <p:nvSpPr>
          <p:cNvPr id="20" name="TextBox 19"/>
          <p:cNvSpPr txBox="1"/>
          <p:nvPr/>
        </p:nvSpPr>
        <p:spPr>
          <a:xfrm>
            <a:off x="8432800" y="2654300"/>
            <a:ext cx="2844800" cy="508000"/>
          </a:xfrm>
          <a:prstGeom prst="rect">
            <a:avLst/>
          </a:prstGeom>
          <a:noFill/>
        </p:spPr>
        <p:txBody>
          <a:bodyPr wrap="square" lIns="0" tIns="0" rIns="0" bIns="0" anchor="t">
            <a:spAutoFit/>
          </a:bodyPr>
          <a:lstStyle/>
          <a:p>
            <a:pPr algn="ctr">
              <a:lnSpc>
                <a:spcPct val="100000"/>
              </a:lnSpc>
              <a:spcBef>
                <a:spcPts val="0"/>
              </a:spcBef>
              <a:spcAft>
                <a:spcPts val="0"/>
              </a:spcAft>
            </a:pPr>
            <a:r>
              <a:rPr sz="1500" b="0">
                <a:solidFill>
                  <a:srgbClr val="6B7771"/>
                </a:solidFill>
                <a:latin typeface="Avenir Next"/>
              </a:rPr>
              <a:t>bỏ khỏi mix cuối</a:t>
            </a:r>
          </a:p>
        </p:txBody>
      </p:sp>
      <p:sp>
        <p:nvSpPr>
          <p:cNvPr id="21" name="Rounded Rectangle 20"/>
          <p:cNvSpPr/>
          <p:nvPr/>
        </p:nvSpPr>
        <p:spPr>
          <a:xfrm>
            <a:off x="8204200" y="3810000"/>
            <a:ext cx="3302000" cy="1320800"/>
          </a:xfrm>
          <a:prstGeom prst="roundRect">
            <a:avLst/>
          </a:prstGeom>
          <a:solidFill>
            <a:srgbClr val="D8FF58"/>
          </a:solidFill>
          <a:ln w="15240">
            <a:solidFill>
              <a:srgbClr val="D8F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32800" y="4038600"/>
            <a:ext cx="2844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18231E"/>
                </a:solidFill>
                <a:latin typeface="Avenir Next"/>
              </a:rPr>
              <a:t>NO_VOCALS</a:t>
            </a:r>
          </a:p>
        </p:txBody>
      </p:sp>
      <p:sp>
        <p:nvSpPr>
          <p:cNvPr id="23" name="TextBox 22"/>
          <p:cNvSpPr txBox="1"/>
          <p:nvPr/>
        </p:nvSpPr>
        <p:spPr>
          <a:xfrm>
            <a:off x="8432800" y="4508500"/>
            <a:ext cx="2844800" cy="508000"/>
          </a:xfrm>
          <a:prstGeom prst="rect">
            <a:avLst/>
          </a:prstGeom>
          <a:noFill/>
        </p:spPr>
        <p:txBody>
          <a:bodyPr wrap="square" lIns="0" tIns="0" rIns="0" bIns="0" anchor="t">
            <a:spAutoFit/>
          </a:bodyPr>
          <a:lstStyle/>
          <a:p>
            <a:pPr algn="ctr">
              <a:lnSpc>
                <a:spcPct val="100000"/>
              </a:lnSpc>
              <a:spcBef>
                <a:spcPts val="0"/>
              </a:spcBef>
              <a:spcAft>
                <a:spcPts val="0"/>
              </a:spcAft>
            </a:pPr>
            <a:r>
              <a:rPr sz="1500" b="0">
                <a:solidFill>
                  <a:srgbClr val="6B7771"/>
                </a:solidFill>
                <a:latin typeface="Avenir Next"/>
              </a:rPr>
              <a:t>giữ nhạc và ambience</a:t>
            </a:r>
          </a:p>
        </p:txBody>
      </p:sp>
      <p:sp>
        <p:nvSpPr>
          <p:cNvPr id="24" name="Rounded Rectangle 23"/>
          <p:cNvSpPr/>
          <p:nvPr/>
        </p:nvSpPr>
        <p:spPr>
          <a:xfrm>
            <a:off x="5207000" y="5029200"/>
            <a:ext cx="1651000" cy="381000"/>
          </a:xfrm>
          <a:prstGeom prst="round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8600" y="5054600"/>
            <a:ext cx="14478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OPTIONAL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08 / ÂM THANH</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26</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Mix theo timestamp, rồi loudness normalize</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FFmpeg tạo một filter graph deterministic</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62000" y="2235200"/>
            <a:ext cx="1524000" cy="27940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6B7771"/>
                </a:solidFill>
                <a:latin typeface="Avenir Next"/>
              </a:rPr>
              <a:t>background</a:t>
            </a:r>
          </a:p>
        </p:txBody>
      </p:sp>
      <p:sp>
        <p:nvSpPr>
          <p:cNvPr id="9" name="Rounded Rectangle 8"/>
          <p:cNvSpPr/>
          <p:nvPr/>
        </p:nvSpPr>
        <p:spPr>
          <a:xfrm>
            <a:off x="2336800" y="2184400"/>
            <a:ext cx="68580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2000" y="3124200"/>
            <a:ext cx="1524000" cy="27940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6B7771"/>
                </a:solidFill>
                <a:latin typeface="Avenir Next"/>
              </a:rPr>
              <a:t>dub clips</a:t>
            </a:r>
          </a:p>
        </p:txBody>
      </p:sp>
      <p:sp>
        <p:nvSpPr>
          <p:cNvPr id="11" name="Rounded Rectangle 10"/>
          <p:cNvSpPr/>
          <p:nvPr/>
        </p:nvSpPr>
        <p:spPr>
          <a:xfrm>
            <a:off x="2336800" y="3048000"/>
            <a:ext cx="1600200" cy="431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94200" y="3048000"/>
            <a:ext cx="2133600" cy="431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086600" y="3048000"/>
            <a:ext cx="1473200" cy="431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5765800" y="3556000"/>
            <a:ext cx="0" cy="73660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45000" y="4292600"/>
            <a:ext cx="26416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4394200"/>
            <a:ext cx="23876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adelay + amix</a:t>
            </a:r>
          </a:p>
        </p:txBody>
      </p:sp>
      <p:sp>
        <p:nvSpPr>
          <p:cNvPr id="17" name="TextBox 16"/>
          <p:cNvSpPr txBox="1"/>
          <p:nvPr/>
        </p:nvSpPr>
        <p:spPr>
          <a:xfrm>
            <a:off x="4572000" y="4737100"/>
            <a:ext cx="23876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PTS reset, pad, trim</a:t>
            </a:r>
          </a:p>
        </p:txBody>
      </p:sp>
      <p:cxnSp>
        <p:nvCxnSpPr>
          <p:cNvPr id="18" name="Connector 17"/>
          <p:cNvCxnSpPr/>
          <p:nvPr/>
        </p:nvCxnSpPr>
        <p:spPr>
          <a:xfrm>
            <a:off x="7086600" y="4699000"/>
            <a:ext cx="11684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55000" y="4292600"/>
            <a:ext cx="2082800" cy="812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2000" y="4394200"/>
            <a:ext cx="18288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loudnorm</a:t>
            </a:r>
          </a:p>
        </p:txBody>
      </p:sp>
      <p:sp>
        <p:nvSpPr>
          <p:cNvPr id="21" name="TextBox 20"/>
          <p:cNvSpPr txBox="1"/>
          <p:nvPr/>
        </p:nvSpPr>
        <p:spPr>
          <a:xfrm>
            <a:off x="8382000" y="4737100"/>
            <a:ext cx="18288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I -16, TP -1.5</a:t>
            </a:r>
          </a:p>
        </p:txBody>
      </p:sp>
      <p:sp>
        <p:nvSpPr>
          <p:cNvPr id="22" name="Rounded Rectangle 21"/>
          <p:cNvSpPr/>
          <p:nvPr/>
        </p:nvSpPr>
        <p:spPr>
          <a:xfrm>
            <a:off x="2286000" y="5461000"/>
            <a:ext cx="3505200" cy="3810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87600" y="5486400"/>
            <a:ext cx="3302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no separation: bg 0.25, dub 1.5</a:t>
            </a:r>
          </a:p>
        </p:txBody>
      </p:sp>
      <p:sp>
        <p:nvSpPr>
          <p:cNvPr id="24" name="Rounded Rectangle 23"/>
          <p:cNvSpPr/>
          <p:nvPr/>
        </p:nvSpPr>
        <p:spPr>
          <a:xfrm>
            <a:off x="6172200" y="5461000"/>
            <a:ext cx="30226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3800" y="5486400"/>
            <a:ext cx="2819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with separation: 1.0, 1.0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08 / RENDER</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27</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Render ưu tiên không encode lại video</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Copy nhanh trước, fallback H.264 khi container không tương thích</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82800"/>
            <a:ext cx="1981200" cy="5842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171700"/>
            <a:ext cx="1727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Video</a:t>
            </a:r>
          </a:p>
        </p:txBody>
      </p:sp>
      <p:sp>
        <p:nvSpPr>
          <p:cNvPr id="10" name="Rounded Rectangle 9"/>
          <p:cNvSpPr/>
          <p:nvPr/>
        </p:nvSpPr>
        <p:spPr>
          <a:xfrm>
            <a:off x="685800" y="3124200"/>
            <a:ext cx="1981200" cy="5842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2800" y="3213100"/>
            <a:ext cx="1727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Dub audio</a:t>
            </a:r>
          </a:p>
        </p:txBody>
      </p:sp>
      <p:sp>
        <p:nvSpPr>
          <p:cNvPr id="12" name="Rounded Rectangle 11"/>
          <p:cNvSpPr/>
          <p:nvPr/>
        </p:nvSpPr>
        <p:spPr>
          <a:xfrm>
            <a:off x="685800" y="4165600"/>
            <a:ext cx="1981200" cy="584200"/>
          </a:xfrm>
          <a:prstGeom prst="round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2800" y="4254500"/>
            <a:ext cx="17272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SRT</a:t>
            </a:r>
          </a:p>
        </p:txBody>
      </p:sp>
      <p:cxnSp>
        <p:nvCxnSpPr>
          <p:cNvPr id="14" name="Connector 13"/>
          <p:cNvCxnSpPr/>
          <p:nvPr/>
        </p:nvCxnSpPr>
        <p:spPr>
          <a:xfrm>
            <a:off x="2667000" y="2374900"/>
            <a:ext cx="1803400" cy="82550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667000" y="3200400"/>
            <a:ext cx="1803400" cy="21590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667000" y="3200400"/>
            <a:ext cx="1803400" cy="125730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70400" y="2489200"/>
            <a:ext cx="2794000" cy="1447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03800" y="2768600"/>
            <a:ext cx="1727200" cy="381000"/>
          </a:xfrm>
          <a:prstGeom prst="rect">
            <a:avLst/>
          </a:prstGeom>
          <a:noFill/>
        </p:spPr>
        <p:txBody>
          <a:bodyPr wrap="square" lIns="0" tIns="0" rIns="0" bIns="0" anchor="t">
            <a:spAutoFit/>
          </a:bodyPr>
          <a:lstStyle/>
          <a:p>
            <a:pPr algn="ctr">
              <a:lnSpc>
                <a:spcPct val="100000"/>
              </a:lnSpc>
              <a:spcBef>
                <a:spcPts val="0"/>
              </a:spcBef>
              <a:spcAft>
                <a:spcPts val="0"/>
              </a:spcAft>
            </a:pPr>
            <a:r>
              <a:rPr sz="2600" b="1">
                <a:solidFill>
                  <a:srgbClr val="18231E"/>
                </a:solidFill>
                <a:latin typeface="Avenir Next"/>
              </a:rPr>
              <a:t>MUX</a:t>
            </a:r>
          </a:p>
        </p:txBody>
      </p:sp>
      <p:sp>
        <p:nvSpPr>
          <p:cNvPr id="19" name="TextBox 18"/>
          <p:cNvSpPr txBox="1"/>
          <p:nvPr/>
        </p:nvSpPr>
        <p:spPr>
          <a:xfrm>
            <a:off x="4800600" y="3352800"/>
            <a:ext cx="21336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AAC 192k, mov_text</a:t>
            </a:r>
          </a:p>
        </p:txBody>
      </p:sp>
      <p:cxnSp>
        <p:nvCxnSpPr>
          <p:cNvPr id="20" name="Connector 19"/>
          <p:cNvCxnSpPr/>
          <p:nvPr/>
        </p:nvCxnSpPr>
        <p:spPr>
          <a:xfrm>
            <a:off x="7264400" y="3200400"/>
            <a:ext cx="10414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305800" y="2794000"/>
            <a:ext cx="14986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32800" y="2895600"/>
            <a:ext cx="12446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MP4</a:t>
            </a:r>
          </a:p>
        </p:txBody>
      </p:sp>
      <p:sp>
        <p:nvSpPr>
          <p:cNvPr id="23" name="TextBox 22"/>
          <p:cNvSpPr txBox="1"/>
          <p:nvPr/>
        </p:nvSpPr>
        <p:spPr>
          <a:xfrm>
            <a:off x="8432800" y="3238500"/>
            <a:ext cx="12446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+faststart</a:t>
            </a:r>
          </a:p>
        </p:txBody>
      </p:sp>
      <p:cxnSp>
        <p:nvCxnSpPr>
          <p:cNvPr id="24" name="Connector 23"/>
          <p:cNvCxnSpPr/>
          <p:nvPr/>
        </p:nvCxnSpPr>
        <p:spPr>
          <a:xfrm>
            <a:off x="9067800" y="3606800"/>
            <a:ext cx="0" cy="1016000"/>
          </a:xfrm>
          <a:prstGeom prst="line">
            <a:avLst/>
          </a:prstGeom>
          <a:ln w="25400">
            <a:solidFill>
              <a:srgbClr val="F28B7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620000" y="4622800"/>
            <a:ext cx="2895600" cy="1092200"/>
          </a:xfrm>
          <a:prstGeom prst="roundRect">
            <a:avLst/>
          </a:prstGeom>
          <a:solidFill>
            <a:srgbClr val="FFFEFA"/>
          </a:solidFill>
          <a:ln w="19050">
            <a:solidFill>
              <a:srgbClr val="F28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48600" y="4851400"/>
            <a:ext cx="24384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18231E"/>
                </a:solidFill>
                <a:latin typeface="Avenir Next"/>
              </a:rPr>
              <a:t>Fallback</a:t>
            </a:r>
          </a:p>
        </p:txBody>
      </p:sp>
      <p:sp>
        <p:nvSpPr>
          <p:cNvPr id="27" name="TextBox 26"/>
          <p:cNvSpPr txBox="1"/>
          <p:nvPr/>
        </p:nvSpPr>
        <p:spPr>
          <a:xfrm>
            <a:off x="7848600" y="5321300"/>
            <a:ext cx="24384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libx264, CRF 22, preset fast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A8E6D2"/>
                </a:solidFill>
                <a:latin typeface="Avenir Next"/>
              </a:rPr>
              <a:t>09 / ORCHESTRATION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A8E6D2"/>
                </a:solidFill>
                <a:latin typeface="Avenir Next"/>
              </a:rPr>
              <a:t>28</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FFFFFF"/>
                </a:solidFill>
                <a:latin typeface="Avenir Next"/>
              </a:rPr>
              <a:t>n8n là pipeline runner duy nhất</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A8E6D2"/>
                </a:solidFill>
                <a:latin typeface="Avenir Next"/>
              </a:rPr>
              <a:t>Một nơi quyết định thứ tự, retry và nhánh kết quả</a:t>
            </a:r>
          </a:p>
        </p:txBody>
      </p:sp>
      <p:cxnSp>
        <p:nvCxnSpPr>
          <p:cNvPr id="7" name="Connector 6"/>
          <p:cNvCxnSpPr/>
          <p:nvPr/>
        </p:nvCxnSpPr>
        <p:spPr>
          <a:xfrm>
            <a:off x="685800" y="1625600"/>
            <a:ext cx="10820400" cy="0"/>
          </a:xfrm>
          <a:prstGeom prst="line">
            <a:avLst/>
          </a:prstGeom>
          <a:ln w="15240">
            <a:solidFill>
              <a:srgbClr val="2D756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260600"/>
            <a:ext cx="1473200" cy="660400"/>
          </a:xfrm>
          <a:prstGeom prst="roundRect">
            <a:avLst/>
          </a:prstGeom>
          <a:solidFill>
            <a:srgbClr val="D8FF58"/>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400" y="24384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Form</a:t>
            </a:r>
          </a:p>
        </p:txBody>
      </p:sp>
      <p:cxnSp>
        <p:nvCxnSpPr>
          <p:cNvPr id="10" name="Connector 9"/>
          <p:cNvCxnSpPr/>
          <p:nvPr/>
        </p:nvCxnSpPr>
        <p:spPr>
          <a:xfrm>
            <a:off x="2159000" y="2590800"/>
            <a:ext cx="3683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27300" y="22606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28900" y="24384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Extract</a:t>
            </a:r>
          </a:p>
        </p:txBody>
      </p:sp>
      <p:cxnSp>
        <p:nvCxnSpPr>
          <p:cNvPr id="13" name="Connector 12"/>
          <p:cNvCxnSpPr/>
          <p:nvPr/>
        </p:nvCxnSpPr>
        <p:spPr>
          <a:xfrm>
            <a:off x="4000500" y="2590800"/>
            <a:ext cx="3683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68800" y="22606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70400" y="24384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Diarize</a:t>
            </a:r>
          </a:p>
        </p:txBody>
      </p:sp>
      <p:cxnSp>
        <p:nvCxnSpPr>
          <p:cNvPr id="16" name="Connector 15"/>
          <p:cNvCxnSpPr/>
          <p:nvPr/>
        </p:nvCxnSpPr>
        <p:spPr>
          <a:xfrm>
            <a:off x="5842000" y="2590800"/>
            <a:ext cx="3683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0300" y="22606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11900" y="24384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ASR</a:t>
            </a:r>
          </a:p>
        </p:txBody>
      </p:sp>
      <p:cxnSp>
        <p:nvCxnSpPr>
          <p:cNvPr id="19" name="Connector 18"/>
          <p:cNvCxnSpPr/>
          <p:nvPr/>
        </p:nvCxnSpPr>
        <p:spPr>
          <a:xfrm>
            <a:off x="7683500" y="2590800"/>
            <a:ext cx="3683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51800" y="22606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53400" y="24384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Merge</a:t>
            </a:r>
          </a:p>
        </p:txBody>
      </p:sp>
      <p:cxnSp>
        <p:nvCxnSpPr>
          <p:cNvPr id="22" name="Connector 21"/>
          <p:cNvCxnSpPr/>
          <p:nvPr/>
        </p:nvCxnSpPr>
        <p:spPr>
          <a:xfrm>
            <a:off x="9525000" y="2590800"/>
            <a:ext cx="3683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893300" y="22606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94900" y="24384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Translate</a:t>
            </a:r>
          </a:p>
        </p:txBody>
      </p:sp>
      <p:sp>
        <p:nvSpPr>
          <p:cNvPr id="25" name="Rounded Rectangle 24"/>
          <p:cNvSpPr/>
          <p:nvPr/>
        </p:nvSpPr>
        <p:spPr>
          <a:xfrm>
            <a:off x="685800" y="42164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7400" y="43942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TTS</a:t>
            </a:r>
          </a:p>
        </p:txBody>
      </p:sp>
      <p:cxnSp>
        <p:nvCxnSpPr>
          <p:cNvPr id="27" name="Connector 26"/>
          <p:cNvCxnSpPr/>
          <p:nvPr/>
        </p:nvCxnSpPr>
        <p:spPr>
          <a:xfrm>
            <a:off x="2159000" y="4546600"/>
            <a:ext cx="7366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895600" y="42164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97200" y="43942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Align</a:t>
            </a:r>
          </a:p>
        </p:txBody>
      </p:sp>
      <p:cxnSp>
        <p:nvCxnSpPr>
          <p:cNvPr id="30" name="Connector 29"/>
          <p:cNvCxnSpPr/>
          <p:nvPr/>
        </p:nvCxnSpPr>
        <p:spPr>
          <a:xfrm>
            <a:off x="4368800" y="4546600"/>
            <a:ext cx="7366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105400" y="42164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207000" y="43942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Separate</a:t>
            </a:r>
          </a:p>
        </p:txBody>
      </p:sp>
      <p:cxnSp>
        <p:nvCxnSpPr>
          <p:cNvPr id="33" name="Connector 32"/>
          <p:cNvCxnSpPr/>
          <p:nvPr/>
        </p:nvCxnSpPr>
        <p:spPr>
          <a:xfrm>
            <a:off x="6578600" y="4546600"/>
            <a:ext cx="7366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315200" y="4216400"/>
            <a:ext cx="1473200" cy="660400"/>
          </a:xfrm>
          <a:prstGeom prst="roundRect">
            <a:avLst/>
          </a:prstGeom>
          <a:solidFill>
            <a:srgbClr val="1D332B"/>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16800" y="43942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FFFFFF"/>
                </a:solidFill>
                <a:latin typeface="Avenir Next"/>
              </a:rPr>
              <a:t>Mix</a:t>
            </a:r>
          </a:p>
        </p:txBody>
      </p:sp>
      <p:cxnSp>
        <p:nvCxnSpPr>
          <p:cNvPr id="36" name="Connector 35"/>
          <p:cNvCxnSpPr/>
          <p:nvPr/>
        </p:nvCxnSpPr>
        <p:spPr>
          <a:xfrm>
            <a:off x="8788400" y="4546600"/>
            <a:ext cx="736600" cy="0"/>
          </a:xfrm>
          <a:prstGeom prst="line">
            <a:avLst/>
          </a:prstGeom>
          <a:ln w="22860">
            <a:solidFill>
              <a:srgbClr val="A8E6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525000" y="4216400"/>
            <a:ext cx="1473200" cy="660400"/>
          </a:xfrm>
          <a:prstGeom prst="roundRect">
            <a:avLst/>
          </a:prstGeom>
          <a:solidFill>
            <a:srgbClr val="D8FF58"/>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26600" y="4394200"/>
            <a:ext cx="1270000" cy="3048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Render</a:t>
            </a:r>
          </a:p>
        </p:txBody>
      </p:sp>
      <p:sp>
        <p:nvSpPr>
          <p:cNvPr id="39" name="Rounded Rectangle 38"/>
          <p:cNvSpPr/>
          <p:nvPr/>
        </p:nvSpPr>
        <p:spPr>
          <a:xfrm>
            <a:off x="3556000" y="5816600"/>
            <a:ext cx="21590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0" y="5842000"/>
            <a:ext cx="19558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execution history</a:t>
            </a:r>
          </a:p>
        </p:txBody>
      </p:sp>
      <p:sp>
        <p:nvSpPr>
          <p:cNvPr id="41" name="Rounded Rectangle 40"/>
          <p:cNvSpPr/>
          <p:nvPr/>
        </p:nvSpPr>
        <p:spPr>
          <a:xfrm>
            <a:off x="5943600" y="5816600"/>
            <a:ext cx="1879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45200" y="5842000"/>
            <a:ext cx="1676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visual debug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09 / GATEWAY</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29</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FastAPI gateway giữ sự thật của job</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Không inference model trực tiếp trong process này</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Hexagon 7"/>
          <p:cNvSpPr/>
          <p:nvPr/>
        </p:nvSpPr>
        <p:spPr>
          <a:xfrm>
            <a:off x="4292600" y="2260600"/>
            <a:ext cx="3606800" cy="2209800"/>
          </a:xfrm>
          <a:prstGeom prst="hexagon">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78400" y="2794000"/>
            <a:ext cx="2235200" cy="990600"/>
          </a:xfrm>
          <a:prstGeom prst="rect">
            <a:avLst/>
          </a:prstGeom>
          <a:noFill/>
        </p:spPr>
        <p:txBody>
          <a:bodyPr wrap="square" lIns="0" tIns="0" rIns="0" bIns="0" anchor="ctr">
            <a:spAutoFit/>
          </a:bodyPr>
          <a:lstStyle/>
          <a:p>
            <a:pPr algn="ctr">
              <a:lnSpc>
                <a:spcPct val="100000"/>
              </a:lnSpc>
              <a:spcBef>
                <a:spcPts val="0"/>
              </a:spcBef>
              <a:spcAft>
                <a:spcPts val="0"/>
              </a:spcAft>
            </a:pPr>
            <a:r>
              <a:rPr sz="2700" b="1">
                <a:solidFill>
                  <a:srgbClr val="FFFFFF"/>
                </a:solidFill>
                <a:latin typeface="Avenir Next"/>
              </a:rPr>
              <a:t>FASTAPI</a:t>
            </a:r>
            <a:br/>
            <a:r>
              <a:rPr sz="2700" b="1">
                <a:solidFill>
                  <a:srgbClr val="FFFFFF"/>
                </a:solidFill>
                <a:latin typeface="Avenir Next"/>
              </a:rPr>
              <a:t>GATEWAY</a:t>
            </a:r>
          </a:p>
        </p:txBody>
      </p:sp>
      <p:sp>
        <p:nvSpPr>
          <p:cNvPr id="10" name="Rounded Rectangle 9"/>
          <p:cNvSpPr/>
          <p:nvPr/>
        </p:nvSpPr>
        <p:spPr>
          <a:xfrm>
            <a:off x="685800" y="2108200"/>
            <a:ext cx="2540000" cy="1219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336800"/>
            <a:ext cx="2082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18231E"/>
                </a:solidFill>
                <a:latin typeface="Avenir Next"/>
              </a:rPr>
              <a:t>Upload</a:t>
            </a:r>
          </a:p>
        </p:txBody>
      </p:sp>
      <p:sp>
        <p:nvSpPr>
          <p:cNvPr id="12" name="TextBox 11"/>
          <p:cNvSpPr txBox="1"/>
          <p:nvPr/>
        </p:nvSpPr>
        <p:spPr>
          <a:xfrm>
            <a:off x="914400" y="2806700"/>
            <a:ext cx="2082800" cy="4064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validate media</a:t>
            </a:r>
          </a:p>
        </p:txBody>
      </p:sp>
      <p:cxnSp>
        <p:nvCxnSpPr>
          <p:cNvPr id="13" name="Connector 12"/>
          <p:cNvCxnSpPr/>
          <p:nvPr/>
        </p:nvCxnSpPr>
        <p:spPr>
          <a:xfrm>
            <a:off x="3225800" y="2717800"/>
            <a:ext cx="1066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5800" y="4368800"/>
            <a:ext cx="2540000" cy="1219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597400"/>
            <a:ext cx="2082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18231E"/>
                </a:solidFill>
                <a:latin typeface="Avenir Next"/>
              </a:rPr>
              <a:t>State</a:t>
            </a:r>
          </a:p>
        </p:txBody>
      </p:sp>
      <p:sp>
        <p:nvSpPr>
          <p:cNvPr id="16" name="TextBox 15"/>
          <p:cNvSpPr txBox="1"/>
          <p:nvPr/>
        </p:nvSpPr>
        <p:spPr>
          <a:xfrm>
            <a:off x="914400" y="5067300"/>
            <a:ext cx="2082800" cy="4064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job.json</a:t>
            </a:r>
          </a:p>
        </p:txBody>
      </p:sp>
      <p:cxnSp>
        <p:nvCxnSpPr>
          <p:cNvPr id="17" name="Connector 16"/>
          <p:cNvCxnSpPr/>
          <p:nvPr/>
        </p:nvCxnSpPr>
        <p:spPr>
          <a:xfrm>
            <a:off x="3225800" y="4978400"/>
            <a:ext cx="1066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66200" y="2108200"/>
            <a:ext cx="2540000" cy="1219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94800" y="2336800"/>
            <a:ext cx="2082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18231E"/>
                </a:solidFill>
                <a:latin typeface="Avenir Next"/>
              </a:rPr>
              <a:t>Routing</a:t>
            </a:r>
          </a:p>
        </p:txBody>
      </p:sp>
      <p:sp>
        <p:nvSpPr>
          <p:cNvPr id="20" name="TextBox 19"/>
          <p:cNvSpPr txBox="1"/>
          <p:nvPr/>
        </p:nvSpPr>
        <p:spPr>
          <a:xfrm>
            <a:off x="9194800" y="2806700"/>
            <a:ext cx="2082800" cy="4064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local / Colab</a:t>
            </a:r>
          </a:p>
        </p:txBody>
      </p:sp>
      <p:cxnSp>
        <p:nvCxnSpPr>
          <p:cNvPr id="21" name="Connector 20"/>
          <p:cNvCxnSpPr/>
          <p:nvPr/>
        </p:nvCxnSpPr>
        <p:spPr>
          <a:xfrm>
            <a:off x="7899400" y="2717800"/>
            <a:ext cx="1066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66200" y="4368800"/>
            <a:ext cx="2540000" cy="1219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94800" y="4597400"/>
            <a:ext cx="2082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18231E"/>
                </a:solidFill>
                <a:latin typeface="Avenir Next"/>
              </a:rPr>
              <a:t>FFmpeg</a:t>
            </a:r>
          </a:p>
        </p:txBody>
      </p:sp>
      <p:sp>
        <p:nvSpPr>
          <p:cNvPr id="24" name="TextBox 23"/>
          <p:cNvSpPr txBox="1"/>
          <p:nvPr/>
        </p:nvSpPr>
        <p:spPr>
          <a:xfrm>
            <a:off x="9194800" y="5067300"/>
            <a:ext cx="2082800" cy="4064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media stages</a:t>
            </a:r>
          </a:p>
        </p:txBody>
      </p:sp>
      <p:cxnSp>
        <p:nvCxnSpPr>
          <p:cNvPr id="25" name="Connector 24"/>
          <p:cNvCxnSpPr/>
          <p:nvPr/>
        </p:nvCxnSpPr>
        <p:spPr>
          <a:xfrm>
            <a:off x="7899400" y="4978400"/>
            <a:ext cx="1066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09 / ASYNC</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30</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Stage dài không giữ tunnel mở</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202 + task_id biến request dài thành polling ngắn</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19050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Gateway</a:t>
            </a:r>
          </a:p>
        </p:txBody>
      </p:sp>
      <p:cxnSp>
        <p:nvCxnSpPr>
          <p:cNvPr id="9" name="Connector 8"/>
          <p:cNvCxnSpPr/>
          <p:nvPr/>
        </p:nvCxnSpPr>
        <p:spPr>
          <a:xfrm>
            <a:off x="1219200" y="2286000"/>
            <a:ext cx="0" cy="34925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429000" y="19050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Tunnel</a:t>
            </a:r>
          </a:p>
        </p:txBody>
      </p:sp>
      <p:cxnSp>
        <p:nvCxnSpPr>
          <p:cNvPr id="11" name="Connector 10"/>
          <p:cNvCxnSpPr/>
          <p:nvPr/>
        </p:nvCxnSpPr>
        <p:spPr>
          <a:xfrm>
            <a:off x="4191000" y="2286000"/>
            <a:ext cx="0" cy="34925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12000" y="19050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AI backend</a:t>
            </a:r>
          </a:p>
        </p:txBody>
      </p:sp>
      <p:cxnSp>
        <p:nvCxnSpPr>
          <p:cNvPr id="13" name="Connector 12"/>
          <p:cNvCxnSpPr/>
          <p:nvPr/>
        </p:nvCxnSpPr>
        <p:spPr>
          <a:xfrm>
            <a:off x="7874000" y="2286000"/>
            <a:ext cx="0" cy="34925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134600" y="19050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400" b="1">
                <a:solidFill>
                  <a:srgbClr val="18231E"/>
                </a:solidFill>
                <a:latin typeface="Avenir Next"/>
              </a:rPr>
              <a:t>Task store</a:t>
            </a:r>
          </a:p>
        </p:txBody>
      </p:sp>
      <p:cxnSp>
        <p:nvCxnSpPr>
          <p:cNvPr id="15" name="Connector 14"/>
          <p:cNvCxnSpPr/>
          <p:nvPr/>
        </p:nvCxnSpPr>
        <p:spPr>
          <a:xfrm>
            <a:off x="10896600" y="2286000"/>
            <a:ext cx="0" cy="3492500"/>
          </a:xfrm>
          <a:prstGeom prst="line">
            <a:avLst/>
          </a:prstGeom>
          <a:ln w="12700">
            <a:solidFill>
              <a:srgbClr val="CBD0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19200" y="2717800"/>
            <a:ext cx="6654800" cy="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84400" y="2413000"/>
            <a:ext cx="44958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6B7771"/>
                </a:solidFill>
                <a:latin typeface="Avenir Next"/>
              </a:rPr>
              <a:t>POST /translate async_mode</a:t>
            </a:r>
          </a:p>
        </p:txBody>
      </p:sp>
      <p:cxnSp>
        <p:nvCxnSpPr>
          <p:cNvPr id="18" name="Connector 17"/>
          <p:cNvCxnSpPr/>
          <p:nvPr/>
        </p:nvCxnSpPr>
        <p:spPr>
          <a:xfrm>
            <a:off x="7874000" y="3175000"/>
            <a:ext cx="30226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686800" y="2895600"/>
            <a:ext cx="1422400" cy="228600"/>
          </a:xfrm>
          <a:prstGeom prst="rect">
            <a:avLst/>
          </a:prstGeom>
          <a:noFill/>
        </p:spPr>
        <p:txBody>
          <a:bodyPr wrap="square" lIns="0" tIns="0" rIns="0" bIns="0" anchor="t">
            <a:spAutoFit/>
          </a:bodyPr>
          <a:lstStyle/>
          <a:p>
            <a:pPr algn="ctr">
              <a:lnSpc>
                <a:spcPct val="100000"/>
              </a:lnSpc>
              <a:spcBef>
                <a:spcPts val="0"/>
              </a:spcBef>
              <a:spcAft>
                <a:spcPts val="0"/>
              </a:spcAft>
            </a:pPr>
            <a:r>
              <a:rPr sz="1200" b="0">
                <a:solidFill>
                  <a:srgbClr val="6B7771"/>
                </a:solidFill>
                <a:latin typeface="Avenir Next"/>
              </a:rPr>
              <a:t>enqueue</a:t>
            </a:r>
          </a:p>
        </p:txBody>
      </p:sp>
      <p:cxnSp>
        <p:nvCxnSpPr>
          <p:cNvPr id="20" name="Connector 19"/>
          <p:cNvCxnSpPr/>
          <p:nvPr/>
        </p:nvCxnSpPr>
        <p:spPr>
          <a:xfrm flipH="1">
            <a:off x="1219200" y="3632200"/>
            <a:ext cx="6654800" cy="0"/>
          </a:xfrm>
          <a:prstGeom prst="line">
            <a:avLst/>
          </a:prstGeom>
          <a:ln w="31750">
            <a:solidFill>
              <a:srgbClr val="E7B8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209800" y="3352800"/>
            <a:ext cx="4495800" cy="2286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6B7771"/>
                </a:solidFill>
                <a:latin typeface="Avenir Next"/>
              </a:rPr>
              <a:t>202 { task_id }</a:t>
            </a:r>
          </a:p>
        </p:txBody>
      </p:sp>
      <p:cxnSp>
        <p:nvCxnSpPr>
          <p:cNvPr id="22" name="Connector 21"/>
          <p:cNvCxnSpPr/>
          <p:nvPr/>
        </p:nvCxnSpPr>
        <p:spPr>
          <a:xfrm>
            <a:off x="1219200" y="4267200"/>
            <a:ext cx="66548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184400" y="3987800"/>
            <a:ext cx="4495800" cy="2286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6B7771"/>
                </a:solidFill>
                <a:latin typeface="Avenir Next"/>
              </a:rPr>
              <a:t>GET /tasks/{id}</a:t>
            </a:r>
          </a:p>
        </p:txBody>
      </p:sp>
      <p:cxnSp>
        <p:nvCxnSpPr>
          <p:cNvPr id="24" name="Connector 23"/>
          <p:cNvCxnSpPr/>
          <p:nvPr/>
        </p:nvCxnSpPr>
        <p:spPr>
          <a:xfrm flipH="1">
            <a:off x="1219200" y="4800600"/>
            <a:ext cx="6654800" cy="0"/>
          </a:xfrm>
          <a:prstGeom prst="line">
            <a:avLst/>
          </a:prstGeom>
          <a:ln w="25400">
            <a:solidFill>
              <a:srgbClr val="E7B8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184400" y="4521200"/>
            <a:ext cx="4495800" cy="228600"/>
          </a:xfrm>
          <a:prstGeom prst="rect">
            <a:avLst/>
          </a:prstGeom>
          <a:noFill/>
        </p:spPr>
        <p:txBody>
          <a:bodyPr wrap="square" lIns="0" tIns="0" rIns="0" bIns="0" anchor="t">
            <a:spAutoFit/>
          </a:bodyPr>
          <a:lstStyle/>
          <a:p>
            <a:pPr algn="ctr">
              <a:lnSpc>
                <a:spcPct val="100000"/>
              </a:lnSpc>
              <a:spcBef>
                <a:spcPts val="0"/>
              </a:spcBef>
              <a:spcAft>
                <a:spcPts val="0"/>
              </a:spcAft>
            </a:pPr>
            <a:r>
              <a:rPr sz="1300" b="1">
                <a:solidFill>
                  <a:srgbClr val="6B7771"/>
                </a:solidFill>
                <a:latin typeface="Avenir Next"/>
              </a:rPr>
              <a:t>queued / running / done</a:t>
            </a:r>
          </a:p>
        </p:txBody>
      </p:sp>
      <p:sp>
        <p:nvSpPr>
          <p:cNvPr id="26" name="Rounded Rectangle 25"/>
          <p:cNvSpPr/>
          <p:nvPr/>
        </p:nvSpPr>
        <p:spPr>
          <a:xfrm>
            <a:off x="3200400" y="5816600"/>
            <a:ext cx="5791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02000" y="5842000"/>
            <a:ext cx="5588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diarize, transcribe, translate, separate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10 / MODEL SYSTEM</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31</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Capabilities là hợp đồng model</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UI, validation và routing đọc cùng metadata</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286000"/>
            <a:ext cx="3403600" cy="2844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41400" y="2590800"/>
            <a:ext cx="2692400" cy="355600"/>
          </a:xfrm>
          <a:prstGeom prst="rect">
            <a:avLst/>
          </a:prstGeom>
          <a:noFill/>
        </p:spPr>
        <p:txBody>
          <a:bodyPr wrap="square" lIns="0" tIns="0" rIns="0" bIns="0" anchor="t">
            <a:spAutoFit/>
          </a:bodyPr>
          <a:lstStyle/>
          <a:p>
            <a:pPr algn="ctr">
              <a:lnSpc>
                <a:spcPct val="100000"/>
              </a:lnSpc>
              <a:spcBef>
                <a:spcPts val="0"/>
              </a:spcBef>
              <a:spcAft>
                <a:spcPts val="0"/>
              </a:spcAft>
            </a:pPr>
            <a:r>
              <a:rPr sz="2400" b="1">
                <a:solidFill>
                  <a:srgbClr val="D8FF58"/>
                </a:solidFill>
                <a:latin typeface="Avenir Next"/>
              </a:rPr>
              <a:t>/capabilities</a:t>
            </a:r>
          </a:p>
        </p:txBody>
      </p:sp>
      <p:sp>
        <p:nvSpPr>
          <p:cNvPr id="10" name="TextBox 9"/>
          <p:cNvSpPr txBox="1"/>
          <p:nvPr/>
        </p:nvSpPr>
        <p:spPr>
          <a:xfrm>
            <a:off x="1244600" y="3276600"/>
            <a:ext cx="22860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model id</a:t>
            </a:r>
          </a:p>
        </p:txBody>
      </p:sp>
      <p:sp>
        <p:nvSpPr>
          <p:cNvPr id="11" name="TextBox 10"/>
          <p:cNvSpPr txBox="1"/>
          <p:nvPr/>
        </p:nvSpPr>
        <p:spPr>
          <a:xfrm>
            <a:off x="1244600" y="3708400"/>
            <a:ext cx="22860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languages</a:t>
            </a:r>
          </a:p>
        </p:txBody>
      </p:sp>
      <p:sp>
        <p:nvSpPr>
          <p:cNvPr id="12" name="TextBox 11"/>
          <p:cNvSpPr txBox="1"/>
          <p:nvPr/>
        </p:nvSpPr>
        <p:spPr>
          <a:xfrm>
            <a:off x="1244600" y="4140200"/>
            <a:ext cx="22860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requirements</a:t>
            </a:r>
          </a:p>
        </p:txBody>
      </p:sp>
      <p:sp>
        <p:nvSpPr>
          <p:cNvPr id="13" name="TextBox 12"/>
          <p:cNvSpPr txBox="1"/>
          <p:nvPr/>
        </p:nvSpPr>
        <p:spPr>
          <a:xfrm>
            <a:off x="1244600" y="4572000"/>
            <a:ext cx="2286000" cy="2794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FFFFFF"/>
                </a:solidFill>
                <a:latin typeface="Avenir Next"/>
              </a:rPr>
              <a:t>licence</a:t>
            </a:r>
          </a:p>
        </p:txBody>
      </p:sp>
      <p:sp>
        <p:nvSpPr>
          <p:cNvPr id="14" name="Rounded Rectangle 13"/>
          <p:cNvSpPr/>
          <p:nvPr/>
        </p:nvSpPr>
        <p:spPr>
          <a:xfrm>
            <a:off x="5461000" y="2032000"/>
            <a:ext cx="2717800" cy="11684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89600" y="2260600"/>
            <a:ext cx="22606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900" b="1">
                <a:solidFill>
                  <a:srgbClr val="18231E"/>
                </a:solidFill>
                <a:latin typeface="Avenir Next"/>
              </a:rPr>
              <a:t>Frontend</a:t>
            </a:r>
          </a:p>
        </p:txBody>
      </p:sp>
      <p:sp>
        <p:nvSpPr>
          <p:cNvPr id="16" name="TextBox 15"/>
          <p:cNvSpPr txBox="1"/>
          <p:nvPr/>
        </p:nvSpPr>
        <p:spPr>
          <a:xfrm>
            <a:off x="5689600" y="2730500"/>
            <a:ext cx="2260600" cy="3556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dropdowns</a:t>
            </a:r>
          </a:p>
        </p:txBody>
      </p:sp>
      <p:cxnSp>
        <p:nvCxnSpPr>
          <p:cNvPr id="17" name="Connector 16"/>
          <p:cNvCxnSpPr/>
          <p:nvPr/>
        </p:nvCxnSpPr>
        <p:spPr>
          <a:xfrm flipV="1">
            <a:off x="4089400" y="2616200"/>
            <a:ext cx="1371600" cy="109220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61000" y="3556000"/>
            <a:ext cx="2717800" cy="11684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89600" y="3784600"/>
            <a:ext cx="22606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900" b="1">
                <a:solidFill>
                  <a:srgbClr val="18231E"/>
                </a:solidFill>
                <a:latin typeface="Avenir Next"/>
              </a:rPr>
              <a:t>Gateway</a:t>
            </a:r>
          </a:p>
        </p:txBody>
      </p:sp>
      <p:sp>
        <p:nvSpPr>
          <p:cNvPr id="20" name="TextBox 19"/>
          <p:cNvSpPr txBox="1"/>
          <p:nvPr/>
        </p:nvSpPr>
        <p:spPr>
          <a:xfrm>
            <a:off x="5689600" y="4254500"/>
            <a:ext cx="2260600" cy="3556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preflight</a:t>
            </a:r>
          </a:p>
        </p:txBody>
      </p:sp>
      <p:cxnSp>
        <p:nvCxnSpPr>
          <p:cNvPr id="21" name="Connector 20"/>
          <p:cNvCxnSpPr/>
          <p:nvPr/>
        </p:nvCxnSpPr>
        <p:spPr>
          <a:xfrm>
            <a:off x="4089400" y="3708400"/>
            <a:ext cx="1371600" cy="43180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788400" y="2794000"/>
            <a:ext cx="2717800" cy="1168400"/>
          </a:xfrm>
          <a:prstGeom prst="roundRect">
            <a:avLst/>
          </a:prstGeom>
          <a:solidFill>
            <a:srgbClr val="D8FF58"/>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17000" y="3022600"/>
            <a:ext cx="22606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900" b="1">
                <a:solidFill>
                  <a:srgbClr val="18231E"/>
                </a:solidFill>
                <a:latin typeface="Avenir Next"/>
              </a:rPr>
              <a:t>Provider</a:t>
            </a:r>
          </a:p>
        </p:txBody>
      </p:sp>
      <p:sp>
        <p:nvSpPr>
          <p:cNvPr id="24" name="TextBox 23"/>
          <p:cNvSpPr txBox="1"/>
          <p:nvPr/>
        </p:nvSpPr>
        <p:spPr>
          <a:xfrm>
            <a:off x="9017000" y="3492500"/>
            <a:ext cx="2260600" cy="3556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lazy import</a:t>
            </a:r>
          </a:p>
        </p:txBody>
      </p:sp>
      <p:cxnSp>
        <p:nvCxnSpPr>
          <p:cNvPr id="25" name="Connector 24"/>
          <p:cNvCxnSpPr/>
          <p:nvPr/>
        </p:nvCxnSpPr>
        <p:spPr>
          <a:xfrm flipV="1">
            <a:off x="4089400" y="3378200"/>
            <a:ext cx="4699000" cy="33020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241800" y="5486400"/>
            <a:ext cx="37084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43400" y="5511800"/>
            <a:ext cx="35052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registry metadata không load model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10 / TÀI NGUYÊN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32</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Một model slot cho mỗi tác vụ</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Đổi checkpoint thì release model cũ trước</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90600" y="2159000"/>
            <a:ext cx="2260600" cy="1320800"/>
          </a:xfrm>
          <a:prstGeom prst="roundRect">
            <a:avLst/>
          </a:prstGeom>
          <a:solidFill>
            <a:srgbClr val="FFFEFA"/>
          </a:solidFill>
          <a:ln w="1905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19200" y="2413000"/>
            <a:ext cx="1803400" cy="330200"/>
          </a:xfrm>
          <a:prstGeom prst="rect">
            <a:avLst/>
          </a:prstGeom>
          <a:noFill/>
        </p:spPr>
        <p:txBody>
          <a:bodyPr wrap="square" lIns="0" tIns="0" rIns="0" bIns="0" anchor="t">
            <a:spAutoFit/>
          </a:bodyPr>
          <a:lstStyle/>
          <a:p>
            <a:pPr algn="ctr">
              <a:lnSpc>
                <a:spcPct val="100000"/>
              </a:lnSpc>
              <a:spcBef>
                <a:spcPts val="0"/>
              </a:spcBef>
              <a:spcAft>
                <a:spcPts val="0"/>
              </a:spcAft>
            </a:pPr>
            <a:r>
              <a:rPr sz="1900" b="1">
                <a:solidFill>
                  <a:srgbClr val="18231E"/>
                </a:solidFill>
                <a:latin typeface="Avenir Next"/>
              </a:rPr>
              <a:t>ASR</a:t>
            </a:r>
          </a:p>
        </p:txBody>
      </p:sp>
      <p:sp>
        <p:nvSpPr>
          <p:cNvPr id="10" name="Rounded Rectangle 9"/>
          <p:cNvSpPr/>
          <p:nvPr/>
        </p:nvSpPr>
        <p:spPr>
          <a:xfrm>
            <a:off x="1447800" y="2895600"/>
            <a:ext cx="1346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49400" y="2921000"/>
            <a:ext cx="1143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1 active</a:t>
            </a:r>
          </a:p>
        </p:txBody>
      </p:sp>
      <p:sp>
        <p:nvSpPr>
          <p:cNvPr id="12" name="Rounded Rectangle 11"/>
          <p:cNvSpPr/>
          <p:nvPr/>
        </p:nvSpPr>
        <p:spPr>
          <a:xfrm>
            <a:off x="3632200" y="2159000"/>
            <a:ext cx="2260600" cy="1320800"/>
          </a:xfrm>
          <a:prstGeom prst="roundRect">
            <a:avLst/>
          </a:prstGeom>
          <a:solidFill>
            <a:srgbClr val="FFFEFA"/>
          </a:solidFill>
          <a:ln w="1905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60800" y="2413000"/>
            <a:ext cx="1803400" cy="330200"/>
          </a:xfrm>
          <a:prstGeom prst="rect">
            <a:avLst/>
          </a:prstGeom>
          <a:noFill/>
        </p:spPr>
        <p:txBody>
          <a:bodyPr wrap="square" lIns="0" tIns="0" rIns="0" bIns="0" anchor="t">
            <a:spAutoFit/>
          </a:bodyPr>
          <a:lstStyle/>
          <a:p>
            <a:pPr algn="ctr">
              <a:lnSpc>
                <a:spcPct val="100000"/>
              </a:lnSpc>
              <a:spcBef>
                <a:spcPts val="0"/>
              </a:spcBef>
              <a:spcAft>
                <a:spcPts val="0"/>
              </a:spcAft>
            </a:pPr>
            <a:r>
              <a:rPr sz="1900" b="1">
                <a:solidFill>
                  <a:srgbClr val="18231E"/>
                </a:solidFill>
                <a:latin typeface="Avenir Next"/>
              </a:rPr>
              <a:t>Translate</a:t>
            </a:r>
          </a:p>
        </p:txBody>
      </p:sp>
      <p:sp>
        <p:nvSpPr>
          <p:cNvPr id="14" name="Rounded Rectangle 13"/>
          <p:cNvSpPr/>
          <p:nvPr/>
        </p:nvSpPr>
        <p:spPr>
          <a:xfrm>
            <a:off x="4089400" y="2895600"/>
            <a:ext cx="1346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91000" y="2921000"/>
            <a:ext cx="1143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1 active</a:t>
            </a:r>
          </a:p>
        </p:txBody>
      </p:sp>
      <p:sp>
        <p:nvSpPr>
          <p:cNvPr id="16" name="Rounded Rectangle 15"/>
          <p:cNvSpPr/>
          <p:nvPr/>
        </p:nvSpPr>
        <p:spPr>
          <a:xfrm>
            <a:off x="6273800" y="2159000"/>
            <a:ext cx="2260600" cy="1320800"/>
          </a:xfrm>
          <a:prstGeom prst="roundRect">
            <a:avLst/>
          </a:prstGeom>
          <a:solidFill>
            <a:srgbClr val="FFFEFA"/>
          </a:solidFill>
          <a:ln w="1905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02400" y="2413000"/>
            <a:ext cx="1803400" cy="330200"/>
          </a:xfrm>
          <a:prstGeom prst="rect">
            <a:avLst/>
          </a:prstGeom>
          <a:noFill/>
        </p:spPr>
        <p:txBody>
          <a:bodyPr wrap="square" lIns="0" tIns="0" rIns="0" bIns="0" anchor="t">
            <a:spAutoFit/>
          </a:bodyPr>
          <a:lstStyle/>
          <a:p>
            <a:pPr algn="ctr">
              <a:lnSpc>
                <a:spcPct val="100000"/>
              </a:lnSpc>
              <a:spcBef>
                <a:spcPts val="0"/>
              </a:spcBef>
              <a:spcAft>
                <a:spcPts val="0"/>
              </a:spcAft>
            </a:pPr>
            <a:r>
              <a:rPr sz="1900" b="1">
                <a:solidFill>
                  <a:srgbClr val="18231E"/>
                </a:solidFill>
                <a:latin typeface="Avenir Next"/>
              </a:rPr>
              <a:t>TTS</a:t>
            </a:r>
          </a:p>
        </p:txBody>
      </p:sp>
      <p:sp>
        <p:nvSpPr>
          <p:cNvPr id="18" name="Rounded Rectangle 17"/>
          <p:cNvSpPr/>
          <p:nvPr/>
        </p:nvSpPr>
        <p:spPr>
          <a:xfrm>
            <a:off x="6731000" y="2895600"/>
            <a:ext cx="1346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32600" y="2921000"/>
            <a:ext cx="1143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1 active</a:t>
            </a:r>
          </a:p>
        </p:txBody>
      </p:sp>
      <p:sp>
        <p:nvSpPr>
          <p:cNvPr id="20" name="Rounded Rectangle 19"/>
          <p:cNvSpPr/>
          <p:nvPr/>
        </p:nvSpPr>
        <p:spPr>
          <a:xfrm>
            <a:off x="8915400" y="2159000"/>
            <a:ext cx="2260600" cy="1320800"/>
          </a:xfrm>
          <a:prstGeom prst="roundRect">
            <a:avLst/>
          </a:prstGeom>
          <a:solidFill>
            <a:srgbClr val="FFFEFA"/>
          </a:solidFill>
          <a:ln w="1905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0" y="2413000"/>
            <a:ext cx="1803400" cy="330200"/>
          </a:xfrm>
          <a:prstGeom prst="rect">
            <a:avLst/>
          </a:prstGeom>
          <a:noFill/>
        </p:spPr>
        <p:txBody>
          <a:bodyPr wrap="square" lIns="0" tIns="0" rIns="0" bIns="0" anchor="t">
            <a:spAutoFit/>
          </a:bodyPr>
          <a:lstStyle/>
          <a:p>
            <a:pPr algn="ctr">
              <a:lnSpc>
                <a:spcPct val="100000"/>
              </a:lnSpc>
              <a:spcBef>
                <a:spcPts val="0"/>
              </a:spcBef>
              <a:spcAft>
                <a:spcPts val="0"/>
              </a:spcAft>
            </a:pPr>
            <a:r>
              <a:rPr sz="1900" b="1">
                <a:solidFill>
                  <a:srgbClr val="18231E"/>
                </a:solidFill>
                <a:latin typeface="Avenir Next"/>
              </a:rPr>
              <a:t>Separate</a:t>
            </a:r>
          </a:p>
        </p:txBody>
      </p:sp>
      <p:sp>
        <p:nvSpPr>
          <p:cNvPr id="22" name="Rounded Rectangle 21"/>
          <p:cNvSpPr/>
          <p:nvPr/>
        </p:nvSpPr>
        <p:spPr>
          <a:xfrm>
            <a:off x="9372600" y="2895600"/>
            <a:ext cx="1346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74200" y="2921000"/>
            <a:ext cx="1143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1 active</a:t>
            </a:r>
          </a:p>
        </p:txBody>
      </p:sp>
      <p:cxnSp>
        <p:nvCxnSpPr>
          <p:cNvPr id="24" name="Connector 23"/>
          <p:cNvCxnSpPr/>
          <p:nvPr/>
        </p:nvCxnSpPr>
        <p:spPr>
          <a:xfrm>
            <a:off x="2082800" y="4038600"/>
            <a:ext cx="8026400" cy="0"/>
          </a:xfrm>
          <a:prstGeom prst="line">
            <a:avLst/>
          </a:prstGeom>
          <a:ln w="50800">
            <a:solidFill>
              <a:srgbClr val="2D756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800600" y="3733800"/>
            <a:ext cx="2590800" cy="355600"/>
          </a:xfrm>
          <a:prstGeom prst="rect">
            <a:avLst/>
          </a:prstGeom>
          <a:noFill/>
        </p:spPr>
        <p:txBody>
          <a:bodyPr wrap="square" lIns="0" tIns="0" rIns="0" bIns="0" anchor="t">
            <a:spAutoFit/>
          </a:bodyPr>
          <a:lstStyle/>
          <a:p>
            <a:pPr algn="ctr">
              <a:lnSpc>
                <a:spcPct val="100000"/>
              </a:lnSpc>
              <a:spcBef>
                <a:spcPts val="0"/>
              </a:spcBef>
              <a:spcAft>
                <a:spcPts val="0"/>
              </a:spcAft>
            </a:pPr>
            <a:r>
              <a:rPr sz="2000" b="1">
                <a:solidFill>
                  <a:srgbClr val="18231E"/>
                </a:solidFill>
                <a:latin typeface="Avenir Next"/>
              </a:rPr>
              <a:t>MODEL_LOCK</a:t>
            </a:r>
          </a:p>
        </p:txBody>
      </p:sp>
      <p:sp>
        <p:nvSpPr>
          <p:cNvPr id="26" name="Rounded Rectangle 25"/>
          <p:cNvSpPr/>
          <p:nvPr/>
        </p:nvSpPr>
        <p:spPr>
          <a:xfrm>
            <a:off x="3175000" y="4572000"/>
            <a:ext cx="5842000" cy="1016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81400" y="4851400"/>
            <a:ext cx="50292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FFFFFF"/>
                </a:solidFill>
                <a:latin typeface="Avenir Next"/>
              </a:rPr>
              <a:t>release, gc.collect, empty CUDA cache, load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10 / RESILIENCE</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33</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Stage idempotent, job có thể resume</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Không làm lại phần đã hoàn tất nếu không force</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311400"/>
            <a:ext cx="1778000" cy="6604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5019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pending</a:t>
            </a:r>
          </a:p>
        </p:txBody>
      </p:sp>
      <p:cxnSp>
        <p:nvCxnSpPr>
          <p:cNvPr id="10" name="Connector 9"/>
          <p:cNvCxnSpPr/>
          <p:nvPr/>
        </p:nvCxnSpPr>
        <p:spPr>
          <a:xfrm>
            <a:off x="2463800" y="2641600"/>
            <a:ext cx="482600" cy="0"/>
          </a:xfrm>
          <a:prstGeom prst="line">
            <a:avLst/>
          </a:prstGeom>
          <a:ln w="2286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946400" y="2311400"/>
            <a:ext cx="1778000" cy="6604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3400" y="25019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running</a:t>
            </a:r>
          </a:p>
        </p:txBody>
      </p:sp>
      <p:cxnSp>
        <p:nvCxnSpPr>
          <p:cNvPr id="13" name="Connector 12"/>
          <p:cNvCxnSpPr/>
          <p:nvPr/>
        </p:nvCxnSpPr>
        <p:spPr>
          <a:xfrm>
            <a:off x="4724400" y="2641600"/>
            <a:ext cx="482600" cy="0"/>
          </a:xfrm>
          <a:prstGeom prst="line">
            <a:avLst/>
          </a:prstGeom>
          <a:ln w="2286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207000" y="2311400"/>
            <a:ext cx="1778000" cy="6604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34000" y="25019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completed</a:t>
            </a:r>
          </a:p>
        </p:txBody>
      </p:sp>
      <p:cxnSp>
        <p:nvCxnSpPr>
          <p:cNvPr id="16" name="Connector 15"/>
          <p:cNvCxnSpPr/>
          <p:nvPr/>
        </p:nvCxnSpPr>
        <p:spPr>
          <a:xfrm>
            <a:off x="6985000" y="2641600"/>
            <a:ext cx="482600" cy="0"/>
          </a:xfrm>
          <a:prstGeom prst="line">
            <a:avLst/>
          </a:prstGeom>
          <a:ln w="2286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467600" y="2311400"/>
            <a:ext cx="1778000" cy="660400"/>
          </a:xfrm>
          <a:prstGeom prst="round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94600" y="25019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skipped</a:t>
            </a:r>
          </a:p>
        </p:txBody>
      </p:sp>
      <p:cxnSp>
        <p:nvCxnSpPr>
          <p:cNvPr id="19" name="Connector 18"/>
          <p:cNvCxnSpPr/>
          <p:nvPr/>
        </p:nvCxnSpPr>
        <p:spPr>
          <a:xfrm>
            <a:off x="9245600" y="2641600"/>
            <a:ext cx="482600" cy="0"/>
          </a:xfrm>
          <a:prstGeom prst="line">
            <a:avLst/>
          </a:prstGeom>
          <a:ln w="2286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728200" y="2311400"/>
            <a:ext cx="1778000" cy="660400"/>
          </a:xfrm>
          <a:prstGeom prst="roundRect">
            <a:avLst/>
          </a:prstGeom>
          <a:solidFill>
            <a:srgbClr val="F28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55200" y="2501900"/>
            <a:ext cx="1524000" cy="2794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failed</a:t>
            </a:r>
          </a:p>
        </p:txBody>
      </p:sp>
      <p:sp>
        <p:nvSpPr>
          <p:cNvPr id="22" name="Rounded Rectangle 21"/>
          <p:cNvSpPr/>
          <p:nvPr/>
        </p:nvSpPr>
        <p:spPr>
          <a:xfrm>
            <a:off x="1828800" y="3810000"/>
            <a:ext cx="8534400" cy="14224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87600" y="4140200"/>
            <a:ext cx="7416800" cy="381000"/>
          </a:xfrm>
          <a:prstGeom prst="rect">
            <a:avLst/>
          </a:prstGeom>
          <a:noFill/>
        </p:spPr>
        <p:txBody>
          <a:bodyPr wrap="square" lIns="0" tIns="0" rIns="0" bIns="0" anchor="t">
            <a:spAutoFit/>
          </a:bodyPr>
          <a:lstStyle/>
          <a:p>
            <a:pPr algn="ctr">
              <a:lnSpc>
                <a:spcPct val="100000"/>
              </a:lnSpc>
              <a:spcBef>
                <a:spcPts val="0"/>
              </a:spcBef>
              <a:spcAft>
                <a:spcPts val="0"/>
              </a:spcAft>
            </a:pPr>
            <a:r>
              <a:rPr sz="2100" b="1">
                <a:solidFill>
                  <a:srgbClr val="FFFFFF"/>
                </a:solidFill>
                <a:latin typeface="Avenir Next"/>
              </a:rPr>
              <a:t>_reuse(stage): completed artifact</a:t>
            </a:r>
          </a:p>
        </p:txBody>
      </p:sp>
      <p:sp>
        <p:nvSpPr>
          <p:cNvPr id="24" name="TextBox 23"/>
          <p:cNvSpPr txBox="1"/>
          <p:nvPr/>
        </p:nvSpPr>
        <p:spPr>
          <a:xfrm>
            <a:off x="2387600" y="4673600"/>
            <a:ext cx="7416800" cy="304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D8FF58"/>
                </a:solidFill>
                <a:latin typeface="Avenir Next"/>
              </a:rPr>
              <a:t>force=true mới chạy lại</a:t>
            </a:r>
          </a:p>
        </p:txBody>
      </p:sp>
      <p:sp>
        <p:nvSpPr>
          <p:cNvPr id="25" name="Rounded Rectangle 24"/>
          <p:cNvSpPr/>
          <p:nvPr/>
        </p:nvSpPr>
        <p:spPr>
          <a:xfrm>
            <a:off x="3505200" y="5765800"/>
            <a:ext cx="51816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06800" y="5791200"/>
            <a:ext cx="4978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stalled detection = stage_started_at quá hạn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10 / DỮ LIỆU</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34</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Mỗi job là một thư mục tự mô tả</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Artifacts trung gian giúp audit và debug</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39800" y="2006600"/>
            <a:ext cx="5410200" cy="39116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0800" y="2311400"/>
            <a:ext cx="4572000" cy="304800"/>
          </a:xfrm>
          <a:prstGeom prst="rect">
            <a:avLst/>
          </a:prstGeom>
          <a:noFill/>
        </p:spPr>
        <p:txBody>
          <a:bodyPr wrap="square" lIns="0" tIns="0" rIns="0" bIns="0" anchor="t">
            <a:spAutoFit/>
          </a:bodyPr>
          <a:lstStyle/>
          <a:p>
            <a:pPr algn="l">
              <a:lnSpc>
                <a:spcPct val="100000"/>
              </a:lnSpc>
              <a:spcBef>
                <a:spcPts val="0"/>
              </a:spcBef>
              <a:spcAft>
                <a:spcPts val="0"/>
              </a:spcAft>
            </a:pPr>
            <a:r>
              <a:rPr sz="1800" b="1">
                <a:solidFill>
                  <a:srgbClr val="D8FF58"/>
                </a:solidFill>
                <a:latin typeface="Avenir Next"/>
              </a:rPr>
              <a:t>data/jobs/&lt;job_id&gt;/</a:t>
            </a:r>
          </a:p>
        </p:txBody>
      </p:sp>
      <p:sp>
        <p:nvSpPr>
          <p:cNvPr id="10" name="TextBox 9"/>
          <p:cNvSpPr txBox="1"/>
          <p:nvPr/>
        </p:nvSpPr>
        <p:spPr>
          <a:xfrm>
            <a:off x="1320800" y="2705100"/>
            <a:ext cx="4572000" cy="3048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FFFFFF"/>
                </a:solidFill>
                <a:latin typeface="Avenir Next"/>
              </a:rPr>
              <a:t>  ├─ job.json</a:t>
            </a:r>
          </a:p>
        </p:txBody>
      </p:sp>
      <p:sp>
        <p:nvSpPr>
          <p:cNvPr id="11" name="TextBox 10"/>
          <p:cNvSpPr txBox="1"/>
          <p:nvPr/>
        </p:nvSpPr>
        <p:spPr>
          <a:xfrm>
            <a:off x="1320800" y="3098800"/>
            <a:ext cx="4572000" cy="3048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FFFFFF"/>
                </a:solidFill>
                <a:latin typeface="Avenir Next"/>
              </a:rPr>
              <a:t>  ├─ source.mp4</a:t>
            </a:r>
          </a:p>
        </p:txBody>
      </p:sp>
      <p:sp>
        <p:nvSpPr>
          <p:cNvPr id="12" name="TextBox 11"/>
          <p:cNvSpPr txBox="1"/>
          <p:nvPr/>
        </p:nvSpPr>
        <p:spPr>
          <a:xfrm>
            <a:off x="1320800" y="3492500"/>
            <a:ext cx="4572000" cy="3048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FFFFFF"/>
                </a:solidFill>
                <a:latin typeface="Avenir Next"/>
              </a:rPr>
              <a:t>  ├─ audio_16k.wav</a:t>
            </a:r>
          </a:p>
        </p:txBody>
      </p:sp>
      <p:sp>
        <p:nvSpPr>
          <p:cNvPr id="13" name="TextBox 12"/>
          <p:cNvSpPr txBox="1"/>
          <p:nvPr/>
        </p:nvSpPr>
        <p:spPr>
          <a:xfrm>
            <a:off x="1320800" y="3886200"/>
            <a:ext cx="4572000" cy="3048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FFFFFF"/>
                </a:solidFill>
                <a:latin typeface="Avenir Next"/>
              </a:rPr>
              <a:t>  ├─ segments.json</a:t>
            </a:r>
          </a:p>
        </p:txBody>
      </p:sp>
      <p:sp>
        <p:nvSpPr>
          <p:cNvPr id="14" name="TextBox 13"/>
          <p:cNvSpPr txBox="1"/>
          <p:nvPr/>
        </p:nvSpPr>
        <p:spPr>
          <a:xfrm>
            <a:off x="1320800" y="4279900"/>
            <a:ext cx="4572000" cy="3048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FFFFFF"/>
                </a:solidFill>
                <a:latin typeface="Avenir Next"/>
              </a:rPr>
              <a:t>  ├─ tts/segment_*.wav</a:t>
            </a:r>
          </a:p>
        </p:txBody>
      </p:sp>
      <p:sp>
        <p:nvSpPr>
          <p:cNvPr id="15" name="TextBox 14"/>
          <p:cNvSpPr txBox="1"/>
          <p:nvPr/>
        </p:nvSpPr>
        <p:spPr>
          <a:xfrm>
            <a:off x="1320800" y="4673600"/>
            <a:ext cx="4572000" cy="3048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FFFFFF"/>
                </a:solidFill>
                <a:latin typeface="Avenir Next"/>
              </a:rPr>
              <a:t>  ├─ translated.srt</a:t>
            </a:r>
          </a:p>
        </p:txBody>
      </p:sp>
      <p:sp>
        <p:nvSpPr>
          <p:cNvPr id="16" name="TextBox 15"/>
          <p:cNvSpPr txBox="1"/>
          <p:nvPr/>
        </p:nvSpPr>
        <p:spPr>
          <a:xfrm>
            <a:off x="1320800" y="5067300"/>
            <a:ext cx="4572000" cy="304800"/>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FFFFFF"/>
                </a:solidFill>
                <a:latin typeface="Avenir Next"/>
              </a:rPr>
              <a:t>  ├─ output.mp4</a:t>
            </a:r>
          </a:p>
        </p:txBody>
      </p:sp>
      <p:sp>
        <p:nvSpPr>
          <p:cNvPr id="17" name="Rounded Rectangle 16"/>
          <p:cNvSpPr/>
          <p:nvPr/>
        </p:nvSpPr>
        <p:spPr>
          <a:xfrm>
            <a:off x="7772400" y="2235200"/>
            <a:ext cx="2794000" cy="28448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01000" y="2463800"/>
            <a:ext cx="2336800" cy="431800"/>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18231E"/>
                </a:solidFill>
                <a:latin typeface="Avenir Next"/>
              </a:rPr>
              <a:t>job.json</a:t>
            </a:r>
          </a:p>
        </p:txBody>
      </p:sp>
      <p:sp>
        <p:nvSpPr>
          <p:cNvPr id="19" name="TextBox 18"/>
          <p:cNvSpPr txBox="1"/>
          <p:nvPr/>
        </p:nvSpPr>
        <p:spPr>
          <a:xfrm>
            <a:off x="8001000" y="2933700"/>
            <a:ext cx="2336800" cy="2032000"/>
          </a:xfrm>
          <a:prstGeom prst="rect">
            <a:avLst/>
          </a:prstGeom>
          <a:noFill/>
        </p:spPr>
        <p:txBody>
          <a:bodyPr wrap="square" lIns="0" tIns="0" rIns="0" bIns="0" anchor="t">
            <a:spAutoFit/>
          </a:bodyPr>
          <a:lstStyle/>
          <a:p>
            <a:pPr algn="ctr">
              <a:lnSpc>
                <a:spcPct val="100000"/>
              </a:lnSpc>
              <a:spcBef>
                <a:spcPts val="0"/>
              </a:spcBef>
              <a:spcAft>
                <a:spcPts val="0"/>
              </a:spcAft>
            </a:pPr>
            <a:r>
              <a:rPr sz="1800" b="0">
                <a:solidFill>
                  <a:srgbClr val="6B7771"/>
                </a:solidFill>
                <a:latin typeface="Avenir Next"/>
              </a:rPr>
              <a:t>config</a:t>
            </a:r>
            <a:br/>
            <a:r>
              <a:rPr sz="1800" b="0">
                <a:solidFill>
                  <a:srgbClr val="6B7771"/>
                </a:solidFill>
                <a:latin typeface="Avenir Next"/>
              </a:rPr>
              <a:t>stages</a:t>
            </a:r>
            <a:br/>
            <a:r>
              <a:rPr sz="1800" b="0">
                <a:solidFill>
                  <a:srgbClr val="6B7771"/>
                </a:solidFill>
                <a:latin typeface="Avenir Next"/>
              </a:rPr>
              <a:t>error</a:t>
            </a:r>
            <a:br/>
            <a:r>
              <a:rPr sz="1800" b="0">
                <a:solidFill>
                  <a:srgbClr val="6B7771"/>
                </a:solidFill>
                <a:latin typeface="Avenir Next"/>
              </a:rPr>
              <a:t>artifacts</a:t>
            </a:r>
          </a:p>
        </p:txBody>
      </p:sp>
      <p:cxnSp>
        <p:nvCxnSpPr>
          <p:cNvPr id="20" name="Connector 19"/>
          <p:cNvCxnSpPr/>
          <p:nvPr/>
        </p:nvCxnSpPr>
        <p:spPr>
          <a:xfrm flipV="1">
            <a:off x="6350000" y="3657600"/>
            <a:ext cx="1422400" cy="304800"/>
          </a:xfrm>
          <a:prstGeom prst="line">
            <a:avLst/>
          </a:prstGeom>
          <a:ln w="3175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16800" y="5461000"/>
            <a:ext cx="34798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18400" y="5486400"/>
            <a:ext cx="32766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volume Docker giữ lại sau restart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11 / FRONTEND</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35</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UI cấu hình bên trái, quan sát bên phải</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Capability-driven và ưu tiên demo dễ hiểu</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1955800"/>
            <a:ext cx="10820400" cy="4191000"/>
          </a:xfrm>
          <a:prstGeom prst="roundRect">
            <a:avLst/>
          </a:prstGeom>
          <a:solidFill>
            <a:srgbClr val="FFFEFA"/>
          </a:solidFill>
          <a:ln w="19050">
            <a:solidFill>
              <a:srgbClr val="1823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955800"/>
            <a:ext cx="6045200" cy="4191000"/>
          </a:xfrm>
          <a:prstGeom prst="roundRect">
            <a:avLst/>
          </a:prstGeom>
          <a:solidFill>
            <a:srgbClr val="FFFEFA"/>
          </a:solidFill>
          <a:ln w="19050">
            <a:solidFill>
              <a:srgbClr val="1823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731000" y="1955800"/>
            <a:ext cx="4775200" cy="4191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0600" y="2209800"/>
            <a:ext cx="2159000" cy="228600"/>
          </a:xfrm>
          <a:prstGeom prst="rect">
            <a:avLst/>
          </a:prstGeom>
          <a:noFill/>
        </p:spPr>
        <p:txBody>
          <a:bodyPr wrap="square" lIns="0" tIns="0" rIns="0" bIns="0" anchor="t">
            <a:spAutoFit/>
          </a:bodyPr>
          <a:lstStyle/>
          <a:p>
            <a:pPr algn="l">
              <a:lnSpc>
                <a:spcPct val="100000"/>
              </a:lnSpc>
              <a:spcBef>
                <a:spcPts val="0"/>
              </a:spcBef>
              <a:spcAft>
                <a:spcPts val="0"/>
              </a:spcAft>
            </a:pPr>
            <a:r>
              <a:rPr sz="1100" b="1">
                <a:solidFill>
                  <a:srgbClr val="2D7565"/>
                </a:solidFill>
                <a:latin typeface="Avenir Next"/>
              </a:rPr>
              <a:t>01 / CONFIGURE</a:t>
            </a:r>
          </a:p>
        </p:txBody>
      </p:sp>
      <p:sp>
        <p:nvSpPr>
          <p:cNvPr id="12" name="TextBox 11"/>
          <p:cNvSpPr txBox="1"/>
          <p:nvPr/>
        </p:nvSpPr>
        <p:spPr>
          <a:xfrm>
            <a:off x="990600" y="2540000"/>
            <a:ext cx="3810000" cy="431800"/>
          </a:xfrm>
          <a:prstGeom prst="rect">
            <a:avLst/>
          </a:prstGeom>
          <a:noFill/>
        </p:spPr>
        <p:txBody>
          <a:bodyPr wrap="square" lIns="0" tIns="0" rIns="0" bIns="0" anchor="t">
            <a:spAutoFit/>
          </a:bodyPr>
          <a:lstStyle/>
          <a:p>
            <a:pPr algn="l">
              <a:lnSpc>
                <a:spcPct val="100000"/>
              </a:lnSpc>
              <a:spcBef>
                <a:spcPts val="0"/>
              </a:spcBef>
              <a:spcAft>
                <a:spcPts val="0"/>
              </a:spcAft>
            </a:pPr>
            <a:r>
              <a:rPr sz="2400" b="1">
                <a:solidFill>
                  <a:srgbClr val="18231E"/>
                </a:solidFill>
                <a:latin typeface="Avenir Next"/>
              </a:rPr>
              <a:t>Dub your video</a:t>
            </a:r>
          </a:p>
        </p:txBody>
      </p:sp>
      <p:sp>
        <p:nvSpPr>
          <p:cNvPr id="13" name="Rounded Rectangle 12"/>
          <p:cNvSpPr/>
          <p:nvPr/>
        </p:nvSpPr>
        <p:spPr>
          <a:xfrm>
            <a:off x="990600" y="3200400"/>
            <a:ext cx="5130800" cy="965200"/>
          </a:xfrm>
          <a:prstGeom prst="roundRect">
            <a:avLst/>
          </a:prstGeom>
          <a:solidFill>
            <a:srgbClr val="F4F1E8"/>
          </a:solidFill>
          <a:ln w="15240">
            <a:solidFill>
              <a:srgbClr val="CB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25600" y="3530600"/>
            <a:ext cx="3860800" cy="3048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Drop a video here</a:t>
            </a:r>
          </a:p>
        </p:txBody>
      </p:sp>
      <p:sp>
        <p:nvSpPr>
          <p:cNvPr id="15" name="TextBox 14"/>
          <p:cNvSpPr txBox="1"/>
          <p:nvPr/>
        </p:nvSpPr>
        <p:spPr>
          <a:xfrm>
            <a:off x="990600" y="4495800"/>
            <a:ext cx="2032000" cy="228600"/>
          </a:xfrm>
          <a:prstGeom prst="rect">
            <a:avLst/>
          </a:prstGeom>
          <a:noFill/>
        </p:spPr>
        <p:txBody>
          <a:bodyPr wrap="square" lIns="0" tIns="0" rIns="0" bIns="0" anchor="t">
            <a:spAutoFit/>
          </a:bodyPr>
          <a:lstStyle/>
          <a:p>
            <a:pPr algn="l">
              <a:lnSpc>
                <a:spcPct val="100000"/>
              </a:lnSpc>
              <a:spcBef>
                <a:spcPts val="0"/>
              </a:spcBef>
              <a:spcAft>
                <a:spcPts val="0"/>
              </a:spcAft>
            </a:pPr>
            <a:r>
              <a:rPr sz="1200" b="1">
                <a:solidFill>
                  <a:srgbClr val="6B7771"/>
                </a:solidFill>
                <a:latin typeface="Avenir Next"/>
              </a:rPr>
              <a:t>Language</a:t>
            </a:r>
          </a:p>
        </p:txBody>
      </p:sp>
      <p:sp>
        <p:nvSpPr>
          <p:cNvPr id="16" name="Rounded Rectangle 15"/>
          <p:cNvSpPr/>
          <p:nvPr/>
        </p:nvSpPr>
        <p:spPr>
          <a:xfrm>
            <a:off x="990600" y="4800600"/>
            <a:ext cx="2387600" cy="533400"/>
          </a:xfrm>
          <a:prstGeom prst="roundRect">
            <a:avLst/>
          </a:prstGeom>
          <a:solidFill>
            <a:srgbClr val="FFFFFF"/>
          </a:solidFill>
          <a:ln w="12700">
            <a:solidFill>
              <a:srgbClr val="CB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06800" y="4495800"/>
            <a:ext cx="2032000" cy="228600"/>
          </a:xfrm>
          <a:prstGeom prst="rect">
            <a:avLst/>
          </a:prstGeom>
          <a:noFill/>
        </p:spPr>
        <p:txBody>
          <a:bodyPr wrap="square" lIns="0" tIns="0" rIns="0" bIns="0" anchor="t">
            <a:spAutoFit/>
          </a:bodyPr>
          <a:lstStyle/>
          <a:p>
            <a:pPr algn="l">
              <a:lnSpc>
                <a:spcPct val="100000"/>
              </a:lnSpc>
              <a:spcBef>
                <a:spcPts val="0"/>
              </a:spcBef>
              <a:spcAft>
                <a:spcPts val="0"/>
              </a:spcAft>
            </a:pPr>
            <a:r>
              <a:rPr sz="1200" b="1">
                <a:solidFill>
                  <a:srgbClr val="6B7771"/>
                </a:solidFill>
                <a:latin typeface="Avenir Next"/>
              </a:rPr>
              <a:t>Model</a:t>
            </a:r>
          </a:p>
        </p:txBody>
      </p:sp>
      <p:sp>
        <p:nvSpPr>
          <p:cNvPr id="18" name="Rounded Rectangle 17"/>
          <p:cNvSpPr/>
          <p:nvPr/>
        </p:nvSpPr>
        <p:spPr>
          <a:xfrm>
            <a:off x="3606800" y="4800600"/>
            <a:ext cx="2387600" cy="533400"/>
          </a:xfrm>
          <a:prstGeom prst="roundRect">
            <a:avLst/>
          </a:prstGeom>
          <a:solidFill>
            <a:srgbClr val="FFFFFF"/>
          </a:solidFill>
          <a:ln w="12700">
            <a:solidFill>
              <a:srgbClr val="CB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35800" y="2209800"/>
            <a:ext cx="2159000" cy="228600"/>
          </a:xfrm>
          <a:prstGeom prst="rect">
            <a:avLst/>
          </a:prstGeom>
          <a:noFill/>
        </p:spPr>
        <p:txBody>
          <a:bodyPr wrap="square" lIns="0" tIns="0" rIns="0" bIns="0" anchor="t">
            <a:spAutoFit/>
          </a:bodyPr>
          <a:lstStyle/>
          <a:p>
            <a:pPr algn="l">
              <a:lnSpc>
                <a:spcPct val="100000"/>
              </a:lnSpc>
              <a:spcBef>
                <a:spcPts val="0"/>
              </a:spcBef>
              <a:spcAft>
                <a:spcPts val="0"/>
              </a:spcAft>
            </a:pPr>
            <a:r>
              <a:rPr sz="1100" b="1">
                <a:solidFill>
                  <a:srgbClr val="A8E6D2"/>
                </a:solidFill>
                <a:latin typeface="Avenir Next"/>
              </a:rPr>
              <a:t>02 / OBSERVE</a:t>
            </a:r>
          </a:p>
        </p:txBody>
      </p:sp>
      <p:sp>
        <p:nvSpPr>
          <p:cNvPr id="20" name="TextBox 19"/>
          <p:cNvSpPr txBox="1"/>
          <p:nvPr/>
        </p:nvSpPr>
        <p:spPr>
          <a:xfrm>
            <a:off x="7035800" y="2540000"/>
            <a:ext cx="2794000" cy="431800"/>
          </a:xfrm>
          <a:prstGeom prst="rect">
            <a:avLst/>
          </a:prstGeom>
          <a:noFill/>
        </p:spPr>
        <p:txBody>
          <a:bodyPr wrap="square" lIns="0" tIns="0" rIns="0" bIns="0" anchor="t">
            <a:spAutoFit/>
          </a:bodyPr>
          <a:lstStyle/>
          <a:p>
            <a:pPr algn="l">
              <a:lnSpc>
                <a:spcPct val="100000"/>
              </a:lnSpc>
              <a:spcBef>
                <a:spcPts val="0"/>
              </a:spcBef>
              <a:spcAft>
                <a:spcPts val="0"/>
              </a:spcAft>
            </a:pPr>
            <a:r>
              <a:rPr sz="2400" b="1">
                <a:solidFill>
                  <a:srgbClr val="FFFFFF"/>
                </a:solidFill>
                <a:latin typeface="Avenir Next"/>
              </a:rPr>
              <a:t>Pipeline</a:t>
            </a:r>
          </a:p>
        </p:txBody>
      </p:sp>
      <p:sp>
        <p:nvSpPr>
          <p:cNvPr id="21" name="Oval 20"/>
          <p:cNvSpPr/>
          <p:nvPr/>
        </p:nvSpPr>
        <p:spPr>
          <a:xfrm>
            <a:off x="7086600" y="3225800"/>
            <a:ext cx="304800" cy="304800"/>
          </a:xfrm>
          <a:prstGeom prst="ellipse">
            <a:avLst/>
          </a:prstGeom>
          <a:solidFill>
            <a:srgbClr val="D8FF58"/>
          </a:solidFill>
          <a:ln w="1270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75500" y="3289300"/>
            <a:ext cx="127000" cy="152400"/>
          </a:xfrm>
          <a:prstGeom prst="rect">
            <a:avLst/>
          </a:prstGeom>
          <a:noFill/>
        </p:spPr>
        <p:txBody>
          <a:bodyPr wrap="square" lIns="0" tIns="0" rIns="0" bIns="0" anchor="t">
            <a:spAutoFit/>
          </a:bodyPr>
          <a:lstStyle/>
          <a:p>
            <a:pPr algn="ctr">
              <a:lnSpc>
                <a:spcPct val="100000"/>
              </a:lnSpc>
              <a:spcBef>
                <a:spcPts val="0"/>
              </a:spcBef>
              <a:spcAft>
                <a:spcPts val="0"/>
              </a:spcAft>
            </a:pPr>
            <a:r>
              <a:rPr sz="900" b="1">
                <a:solidFill>
                  <a:srgbClr val="18231E"/>
                </a:solidFill>
                <a:latin typeface="Avenir Next"/>
              </a:rPr>
              <a:t>1</a:t>
            </a:r>
          </a:p>
        </p:txBody>
      </p:sp>
      <p:sp>
        <p:nvSpPr>
          <p:cNvPr id="23" name="Rounded Rectangle 22"/>
          <p:cNvSpPr/>
          <p:nvPr/>
        </p:nvSpPr>
        <p:spPr>
          <a:xfrm>
            <a:off x="7594600" y="3263900"/>
            <a:ext cx="3149600" cy="177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086600" y="3759200"/>
            <a:ext cx="304800" cy="304800"/>
          </a:xfrm>
          <a:prstGeom prst="ellipse">
            <a:avLst/>
          </a:prstGeom>
          <a:solidFill>
            <a:srgbClr val="D8FF58"/>
          </a:solidFill>
          <a:ln w="1270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75500" y="3822700"/>
            <a:ext cx="127000" cy="152400"/>
          </a:xfrm>
          <a:prstGeom prst="rect">
            <a:avLst/>
          </a:prstGeom>
          <a:noFill/>
        </p:spPr>
        <p:txBody>
          <a:bodyPr wrap="square" lIns="0" tIns="0" rIns="0" bIns="0" anchor="t">
            <a:spAutoFit/>
          </a:bodyPr>
          <a:lstStyle/>
          <a:p>
            <a:pPr algn="ctr">
              <a:lnSpc>
                <a:spcPct val="100000"/>
              </a:lnSpc>
              <a:spcBef>
                <a:spcPts val="0"/>
              </a:spcBef>
              <a:spcAft>
                <a:spcPts val="0"/>
              </a:spcAft>
            </a:pPr>
            <a:r>
              <a:rPr sz="900" b="1">
                <a:solidFill>
                  <a:srgbClr val="18231E"/>
                </a:solidFill>
                <a:latin typeface="Avenir Next"/>
              </a:rPr>
              <a:t>2</a:t>
            </a:r>
          </a:p>
        </p:txBody>
      </p:sp>
      <p:sp>
        <p:nvSpPr>
          <p:cNvPr id="26" name="Rounded Rectangle 25"/>
          <p:cNvSpPr/>
          <p:nvPr/>
        </p:nvSpPr>
        <p:spPr>
          <a:xfrm>
            <a:off x="7594600" y="3797300"/>
            <a:ext cx="3149600" cy="177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086600" y="4292600"/>
            <a:ext cx="304800" cy="304800"/>
          </a:xfrm>
          <a:prstGeom prst="ellipse">
            <a:avLst/>
          </a:prstGeom>
          <a:solidFill>
            <a:srgbClr val="D8FF58"/>
          </a:solidFill>
          <a:ln w="1270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5500" y="4356100"/>
            <a:ext cx="127000" cy="152400"/>
          </a:xfrm>
          <a:prstGeom prst="rect">
            <a:avLst/>
          </a:prstGeom>
          <a:noFill/>
        </p:spPr>
        <p:txBody>
          <a:bodyPr wrap="square" lIns="0" tIns="0" rIns="0" bIns="0" anchor="t">
            <a:spAutoFit/>
          </a:bodyPr>
          <a:lstStyle/>
          <a:p>
            <a:pPr algn="ctr">
              <a:lnSpc>
                <a:spcPct val="100000"/>
              </a:lnSpc>
              <a:spcBef>
                <a:spcPts val="0"/>
              </a:spcBef>
              <a:spcAft>
                <a:spcPts val="0"/>
              </a:spcAft>
            </a:pPr>
            <a:r>
              <a:rPr sz="900" b="1">
                <a:solidFill>
                  <a:srgbClr val="18231E"/>
                </a:solidFill>
                <a:latin typeface="Avenir Next"/>
              </a:rPr>
              <a:t>3</a:t>
            </a:r>
          </a:p>
        </p:txBody>
      </p:sp>
      <p:sp>
        <p:nvSpPr>
          <p:cNvPr id="29" name="Rounded Rectangle 28"/>
          <p:cNvSpPr/>
          <p:nvPr/>
        </p:nvSpPr>
        <p:spPr>
          <a:xfrm>
            <a:off x="7594600" y="4330700"/>
            <a:ext cx="3149600" cy="177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086600" y="4826000"/>
            <a:ext cx="304800" cy="304800"/>
          </a:xfrm>
          <a:prstGeom prst="ellipse">
            <a:avLst/>
          </a:prstGeom>
          <a:solidFill>
            <a:srgbClr val="1D332B"/>
          </a:solidFill>
          <a:ln w="1270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75500" y="4889500"/>
            <a:ext cx="127000" cy="152400"/>
          </a:xfrm>
          <a:prstGeom prst="rect">
            <a:avLst/>
          </a:prstGeom>
          <a:noFill/>
        </p:spPr>
        <p:txBody>
          <a:bodyPr wrap="square" lIns="0" tIns="0" rIns="0" bIns="0" anchor="t">
            <a:spAutoFit/>
          </a:bodyPr>
          <a:lstStyle/>
          <a:p>
            <a:pPr algn="ctr">
              <a:lnSpc>
                <a:spcPct val="100000"/>
              </a:lnSpc>
              <a:spcBef>
                <a:spcPts val="0"/>
              </a:spcBef>
              <a:spcAft>
                <a:spcPts val="0"/>
              </a:spcAft>
            </a:pPr>
            <a:r>
              <a:rPr sz="900" b="1">
                <a:solidFill>
                  <a:srgbClr val="FFFFFF"/>
                </a:solidFill>
                <a:latin typeface="Avenir Next"/>
              </a:rPr>
              <a:t>4</a:t>
            </a:r>
          </a:p>
        </p:txBody>
      </p:sp>
      <p:sp>
        <p:nvSpPr>
          <p:cNvPr id="32" name="Rounded Rectangle 31"/>
          <p:cNvSpPr/>
          <p:nvPr/>
        </p:nvSpPr>
        <p:spPr>
          <a:xfrm>
            <a:off x="7594600" y="4864100"/>
            <a:ext cx="3149600" cy="177800"/>
          </a:xfrm>
          <a:prstGeom prst="roundRect">
            <a:avLst/>
          </a:prstGeom>
          <a:solidFill>
            <a:srgbClr val="1D3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086600" y="5359400"/>
            <a:ext cx="304800" cy="304800"/>
          </a:xfrm>
          <a:prstGeom prst="ellipse">
            <a:avLst/>
          </a:prstGeom>
          <a:solidFill>
            <a:srgbClr val="1D332B"/>
          </a:solidFill>
          <a:ln w="12700">
            <a:solidFill>
              <a:srgbClr val="A8E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75500" y="5422900"/>
            <a:ext cx="127000" cy="152400"/>
          </a:xfrm>
          <a:prstGeom prst="rect">
            <a:avLst/>
          </a:prstGeom>
          <a:noFill/>
        </p:spPr>
        <p:txBody>
          <a:bodyPr wrap="square" lIns="0" tIns="0" rIns="0" bIns="0" anchor="t">
            <a:spAutoFit/>
          </a:bodyPr>
          <a:lstStyle/>
          <a:p>
            <a:pPr algn="ctr">
              <a:lnSpc>
                <a:spcPct val="100000"/>
              </a:lnSpc>
              <a:spcBef>
                <a:spcPts val="0"/>
              </a:spcBef>
              <a:spcAft>
                <a:spcPts val="0"/>
              </a:spcAft>
            </a:pPr>
            <a:r>
              <a:rPr sz="900" b="1">
                <a:solidFill>
                  <a:srgbClr val="FFFFFF"/>
                </a:solidFill>
                <a:latin typeface="Avenir Next"/>
              </a:rPr>
              <a:t>5</a:t>
            </a:r>
          </a:p>
        </p:txBody>
      </p:sp>
      <p:sp>
        <p:nvSpPr>
          <p:cNvPr id="35" name="Rounded Rectangle 34"/>
          <p:cNvSpPr/>
          <p:nvPr/>
        </p:nvSpPr>
        <p:spPr>
          <a:xfrm>
            <a:off x="7594600" y="5397500"/>
            <a:ext cx="3149600" cy="177800"/>
          </a:xfrm>
          <a:prstGeom prst="roundRect">
            <a:avLst/>
          </a:prstGeom>
          <a:solidFill>
            <a:srgbClr val="1D3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712200" y="5664200"/>
            <a:ext cx="2362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813800" y="5689600"/>
            <a:ext cx="2159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wireframe từ UI hiện tại</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11 / AN TOÀN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36</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Security, privacy và license</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Đồ án demo vẫn phải nêu đúng ranh giới sử dụng</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68400" y="2159000"/>
            <a:ext cx="1320800" cy="13208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95400" y="2565400"/>
            <a:ext cx="1066800" cy="3048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Token</a:t>
            </a:r>
          </a:p>
        </p:txBody>
      </p:sp>
      <p:sp>
        <p:nvSpPr>
          <p:cNvPr id="10" name="TextBox 9"/>
          <p:cNvSpPr txBox="1"/>
          <p:nvPr/>
        </p:nvSpPr>
        <p:spPr>
          <a:xfrm>
            <a:off x="685800" y="3860800"/>
            <a:ext cx="2286000" cy="812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Bearer bảo vệ AI API</a:t>
            </a:r>
          </a:p>
        </p:txBody>
      </p:sp>
      <p:sp>
        <p:nvSpPr>
          <p:cNvPr id="11" name="Oval 10"/>
          <p:cNvSpPr/>
          <p:nvPr/>
        </p:nvSpPr>
        <p:spPr>
          <a:xfrm>
            <a:off x="3962400" y="2159000"/>
            <a:ext cx="1320800" cy="1320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89400" y="2565400"/>
            <a:ext cx="1066800" cy="3048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Input</a:t>
            </a:r>
          </a:p>
        </p:txBody>
      </p:sp>
      <p:sp>
        <p:nvSpPr>
          <p:cNvPr id="13" name="TextBox 12"/>
          <p:cNvSpPr txBox="1"/>
          <p:nvPr/>
        </p:nvSpPr>
        <p:spPr>
          <a:xfrm>
            <a:off x="3479800" y="3860800"/>
            <a:ext cx="2286000" cy="812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validate loại media</a:t>
            </a:r>
          </a:p>
        </p:txBody>
      </p:sp>
      <p:sp>
        <p:nvSpPr>
          <p:cNvPr id="14" name="Oval 13"/>
          <p:cNvSpPr/>
          <p:nvPr/>
        </p:nvSpPr>
        <p:spPr>
          <a:xfrm>
            <a:off x="6756400" y="2159000"/>
            <a:ext cx="1320800" cy="1320800"/>
          </a:xfrm>
          <a:prstGeom prst="ellipse">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83400" y="2565400"/>
            <a:ext cx="1066800" cy="3048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Privacy</a:t>
            </a:r>
          </a:p>
        </p:txBody>
      </p:sp>
      <p:sp>
        <p:nvSpPr>
          <p:cNvPr id="16" name="TextBox 15"/>
          <p:cNvSpPr txBox="1"/>
          <p:nvPr/>
        </p:nvSpPr>
        <p:spPr>
          <a:xfrm>
            <a:off x="6273800" y="3860800"/>
            <a:ext cx="2286000" cy="812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Edge gửi text ra ngoài</a:t>
            </a:r>
          </a:p>
        </p:txBody>
      </p:sp>
      <p:sp>
        <p:nvSpPr>
          <p:cNvPr id="17" name="Oval 16"/>
          <p:cNvSpPr/>
          <p:nvPr/>
        </p:nvSpPr>
        <p:spPr>
          <a:xfrm>
            <a:off x="9550400" y="2159000"/>
            <a:ext cx="1320800" cy="1320800"/>
          </a:xfrm>
          <a:prstGeom prst="ellipse">
            <a:avLst/>
          </a:prstGeom>
          <a:solidFill>
            <a:srgbClr val="F28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77400" y="2565400"/>
            <a:ext cx="1066800" cy="3048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License</a:t>
            </a:r>
          </a:p>
        </p:txBody>
      </p:sp>
      <p:sp>
        <p:nvSpPr>
          <p:cNvPr id="19" name="TextBox 18"/>
          <p:cNvSpPr txBox="1"/>
          <p:nvPr/>
        </p:nvSpPr>
        <p:spPr>
          <a:xfrm>
            <a:off x="9067800" y="3860800"/>
            <a:ext cx="2286000" cy="81280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8231E"/>
                </a:solidFill>
                <a:latin typeface="Avenir Next"/>
              </a:rPr>
              <a:t>NLLB/MMS/Seamless NC</a:t>
            </a:r>
          </a:p>
        </p:txBody>
      </p:sp>
      <p:sp>
        <p:nvSpPr>
          <p:cNvPr id="20" name="Rounded Rectangle 19"/>
          <p:cNvSpPr/>
          <p:nvPr/>
        </p:nvSpPr>
        <p:spPr>
          <a:xfrm>
            <a:off x="1854200" y="5156200"/>
            <a:ext cx="8483600" cy="7366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87600" y="5359400"/>
            <a:ext cx="7416800" cy="304800"/>
          </a:xfrm>
          <a:prstGeom prst="rect">
            <a:avLst/>
          </a:prstGeom>
          <a:noFill/>
        </p:spPr>
        <p:txBody>
          <a:bodyPr wrap="square" lIns="0" tIns="0" rIns="0" bIns="0" anchor="t">
            <a:spAutoFit/>
          </a:bodyPr>
          <a:lstStyle/>
          <a:p>
            <a:pPr algn="ctr">
              <a:lnSpc>
                <a:spcPct val="100000"/>
              </a:lnSpc>
              <a:spcBef>
                <a:spcPts val="0"/>
              </a:spcBef>
              <a:spcAft>
                <a:spcPts val="0"/>
              </a:spcAft>
            </a:pPr>
            <a:r>
              <a:rPr sz="1900" b="1">
                <a:solidFill>
                  <a:srgbClr val="FFFFFF"/>
                </a:solidFill>
                <a:latin typeface="Avenir Next"/>
              </a:rPr>
              <a:t>Reference implementation ≠ production security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12 / ĐÁNH GIÁ</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37</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Đánh giá theo từng stage</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Không dùng một cảm giác chung cho toàn pipeline</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184400"/>
            <a:ext cx="1905000" cy="23622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514600"/>
            <a:ext cx="1651000" cy="355600"/>
          </a:xfrm>
          <a:prstGeom prst="rect">
            <a:avLst/>
          </a:prstGeom>
          <a:noFill/>
        </p:spPr>
        <p:txBody>
          <a:bodyPr wrap="square" lIns="0" tIns="0" rIns="0" bIns="0" anchor="t">
            <a:spAutoFit/>
          </a:bodyPr>
          <a:lstStyle/>
          <a:p>
            <a:pPr algn="ctr">
              <a:lnSpc>
                <a:spcPct val="100000"/>
              </a:lnSpc>
              <a:spcBef>
                <a:spcPts val="0"/>
              </a:spcBef>
              <a:spcAft>
                <a:spcPts val="0"/>
              </a:spcAft>
            </a:pPr>
            <a:r>
              <a:rPr sz="2000" b="1">
                <a:solidFill>
                  <a:srgbClr val="18231E"/>
                </a:solidFill>
                <a:latin typeface="Avenir Next"/>
              </a:rPr>
              <a:t>ASR</a:t>
            </a:r>
          </a:p>
        </p:txBody>
      </p:sp>
      <p:sp>
        <p:nvSpPr>
          <p:cNvPr id="10" name="TextBox 9"/>
          <p:cNvSpPr txBox="1"/>
          <p:nvPr/>
        </p:nvSpPr>
        <p:spPr>
          <a:xfrm>
            <a:off x="812800" y="3403600"/>
            <a:ext cx="1651000" cy="5842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WER / CER</a:t>
            </a:r>
          </a:p>
        </p:txBody>
      </p:sp>
      <p:sp>
        <p:nvSpPr>
          <p:cNvPr id="11" name="Rounded Rectangle 10"/>
          <p:cNvSpPr/>
          <p:nvPr/>
        </p:nvSpPr>
        <p:spPr>
          <a:xfrm>
            <a:off x="2844800" y="2184400"/>
            <a:ext cx="1905000" cy="23622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71800" y="2514600"/>
            <a:ext cx="1651000" cy="355600"/>
          </a:xfrm>
          <a:prstGeom prst="rect">
            <a:avLst/>
          </a:prstGeom>
          <a:noFill/>
        </p:spPr>
        <p:txBody>
          <a:bodyPr wrap="square" lIns="0" tIns="0" rIns="0" bIns="0" anchor="t">
            <a:spAutoFit/>
          </a:bodyPr>
          <a:lstStyle/>
          <a:p>
            <a:pPr algn="ctr">
              <a:lnSpc>
                <a:spcPct val="100000"/>
              </a:lnSpc>
              <a:spcBef>
                <a:spcPts val="0"/>
              </a:spcBef>
              <a:spcAft>
                <a:spcPts val="0"/>
              </a:spcAft>
            </a:pPr>
            <a:r>
              <a:rPr sz="2000" b="1">
                <a:solidFill>
                  <a:srgbClr val="18231E"/>
                </a:solidFill>
                <a:latin typeface="Avenir Next"/>
              </a:rPr>
              <a:t>Translate</a:t>
            </a:r>
          </a:p>
        </p:txBody>
      </p:sp>
      <p:sp>
        <p:nvSpPr>
          <p:cNvPr id="13" name="TextBox 12"/>
          <p:cNvSpPr txBox="1"/>
          <p:nvPr/>
        </p:nvSpPr>
        <p:spPr>
          <a:xfrm>
            <a:off x="2971800" y="3403600"/>
            <a:ext cx="1651000" cy="5842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COMET / chrF</a:t>
            </a:r>
          </a:p>
        </p:txBody>
      </p:sp>
      <p:sp>
        <p:nvSpPr>
          <p:cNvPr id="14" name="Rounded Rectangle 13"/>
          <p:cNvSpPr/>
          <p:nvPr/>
        </p:nvSpPr>
        <p:spPr>
          <a:xfrm>
            <a:off x="5003800" y="2184400"/>
            <a:ext cx="1905000" cy="2362200"/>
          </a:xfrm>
          <a:prstGeom prst="roundRect">
            <a:avLst/>
          </a:prstGeom>
          <a:solidFill>
            <a:srgbClr val="E7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30800" y="2514600"/>
            <a:ext cx="1651000" cy="355600"/>
          </a:xfrm>
          <a:prstGeom prst="rect">
            <a:avLst/>
          </a:prstGeom>
          <a:noFill/>
        </p:spPr>
        <p:txBody>
          <a:bodyPr wrap="square" lIns="0" tIns="0" rIns="0" bIns="0" anchor="t">
            <a:spAutoFit/>
          </a:bodyPr>
          <a:lstStyle/>
          <a:p>
            <a:pPr algn="ctr">
              <a:lnSpc>
                <a:spcPct val="100000"/>
              </a:lnSpc>
              <a:spcBef>
                <a:spcPts val="0"/>
              </a:spcBef>
              <a:spcAft>
                <a:spcPts val="0"/>
              </a:spcAft>
            </a:pPr>
            <a:r>
              <a:rPr sz="2000" b="1">
                <a:solidFill>
                  <a:srgbClr val="18231E"/>
                </a:solidFill>
                <a:latin typeface="Avenir Next"/>
              </a:rPr>
              <a:t>TTS</a:t>
            </a:r>
          </a:p>
        </p:txBody>
      </p:sp>
      <p:sp>
        <p:nvSpPr>
          <p:cNvPr id="16" name="TextBox 15"/>
          <p:cNvSpPr txBox="1"/>
          <p:nvPr/>
        </p:nvSpPr>
        <p:spPr>
          <a:xfrm>
            <a:off x="5130800" y="3403600"/>
            <a:ext cx="1651000" cy="5842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MOS / preference</a:t>
            </a:r>
          </a:p>
        </p:txBody>
      </p:sp>
      <p:sp>
        <p:nvSpPr>
          <p:cNvPr id="17" name="Rounded Rectangle 16"/>
          <p:cNvSpPr/>
          <p:nvPr/>
        </p:nvSpPr>
        <p:spPr>
          <a:xfrm>
            <a:off x="7162800" y="2184400"/>
            <a:ext cx="1905000" cy="2362200"/>
          </a:xfrm>
          <a:prstGeom prst="roundRect">
            <a:avLst/>
          </a:prstGeom>
          <a:solidFill>
            <a:srgbClr val="F28B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89800" y="2514600"/>
            <a:ext cx="1651000" cy="355600"/>
          </a:xfrm>
          <a:prstGeom prst="rect">
            <a:avLst/>
          </a:prstGeom>
          <a:noFill/>
        </p:spPr>
        <p:txBody>
          <a:bodyPr wrap="square" lIns="0" tIns="0" rIns="0" bIns="0" anchor="t">
            <a:spAutoFit/>
          </a:bodyPr>
          <a:lstStyle/>
          <a:p>
            <a:pPr algn="ctr">
              <a:lnSpc>
                <a:spcPct val="100000"/>
              </a:lnSpc>
              <a:spcBef>
                <a:spcPts val="0"/>
              </a:spcBef>
              <a:spcAft>
                <a:spcPts val="0"/>
              </a:spcAft>
            </a:pPr>
            <a:r>
              <a:rPr sz="2000" b="1">
                <a:solidFill>
                  <a:srgbClr val="18231E"/>
                </a:solidFill>
                <a:latin typeface="Avenir Next"/>
              </a:rPr>
              <a:t>Diarize</a:t>
            </a:r>
          </a:p>
        </p:txBody>
      </p:sp>
      <p:sp>
        <p:nvSpPr>
          <p:cNvPr id="19" name="TextBox 18"/>
          <p:cNvSpPr txBox="1"/>
          <p:nvPr/>
        </p:nvSpPr>
        <p:spPr>
          <a:xfrm>
            <a:off x="7289800" y="3403600"/>
            <a:ext cx="1651000" cy="5842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DER</a:t>
            </a:r>
          </a:p>
        </p:txBody>
      </p:sp>
      <p:sp>
        <p:nvSpPr>
          <p:cNvPr id="20" name="Rounded Rectangle 19"/>
          <p:cNvSpPr/>
          <p:nvPr/>
        </p:nvSpPr>
        <p:spPr>
          <a:xfrm>
            <a:off x="9321800" y="2184400"/>
            <a:ext cx="1905000" cy="23622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48800" y="2514600"/>
            <a:ext cx="1651000" cy="355600"/>
          </a:xfrm>
          <a:prstGeom prst="rect">
            <a:avLst/>
          </a:prstGeom>
          <a:noFill/>
        </p:spPr>
        <p:txBody>
          <a:bodyPr wrap="square" lIns="0" tIns="0" rIns="0" bIns="0" anchor="t">
            <a:spAutoFit/>
          </a:bodyPr>
          <a:lstStyle/>
          <a:p>
            <a:pPr algn="ctr">
              <a:lnSpc>
                <a:spcPct val="100000"/>
              </a:lnSpc>
              <a:spcBef>
                <a:spcPts val="0"/>
              </a:spcBef>
              <a:spcAft>
                <a:spcPts val="0"/>
              </a:spcAft>
            </a:pPr>
            <a:r>
              <a:rPr sz="2000" b="1">
                <a:solidFill>
                  <a:srgbClr val="FFFFFF"/>
                </a:solidFill>
                <a:latin typeface="Avenir Next"/>
              </a:rPr>
              <a:t>System</a:t>
            </a:r>
          </a:p>
        </p:txBody>
      </p:sp>
      <p:sp>
        <p:nvSpPr>
          <p:cNvPr id="22" name="TextBox 21"/>
          <p:cNvSpPr txBox="1"/>
          <p:nvPr/>
        </p:nvSpPr>
        <p:spPr>
          <a:xfrm>
            <a:off x="9448800" y="3403600"/>
            <a:ext cx="1651000" cy="5842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A8E6D2"/>
                </a:solidFill>
                <a:latin typeface="Avenir Next"/>
              </a:rPr>
              <a:t>RTF / failures</a:t>
            </a:r>
          </a:p>
        </p:txBody>
      </p:sp>
      <p:sp>
        <p:nvSpPr>
          <p:cNvPr id="23" name="Rounded Rectangle 22"/>
          <p:cNvSpPr/>
          <p:nvPr/>
        </p:nvSpPr>
        <p:spPr>
          <a:xfrm>
            <a:off x="2463800" y="5232400"/>
            <a:ext cx="7264400" cy="3810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65400" y="5257800"/>
            <a:ext cx="70612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giữ cùng clip, prompt, volume, rate, hardware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12 / DEMO</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38</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Kịch bản demo 6 phút</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Luôn có đường lui nếu Colab hoặc internet chập chờn</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85800" y="2311400"/>
            <a:ext cx="939800" cy="939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540000"/>
            <a:ext cx="482600" cy="3556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1</a:t>
            </a:r>
          </a:p>
        </p:txBody>
      </p:sp>
      <p:sp>
        <p:nvSpPr>
          <p:cNvPr id="10" name="TextBox 9"/>
          <p:cNvSpPr txBox="1"/>
          <p:nvPr/>
        </p:nvSpPr>
        <p:spPr>
          <a:xfrm>
            <a:off x="482600" y="3479800"/>
            <a:ext cx="1346200" cy="508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Health</a:t>
            </a:r>
          </a:p>
        </p:txBody>
      </p:sp>
      <p:sp>
        <p:nvSpPr>
          <p:cNvPr id="11" name="TextBox 10"/>
          <p:cNvSpPr txBox="1"/>
          <p:nvPr/>
        </p:nvSpPr>
        <p:spPr>
          <a:xfrm>
            <a:off x="482600" y="4038600"/>
            <a:ext cx="13462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6B7771"/>
                </a:solidFill>
                <a:latin typeface="Avenir Next"/>
              </a:rPr>
              <a:t>30s</a:t>
            </a:r>
          </a:p>
        </p:txBody>
      </p:sp>
      <p:cxnSp>
        <p:nvCxnSpPr>
          <p:cNvPr id="12" name="Connector 11"/>
          <p:cNvCxnSpPr/>
          <p:nvPr/>
        </p:nvCxnSpPr>
        <p:spPr>
          <a:xfrm>
            <a:off x="1625600" y="2781300"/>
            <a:ext cx="8382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463800" y="2311400"/>
            <a:ext cx="939800" cy="939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92400" y="2540000"/>
            <a:ext cx="482600" cy="3556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2</a:t>
            </a:r>
          </a:p>
        </p:txBody>
      </p:sp>
      <p:sp>
        <p:nvSpPr>
          <p:cNvPr id="15" name="TextBox 14"/>
          <p:cNvSpPr txBox="1"/>
          <p:nvPr/>
        </p:nvSpPr>
        <p:spPr>
          <a:xfrm>
            <a:off x="2260600" y="3479800"/>
            <a:ext cx="1346200" cy="508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Models</a:t>
            </a:r>
          </a:p>
        </p:txBody>
      </p:sp>
      <p:sp>
        <p:nvSpPr>
          <p:cNvPr id="16" name="TextBox 15"/>
          <p:cNvSpPr txBox="1"/>
          <p:nvPr/>
        </p:nvSpPr>
        <p:spPr>
          <a:xfrm>
            <a:off x="2260600" y="4038600"/>
            <a:ext cx="13462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6B7771"/>
                </a:solidFill>
                <a:latin typeface="Avenir Next"/>
              </a:rPr>
              <a:t>45s</a:t>
            </a:r>
          </a:p>
        </p:txBody>
      </p:sp>
      <p:cxnSp>
        <p:nvCxnSpPr>
          <p:cNvPr id="17" name="Connector 16"/>
          <p:cNvCxnSpPr/>
          <p:nvPr/>
        </p:nvCxnSpPr>
        <p:spPr>
          <a:xfrm>
            <a:off x="3403600" y="2781300"/>
            <a:ext cx="8382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241800" y="2311400"/>
            <a:ext cx="939800" cy="939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0400" y="2540000"/>
            <a:ext cx="482600" cy="3556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3</a:t>
            </a:r>
          </a:p>
        </p:txBody>
      </p:sp>
      <p:sp>
        <p:nvSpPr>
          <p:cNvPr id="20" name="TextBox 19"/>
          <p:cNvSpPr txBox="1"/>
          <p:nvPr/>
        </p:nvSpPr>
        <p:spPr>
          <a:xfrm>
            <a:off x="4038600" y="3479800"/>
            <a:ext cx="1346200" cy="508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Upload</a:t>
            </a:r>
          </a:p>
        </p:txBody>
      </p:sp>
      <p:sp>
        <p:nvSpPr>
          <p:cNvPr id="21" name="TextBox 20"/>
          <p:cNvSpPr txBox="1"/>
          <p:nvPr/>
        </p:nvSpPr>
        <p:spPr>
          <a:xfrm>
            <a:off x="4038600" y="4038600"/>
            <a:ext cx="13462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6B7771"/>
                </a:solidFill>
                <a:latin typeface="Avenir Next"/>
              </a:rPr>
              <a:t>45s</a:t>
            </a:r>
          </a:p>
        </p:txBody>
      </p:sp>
      <p:cxnSp>
        <p:nvCxnSpPr>
          <p:cNvPr id="22" name="Connector 21"/>
          <p:cNvCxnSpPr/>
          <p:nvPr/>
        </p:nvCxnSpPr>
        <p:spPr>
          <a:xfrm>
            <a:off x="5181600" y="2781300"/>
            <a:ext cx="8382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019800" y="2311400"/>
            <a:ext cx="939800" cy="939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8400" y="2540000"/>
            <a:ext cx="482600" cy="3556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4</a:t>
            </a:r>
          </a:p>
        </p:txBody>
      </p:sp>
      <p:sp>
        <p:nvSpPr>
          <p:cNvPr id="25" name="TextBox 24"/>
          <p:cNvSpPr txBox="1"/>
          <p:nvPr/>
        </p:nvSpPr>
        <p:spPr>
          <a:xfrm>
            <a:off x="5816600" y="3479800"/>
            <a:ext cx="1346200" cy="508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Observe</a:t>
            </a:r>
          </a:p>
        </p:txBody>
      </p:sp>
      <p:sp>
        <p:nvSpPr>
          <p:cNvPr id="26" name="TextBox 25"/>
          <p:cNvSpPr txBox="1"/>
          <p:nvPr/>
        </p:nvSpPr>
        <p:spPr>
          <a:xfrm>
            <a:off x="5816600" y="4038600"/>
            <a:ext cx="13462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6B7771"/>
                </a:solidFill>
                <a:latin typeface="Avenir Next"/>
              </a:rPr>
              <a:t>2m</a:t>
            </a:r>
          </a:p>
        </p:txBody>
      </p:sp>
      <p:cxnSp>
        <p:nvCxnSpPr>
          <p:cNvPr id="27" name="Connector 26"/>
          <p:cNvCxnSpPr/>
          <p:nvPr/>
        </p:nvCxnSpPr>
        <p:spPr>
          <a:xfrm>
            <a:off x="6959600" y="2781300"/>
            <a:ext cx="8382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797800" y="2311400"/>
            <a:ext cx="939800" cy="939800"/>
          </a:xfrm>
          <a:prstGeom prst="ellipse">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26400" y="2540000"/>
            <a:ext cx="482600" cy="3556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5</a:t>
            </a:r>
          </a:p>
        </p:txBody>
      </p:sp>
      <p:sp>
        <p:nvSpPr>
          <p:cNvPr id="30" name="TextBox 29"/>
          <p:cNvSpPr txBox="1"/>
          <p:nvPr/>
        </p:nvSpPr>
        <p:spPr>
          <a:xfrm>
            <a:off x="7594600" y="3479800"/>
            <a:ext cx="1346200" cy="508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Inspect n8n</a:t>
            </a:r>
          </a:p>
        </p:txBody>
      </p:sp>
      <p:sp>
        <p:nvSpPr>
          <p:cNvPr id="31" name="TextBox 30"/>
          <p:cNvSpPr txBox="1"/>
          <p:nvPr/>
        </p:nvSpPr>
        <p:spPr>
          <a:xfrm>
            <a:off x="7594600" y="4038600"/>
            <a:ext cx="13462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6B7771"/>
                </a:solidFill>
                <a:latin typeface="Avenir Next"/>
              </a:rPr>
              <a:t>1m</a:t>
            </a:r>
          </a:p>
        </p:txBody>
      </p:sp>
      <p:cxnSp>
        <p:nvCxnSpPr>
          <p:cNvPr id="32" name="Connector 31"/>
          <p:cNvCxnSpPr/>
          <p:nvPr/>
        </p:nvCxnSpPr>
        <p:spPr>
          <a:xfrm>
            <a:off x="8737600" y="2781300"/>
            <a:ext cx="838200" cy="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9575800" y="2311400"/>
            <a:ext cx="939800" cy="9398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804400" y="2540000"/>
            <a:ext cx="482600" cy="355600"/>
          </a:xfrm>
          <a:prstGeom prst="rect">
            <a:avLst/>
          </a:prstGeom>
          <a:noFill/>
        </p:spPr>
        <p:txBody>
          <a:bodyPr wrap="square" lIns="0" tIns="0" rIns="0" bIns="0" anchor="t">
            <a:spAutoFit/>
          </a:bodyPr>
          <a:lstStyle/>
          <a:p>
            <a:pPr algn="ctr">
              <a:lnSpc>
                <a:spcPct val="100000"/>
              </a:lnSpc>
              <a:spcBef>
                <a:spcPts val="0"/>
              </a:spcBef>
              <a:spcAft>
                <a:spcPts val="0"/>
              </a:spcAft>
            </a:pPr>
            <a:r>
              <a:rPr sz="2200" b="1">
                <a:solidFill>
                  <a:srgbClr val="18231E"/>
                </a:solidFill>
                <a:latin typeface="Avenir Next"/>
              </a:rPr>
              <a:t>6</a:t>
            </a:r>
          </a:p>
        </p:txBody>
      </p:sp>
      <p:sp>
        <p:nvSpPr>
          <p:cNvPr id="35" name="TextBox 34"/>
          <p:cNvSpPr txBox="1"/>
          <p:nvPr/>
        </p:nvSpPr>
        <p:spPr>
          <a:xfrm>
            <a:off x="9372600" y="3479800"/>
            <a:ext cx="1346200" cy="508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Play output</a:t>
            </a:r>
          </a:p>
        </p:txBody>
      </p:sp>
      <p:sp>
        <p:nvSpPr>
          <p:cNvPr id="36" name="TextBox 35"/>
          <p:cNvSpPr txBox="1"/>
          <p:nvPr/>
        </p:nvSpPr>
        <p:spPr>
          <a:xfrm>
            <a:off x="9372600" y="4038600"/>
            <a:ext cx="1346200" cy="254000"/>
          </a:xfrm>
          <a:prstGeom prst="rect">
            <a:avLst/>
          </a:prstGeom>
          <a:noFill/>
        </p:spPr>
        <p:txBody>
          <a:bodyPr wrap="square" lIns="0" tIns="0" rIns="0" bIns="0" anchor="t">
            <a:spAutoFit/>
          </a:bodyPr>
          <a:lstStyle/>
          <a:p>
            <a:pPr algn="ctr">
              <a:lnSpc>
                <a:spcPct val="100000"/>
              </a:lnSpc>
              <a:spcBef>
                <a:spcPts val="0"/>
              </a:spcBef>
              <a:spcAft>
                <a:spcPts val="0"/>
              </a:spcAft>
            </a:pPr>
            <a:r>
              <a:rPr sz="1300" b="0">
                <a:solidFill>
                  <a:srgbClr val="6B7771"/>
                </a:solidFill>
                <a:latin typeface="Avenir Next"/>
              </a:rPr>
              <a:t>1m</a:t>
            </a:r>
          </a:p>
        </p:txBody>
      </p:sp>
      <p:sp>
        <p:nvSpPr>
          <p:cNvPr id="37" name="Rounded Rectangle 36"/>
          <p:cNvSpPr/>
          <p:nvPr/>
        </p:nvSpPr>
        <p:spPr>
          <a:xfrm>
            <a:off x="1854200" y="4953000"/>
            <a:ext cx="8483600" cy="8890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260600" y="5168900"/>
            <a:ext cx="7670800" cy="45720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FFFFFF"/>
                </a:solidFill>
                <a:latin typeface="Avenir Next"/>
              </a:rPr>
              <a:t>Fallback: job completed sẵn + local backend + slide kiến trúc</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12 / DEMO</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39</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Môi trường hiện tại đã kết nối</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Kiểm tra read-only trước khi tạo deck: các service đều healthy</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794000"/>
            <a:ext cx="1905000" cy="812800"/>
          </a:xfrm>
          <a:prstGeom prst="roundRect">
            <a:avLst/>
          </a:prstGeom>
          <a:solidFill>
            <a:srgbClr val="FFF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895600"/>
            <a:ext cx="1651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Frontend</a:t>
            </a:r>
          </a:p>
        </p:txBody>
      </p:sp>
      <p:sp>
        <p:nvSpPr>
          <p:cNvPr id="10" name="TextBox 9"/>
          <p:cNvSpPr txBox="1"/>
          <p:nvPr/>
        </p:nvSpPr>
        <p:spPr>
          <a:xfrm>
            <a:off x="812800" y="3238500"/>
            <a:ext cx="1651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localhost:8000</a:t>
            </a:r>
          </a:p>
        </p:txBody>
      </p:sp>
      <p:sp>
        <p:nvSpPr>
          <p:cNvPr id="11" name="Rounded Rectangle 10"/>
          <p:cNvSpPr/>
          <p:nvPr/>
        </p:nvSpPr>
        <p:spPr>
          <a:xfrm>
            <a:off x="3098800" y="2794000"/>
            <a:ext cx="1905000" cy="8128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25800" y="2895600"/>
            <a:ext cx="1651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Gateway</a:t>
            </a:r>
          </a:p>
        </p:txBody>
      </p:sp>
      <p:sp>
        <p:nvSpPr>
          <p:cNvPr id="13" name="TextBox 12"/>
          <p:cNvSpPr txBox="1"/>
          <p:nvPr/>
        </p:nvSpPr>
        <p:spPr>
          <a:xfrm>
            <a:off x="3225800" y="3238500"/>
            <a:ext cx="1651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healthy</a:t>
            </a:r>
          </a:p>
        </p:txBody>
      </p:sp>
      <p:sp>
        <p:nvSpPr>
          <p:cNvPr id="14" name="Rounded Rectangle 13"/>
          <p:cNvSpPr/>
          <p:nvPr/>
        </p:nvSpPr>
        <p:spPr>
          <a:xfrm>
            <a:off x="5511800" y="2794000"/>
            <a:ext cx="1905000" cy="812800"/>
          </a:xfrm>
          <a:prstGeom prst="roundRect">
            <a:avLst/>
          </a:prstGeom>
          <a:solidFill>
            <a:srgbClr val="2D7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38800" y="2895600"/>
            <a:ext cx="1651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FFFFFF"/>
                </a:solidFill>
                <a:latin typeface="Avenir Next"/>
              </a:rPr>
              <a:t>n8n</a:t>
            </a:r>
          </a:p>
        </p:txBody>
      </p:sp>
      <p:sp>
        <p:nvSpPr>
          <p:cNvPr id="16" name="TextBox 15"/>
          <p:cNvSpPr txBox="1"/>
          <p:nvPr/>
        </p:nvSpPr>
        <p:spPr>
          <a:xfrm>
            <a:off x="5638800" y="3238500"/>
            <a:ext cx="1651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FFFFFF"/>
                </a:solidFill>
                <a:latin typeface="Avenir Next"/>
              </a:rPr>
              <a:t>healthy</a:t>
            </a:r>
          </a:p>
        </p:txBody>
      </p:sp>
      <p:sp>
        <p:nvSpPr>
          <p:cNvPr id="17" name="Rounded Rectangle 16"/>
          <p:cNvSpPr/>
          <p:nvPr/>
        </p:nvSpPr>
        <p:spPr>
          <a:xfrm>
            <a:off x="7924800" y="2794000"/>
            <a:ext cx="1905000" cy="8128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51800" y="2895600"/>
            <a:ext cx="1651000" cy="355600"/>
          </a:xfrm>
          <a:prstGeom prst="rect">
            <a:avLst/>
          </a:prstGeom>
          <a:noFill/>
        </p:spPr>
        <p:txBody>
          <a:bodyPr wrap="square" lIns="0" tIns="0" rIns="0" bIns="0" anchor="ctr">
            <a:spAutoFit/>
          </a:bodyPr>
          <a:lstStyle/>
          <a:p>
            <a:pPr algn="ctr">
              <a:lnSpc>
                <a:spcPct val="100000"/>
              </a:lnSpc>
              <a:spcBef>
                <a:spcPts val="0"/>
              </a:spcBef>
              <a:spcAft>
                <a:spcPts val="0"/>
              </a:spcAft>
            </a:pPr>
            <a:r>
              <a:rPr sz="1600" b="1">
                <a:solidFill>
                  <a:srgbClr val="18231E"/>
                </a:solidFill>
                <a:latin typeface="Avenir Next"/>
              </a:rPr>
              <a:t>Colab</a:t>
            </a:r>
          </a:p>
        </p:txBody>
      </p:sp>
      <p:sp>
        <p:nvSpPr>
          <p:cNvPr id="19" name="TextBox 18"/>
          <p:cNvSpPr txBox="1"/>
          <p:nvPr/>
        </p:nvSpPr>
        <p:spPr>
          <a:xfrm>
            <a:off x="8051800" y="3238500"/>
            <a:ext cx="1651000" cy="228600"/>
          </a:xfrm>
          <a:prstGeom prst="rect">
            <a:avLst/>
          </a:prstGeom>
          <a:noFill/>
        </p:spPr>
        <p:txBody>
          <a:bodyPr wrap="square" lIns="0" tIns="0" rIns="0" bIns="0" anchor="t">
            <a:spAutoFit/>
          </a:bodyPr>
          <a:lstStyle/>
          <a:p>
            <a:pPr algn="ctr">
              <a:lnSpc>
                <a:spcPct val="100000"/>
              </a:lnSpc>
              <a:spcBef>
                <a:spcPts val="0"/>
              </a:spcBef>
              <a:spcAft>
                <a:spcPts val="0"/>
              </a:spcAft>
            </a:pPr>
            <a:r>
              <a:rPr sz="1100" b="0">
                <a:solidFill>
                  <a:srgbClr val="18231E"/>
                </a:solidFill>
                <a:latin typeface="Avenir Next"/>
              </a:rPr>
              <a:t>ready</a:t>
            </a:r>
          </a:p>
        </p:txBody>
      </p:sp>
      <p:cxnSp>
        <p:nvCxnSpPr>
          <p:cNvPr id="20" name="Connector 19"/>
          <p:cNvCxnSpPr/>
          <p:nvPr/>
        </p:nvCxnSpPr>
        <p:spPr>
          <a:xfrm>
            <a:off x="2590800" y="3200400"/>
            <a:ext cx="5080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003800" y="3200400"/>
            <a:ext cx="5080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16800" y="3200400"/>
            <a:ext cx="508000" cy="0"/>
          </a:xfrm>
          <a:prstGeom prst="line">
            <a:avLst/>
          </a:prstGeom>
          <a:ln w="381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877300" y="3606800"/>
            <a:ext cx="0" cy="990600"/>
          </a:xfrm>
          <a:prstGeom prst="line">
            <a:avLst/>
          </a:prstGeom>
          <a:ln w="25400">
            <a:solidFill>
              <a:srgbClr val="2D7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569200" y="4597400"/>
            <a:ext cx="2616200" cy="1041400"/>
          </a:xfrm>
          <a:prstGeom prst="roundRect">
            <a:avLst/>
          </a:prstGeom>
          <a:solidFill>
            <a:srgbClr val="A8E6D2"/>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97800" y="4826000"/>
            <a:ext cx="2159000" cy="431800"/>
          </a:xfrm>
          <a:prstGeom prst="rect">
            <a:avLst/>
          </a:prstGeom>
          <a:noFill/>
        </p:spPr>
        <p:txBody>
          <a:bodyPr wrap="square" lIns="0" tIns="0" rIns="0" bIns="0" anchor="ctr">
            <a:spAutoFit/>
          </a:bodyPr>
          <a:lstStyle/>
          <a:p>
            <a:pPr algn="ctr">
              <a:lnSpc>
                <a:spcPct val="100000"/>
              </a:lnSpc>
              <a:spcBef>
                <a:spcPts val="0"/>
              </a:spcBef>
              <a:spcAft>
                <a:spcPts val="0"/>
              </a:spcAft>
            </a:pPr>
            <a:r>
              <a:rPr sz="1800" b="1">
                <a:solidFill>
                  <a:srgbClr val="18231E"/>
                </a:solidFill>
                <a:latin typeface="Avenir Next"/>
              </a:rPr>
              <a:t>Local fallback</a:t>
            </a:r>
          </a:p>
        </p:txBody>
      </p:sp>
      <p:sp>
        <p:nvSpPr>
          <p:cNvPr id="26" name="TextBox 25"/>
          <p:cNvSpPr txBox="1"/>
          <p:nvPr/>
        </p:nvSpPr>
        <p:spPr>
          <a:xfrm>
            <a:off x="7797800" y="5295900"/>
            <a:ext cx="215900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6B7771"/>
                </a:solidFill>
                <a:latin typeface="Avenir Next"/>
              </a:rPr>
              <a:t>local-ai healthy</a:t>
            </a:r>
          </a:p>
        </p:txBody>
      </p:sp>
      <p:sp>
        <p:nvSpPr>
          <p:cNvPr id="27" name="Rounded Rectangle 26"/>
          <p:cNvSpPr/>
          <p:nvPr/>
        </p:nvSpPr>
        <p:spPr>
          <a:xfrm>
            <a:off x="2235200" y="4953000"/>
            <a:ext cx="1981200" cy="3810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336800" y="4978400"/>
            <a:ext cx="17780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50 app languages</a:t>
            </a:r>
          </a:p>
        </p:txBody>
      </p:sp>
      <p:sp>
        <p:nvSpPr>
          <p:cNvPr id="29" name="Rounded Rectangle 28"/>
          <p:cNvSpPr/>
          <p:nvPr/>
        </p:nvSpPr>
        <p:spPr>
          <a:xfrm>
            <a:off x="4470400" y="4953000"/>
            <a:ext cx="2260600" cy="3810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0" y="4978400"/>
            <a:ext cx="2057400" cy="330200"/>
          </a:xfrm>
          <a:prstGeom prst="rect">
            <a:avLst/>
          </a:prstGeom>
          <a:noFill/>
        </p:spPr>
        <p:txBody>
          <a:bodyPr wrap="square" lIns="0" tIns="0" rIns="0" bIns="0" anchor="ctr">
            <a:spAutoFit/>
          </a:bodyPr>
          <a:lstStyle/>
          <a:p>
            <a:pPr algn="ctr">
              <a:lnSpc>
                <a:spcPct val="100000"/>
              </a:lnSpc>
              <a:spcBef>
                <a:spcPts val="0"/>
              </a:spcBef>
              <a:spcAft>
                <a:spcPts val="0"/>
              </a:spcAft>
            </a:pPr>
            <a:r>
              <a:rPr sz="1200" b="1">
                <a:solidFill>
                  <a:srgbClr val="18231E"/>
                </a:solidFill>
                <a:latin typeface="Avenir Next"/>
              </a:rPr>
              <a:t>ai_backend = colab</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13 / HẠN CHẾ</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40</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Hiện tại và bước tiếp theo</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Roadmap ưu tiên chất lượng có thể đo được</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06600"/>
            <a:ext cx="3048000" cy="3886200"/>
          </a:xfrm>
          <a:prstGeom prst="round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5200" y="2336800"/>
            <a:ext cx="2489200" cy="431800"/>
          </a:xfrm>
          <a:prstGeom prst="rect">
            <a:avLst/>
          </a:prstGeom>
          <a:noFill/>
        </p:spPr>
        <p:txBody>
          <a:bodyPr wrap="square" lIns="0" tIns="0" rIns="0" bIns="0" anchor="t">
            <a:spAutoFit/>
          </a:bodyPr>
          <a:lstStyle/>
          <a:p>
            <a:pPr algn="ctr">
              <a:lnSpc>
                <a:spcPct val="100000"/>
              </a:lnSpc>
              <a:spcBef>
                <a:spcPts val="0"/>
              </a:spcBef>
              <a:spcAft>
                <a:spcPts val="0"/>
              </a:spcAft>
            </a:pPr>
            <a:r>
              <a:rPr sz="2300" b="1">
                <a:solidFill>
                  <a:srgbClr val="FFFFFF"/>
                </a:solidFill>
                <a:latin typeface="Avenir Next"/>
              </a:rPr>
              <a:t>NOW</a:t>
            </a:r>
          </a:p>
        </p:txBody>
      </p:sp>
      <p:cxnSp>
        <p:nvCxnSpPr>
          <p:cNvPr id="10" name="Connector 9"/>
          <p:cNvCxnSpPr/>
          <p:nvPr/>
        </p:nvCxnSpPr>
        <p:spPr>
          <a:xfrm>
            <a:off x="1092200" y="2946400"/>
            <a:ext cx="223520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90600" y="3352800"/>
            <a:ext cx="24384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FFFFFF"/>
                </a:solidFill>
                <a:latin typeface="Avenir Next"/>
              </a:rPr>
              <a:t>Cascade pipeline</a:t>
            </a:r>
          </a:p>
        </p:txBody>
      </p:sp>
      <p:sp>
        <p:nvSpPr>
          <p:cNvPr id="12" name="TextBox 11"/>
          <p:cNvSpPr txBox="1"/>
          <p:nvPr/>
        </p:nvSpPr>
        <p:spPr>
          <a:xfrm>
            <a:off x="990600" y="4064000"/>
            <a:ext cx="24384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FFFFFF"/>
                </a:solidFill>
                <a:latin typeface="Avenir Next"/>
              </a:rPr>
              <a:t>Sentence NMT</a:t>
            </a:r>
          </a:p>
        </p:txBody>
      </p:sp>
      <p:sp>
        <p:nvSpPr>
          <p:cNvPr id="13" name="TextBox 12"/>
          <p:cNvSpPr txBox="1"/>
          <p:nvPr/>
        </p:nvSpPr>
        <p:spPr>
          <a:xfrm>
            <a:off x="990600" y="4775200"/>
            <a:ext cx="2438400" cy="261610"/>
          </a:xfrm>
          <a:prstGeom prst="rect">
            <a:avLst/>
          </a:prstGeom>
          <a:noFill/>
        </p:spPr>
        <p:txBody>
          <a:bodyPr wrap="square" lIns="0" tIns="0" rIns="0" bIns="0" anchor="t">
            <a:spAutoFit/>
          </a:bodyPr>
          <a:lstStyle/>
          <a:p>
            <a:pPr algn="ctr">
              <a:lnSpc>
                <a:spcPct val="100000"/>
              </a:lnSpc>
              <a:spcBef>
                <a:spcPts val="0"/>
              </a:spcBef>
              <a:spcAft>
                <a:spcPts val="0"/>
              </a:spcAft>
            </a:pPr>
            <a:r>
              <a:rPr lang="en-US" sz="1700" b="1">
                <a:solidFill>
                  <a:srgbClr val="FFFFFF"/>
                </a:solidFill>
                <a:latin typeface="Avenir Next"/>
              </a:rPr>
              <a:t>Per-speaker Edge</a:t>
            </a:r>
            <a:endParaRPr sz="1700" b="1">
              <a:solidFill>
                <a:srgbClr val="FFFFFF"/>
              </a:solidFill>
              <a:latin typeface="Avenir Next"/>
            </a:endParaRPr>
          </a:p>
        </p:txBody>
      </p:sp>
      <p:sp>
        <p:nvSpPr>
          <p:cNvPr id="14" name="Rounded Rectangle 13"/>
          <p:cNvSpPr/>
          <p:nvPr/>
        </p:nvSpPr>
        <p:spPr>
          <a:xfrm>
            <a:off x="4572000" y="2006600"/>
            <a:ext cx="3048000" cy="3886200"/>
          </a:xfrm>
          <a:prstGeom prst="roundRect">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51400" y="2336800"/>
            <a:ext cx="2489200" cy="431800"/>
          </a:xfrm>
          <a:prstGeom prst="rect">
            <a:avLst/>
          </a:prstGeom>
          <a:noFill/>
        </p:spPr>
        <p:txBody>
          <a:bodyPr wrap="square" lIns="0" tIns="0" rIns="0" bIns="0" anchor="t">
            <a:spAutoFit/>
          </a:bodyPr>
          <a:lstStyle/>
          <a:p>
            <a:pPr algn="ctr">
              <a:lnSpc>
                <a:spcPct val="100000"/>
              </a:lnSpc>
              <a:spcBef>
                <a:spcPts val="0"/>
              </a:spcBef>
              <a:spcAft>
                <a:spcPts val="0"/>
              </a:spcAft>
            </a:pPr>
            <a:r>
              <a:rPr sz="2300" b="1">
                <a:solidFill>
                  <a:srgbClr val="18231E"/>
                </a:solidFill>
                <a:latin typeface="Avenir Next"/>
              </a:rPr>
              <a:t>NEXT</a:t>
            </a:r>
          </a:p>
        </p:txBody>
      </p:sp>
      <p:cxnSp>
        <p:nvCxnSpPr>
          <p:cNvPr id="16" name="Connector 15"/>
          <p:cNvCxnSpPr/>
          <p:nvPr/>
        </p:nvCxnSpPr>
        <p:spPr>
          <a:xfrm>
            <a:off x="4978400" y="2946400"/>
            <a:ext cx="2235200" cy="0"/>
          </a:xfrm>
          <a:prstGeom prst="line">
            <a:avLst/>
          </a:prstGeom>
          <a:ln w="12700">
            <a:solidFill>
              <a:srgbClr val="18231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876800" y="3352800"/>
            <a:ext cx="24384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NER + glossary</a:t>
            </a:r>
          </a:p>
        </p:txBody>
      </p:sp>
      <p:sp>
        <p:nvSpPr>
          <p:cNvPr id="18" name="TextBox 17"/>
          <p:cNvSpPr txBox="1"/>
          <p:nvPr/>
        </p:nvSpPr>
        <p:spPr>
          <a:xfrm>
            <a:off x="4876800" y="4064000"/>
            <a:ext cx="24384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Blind TTS test</a:t>
            </a:r>
          </a:p>
        </p:txBody>
      </p:sp>
      <p:sp>
        <p:nvSpPr>
          <p:cNvPr id="19" name="TextBox 18"/>
          <p:cNvSpPr txBox="1"/>
          <p:nvPr/>
        </p:nvSpPr>
        <p:spPr>
          <a:xfrm>
            <a:off x="4876800" y="4775200"/>
            <a:ext cx="24384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DER / WER set</a:t>
            </a:r>
          </a:p>
        </p:txBody>
      </p:sp>
      <p:sp>
        <p:nvSpPr>
          <p:cNvPr id="20" name="Rounded Rectangle 19"/>
          <p:cNvSpPr/>
          <p:nvPr/>
        </p:nvSpPr>
        <p:spPr>
          <a:xfrm>
            <a:off x="8458200" y="2006600"/>
            <a:ext cx="3048000" cy="3886200"/>
          </a:xfrm>
          <a:prstGeom prst="roundRect">
            <a:avLst/>
          </a:prstGeom>
          <a:solidFill>
            <a:srgbClr val="A8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37600" y="2336800"/>
            <a:ext cx="2489200" cy="431800"/>
          </a:xfrm>
          <a:prstGeom prst="rect">
            <a:avLst/>
          </a:prstGeom>
          <a:noFill/>
        </p:spPr>
        <p:txBody>
          <a:bodyPr wrap="square" lIns="0" tIns="0" rIns="0" bIns="0" anchor="t">
            <a:spAutoFit/>
          </a:bodyPr>
          <a:lstStyle/>
          <a:p>
            <a:pPr algn="ctr">
              <a:lnSpc>
                <a:spcPct val="100000"/>
              </a:lnSpc>
              <a:spcBef>
                <a:spcPts val="0"/>
              </a:spcBef>
              <a:spcAft>
                <a:spcPts val="0"/>
              </a:spcAft>
            </a:pPr>
            <a:r>
              <a:rPr sz="2300" b="1">
                <a:solidFill>
                  <a:srgbClr val="18231E"/>
                </a:solidFill>
                <a:latin typeface="Avenir Next"/>
              </a:rPr>
              <a:t>LATER</a:t>
            </a:r>
          </a:p>
        </p:txBody>
      </p:sp>
      <p:cxnSp>
        <p:nvCxnSpPr>
          <p:cNvPr id="22" name="Connector 21"/>
          <p:cNvCxnSpPr/>
          <p:nvPr/>
        </p:nvCxnSpPr>
        <p:spPr>
          <a:xfrm>
            <a:off x="8864600" y="2946400"/>
            <a:ext cx="2235200" cy="0"/>
          </a:xfrm>
          <a:prstGeom prst="line">
            <a:avLst/>
          </a:prstGeom>
          <a:ln w="12700">
            <a:solidFill>
              <a:srgbClr val="18231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763000" y="3352800"/>
            <a:ext cx="24384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Context translation</a:t>
            </a:r>
          </a:p>
        </p:txBody>
      </p:sp>
      <p:sp>
        <p:nvSpPr>
          <p:cNvPr id="24" name="TextBox 23"/>
          <p:cNvSpPr txBox="1"/>
          <p:nvPr/>
        </p:nvSpPr>
        <p:spPr>
          <a:xfrm>
            <a:off x="8763000" y="4064000"/>
            <a:ext cx="24384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Production auth</a:t>
            </a:r>
          </a:p>
        </p:txBody>
      </p:sp>
      <p:sp>
        <p:nvSpPr>
          <p:cNvPr id="25" name="TextBox 24"/>
          <p:cNvSpPr txBox="1"/>
          <p:nvPr/>
        </p:nvSpPr>
        <p:spPr>
          <a:xfrm>
            <a:off x="8763000" y="4775200"/>
            <a:ext cx="2438400" cy="406400"/>
          </a:xfrm>
          <a:prstGeom prst="rect">
            <a:avLst/>
          </a:prstGeom>
          <a:noFill/>
        </p:spPr>
        <p:txBody>
          <a:bodyPr wrap="square" lIns="0" tIns="0" rIns="0" bIns="0" anchor="t">
            <a:spAutoFit/>
          </a:bodyPr>
          <a:lstStyle/>
          <a:p>
            <a:pPr algn="ctr">
              <a:lnSpc>
                <a:spcPct val="100000"/>
              </a:lnSpc>
              <a:spcBef>
                <a:spcPts val="0"/>
              </a:spcBef>
              <a:spcAft>
                <a:spcPts val="0"/>
              </a:spcAft>
            </a:pPr>
            <a:r>
              <a:rPr sz="1700" b="1">
                <a:solidFill>
                  <a:srgbClr val="18231E"/>
                </a:solidFill>
                <a:latin typeface="Avenir Next"/>
              </a:rPr>
              <a:t>Object storage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2D7565"/>
                </a:solidFill>
                <a:latin typeface="Avenir Next"/>
              </a:rPr>
              <a:t>13 / PHẢN BIỆN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2D7565"/>
                </a:solidFill>
                <a:latin typeface="Avenir Next"/>
              </a:rPr>
              <a:t>41</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18231E"/>
                </a:solidFill>
                <a:latin typeface="Avenir Next"/>
              </a:rPr>
              <a:t>Những câu thầy có thể hỏi</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6B7771"/>
                </a:solidFill>
                <a:latin typeface="Avenir Next"/>
              </a:rPr>
              <a:t>Trả lời bằng trade-off, không trả lời bằng tên thư viện</a:t>
            </a:r>
          </a:p>
        </p:txBody>
      </p:sp>
      <p:cxnSp>
        <p:nvCxnSpPr>
          <p:cNvPr id="7" name="Connector 6"/>
          <p:cNvCxnSpPr/>
          <p:nvPr/>
        </p:nvCxnSpPr>
        <p:spPr>
          <a:xfrm>
            <a:off x="685800" y="1625600"/>
            <a:ext cx="10820400" cy="0"/>
          </a:xfrm>
          <a:prstGeom prst="line">
            <a:avLst/>
          </a:prstGeom>
          <a:ln w="15240">
            <a:solidFill>
              <a:srgbClr val="CBD0C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1981200"/>
            <a:ext cx="5334000" cy="1092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159000"/>
            <a:ext cx="48768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Vì sao cần n8n?</a:t>
            </a:r>
          </a:p>
        </p:txBody>
      </p:sp>
      <p:sp>
        <p:nvSpPr>
          <p:cNvPr id="10" name="TextBox 9"/>
          <p:cNvSpPr txBox="1"/>
          <p:nvPr/>
        </p:nvSpPr>
        <p:spPr>
          <a:xfrm>
            <a:off x="914400" y="2590800"/>
            <a:ext cx="4876800" cy="25400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2D7565"/>
                </a:solidFill>
                <a:latin typeface="Avenir Next"/>
              </a:rPr>
              <a:t>Quan sát + one source of truth</a:t>
            </a:r>
          </a:p>
        </p:txBody>
      </p:sp>
      <p:sp>
        <p:nvSpPr>
          <p:cNvPr id="11" name="Rounded Rectangle 10"/>
          <p:cNvSpPr/>
          <p:nvPr/>
        </p:nvSpPr>
        <p:spPr>
          <a:xfrm>
            <a:off x="6172200" y="1981200"/>
            <a:ext cx="5334000" cy="1092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159000"/>
            <a:ext cx="48768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Vì sao NLLB 600M?</a:t>
            </a:r>
          </a:p>
        </p:txBody>
      </p:sp>
      <p:sp>
        <p:nvSpPr>
          <p:cNvPr id="13" name="TextBox 12"/>
          <p:cNvSpPr txBox="1"/>
          <p:nvPr/>
        </p:nvSpPr>
        <p:spPr>
          <a:xfrm>
            <a:off x="6400800" y="2590800"/>
            <a:ext cx="4876800" cy="25400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2D7565"/>
                </a:solidFill>
                <a:latin typeface="Avenir Next"/>
              </a:rPr>
              <a:t>coverage + VRAM + reproducibility</a:t>
            </a:r>
          </a:p>
        </p:txBody>
      </p:sp>
      <p:sp>
        <p:nvSpPr>
          <p:cNvPr id="14" name="Rounded Rectangle 13"/>
          <p:cNvSpPr/>
          <p:nvPr/>
        </p:nvSpPr>
        <p:spPr>
          <a:xfrm>
            <a:off x="685800" y="3403600"/>
            <a:ext cx="5334000" cy="1092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581400"/>
            <a:ext cx="4876800" cy="261610"/>
          </a:xfrm>
          <a:prstGeom prst="rect">
            <a:avLst/>
          </a:prstGeom>
          <a:noFill/>
        </p:spPr>
        <p:txBody>
          <a:bodyPr wrap="square" lIns="0" tIns="0" rIns="0" bIns="0" anchor="t">
            <a:spAutoFit/>
          </a:bodyPr>
          <a:lstStyle/>
          <a:p>
            <a:pPr algn="l">
              <a:lnSpc>
                <a:spcPct val="100000"/>
              </a:lnSpc>
              <a:spcBef>
                <a:spcPts val="0"/>
              </a:spcBef>
              <a:spcAft>
                <a:spcPts val="0"/>
              </a:spcAft>
            </a:pPr>
            <a:r>
              <a:rPr lang="en-US" sz="1700" b="1">
                <a:solidFill>
                  <a:srgbClr val="18231E"/>
                </a:solidFill>
                <a:latin typeface="Avenir Next"/>
              </a:rPr>
              <a:t>Vì sao diarization bắt buộc?</a:t>
            </a:r>
            <a:endParaRPr sz="1700" b="1">
              <a:solidFill>
                <a:srgbClr val="18231E"/>
              </a:solidFill>
              <a:latin typeface="Avenir Next"/>
            </a:endParaRPr>
          </a:p>
        </p:txBody>
      </p:sp>
      <p:sp>
        <p:nvSpPr>
          <p:cNvPr id="16" name="TextBox 15"/>
          <p:cNvSpPr txBox="1"/>
          <p:nvPr/>
        </p:nvSpPr>
        <p:spPr>
          <a:xfrm>
            <a:off x="914400" y="4013200"/>
            <a:ext cx="4876800" cy="215444"/>
          </a:xfrm>
          <a:prstGeom prst="rect">
            <a:avLst/>
          </a:prstGeom>
          <a:noFill/>
        </p:spPr>
        <p:txBody>
          <a:bodyPr wrap="square" lIns="0" tIns="0" rIns="0" bIns="0" anchor="t">
            <a:spAutoFit/>
          </a:bodyPr>
          <a:lstStyle/>
          <a:p>
            <a:pPr algn="l">
              <a:lnSpc>
                <a:spcPct val="100000"/>
              </a:lnSpc>
              <a:spcBef>
                <a:spcPts val="0"/>
              </a:spcBef>
              <a:spcAft>
                <a:spcPts val="0"/>
              </a:spcAft>
            </a:pPr>
            <a:r>
              <a:rPr lang="en-US" sz="1400" b="1">
                <a:solidFill>
                  <a:srgbClr val="2D7565"/>
                </a:solidFill>
                <a:latin typeface="Avenir Next"/>
              </a:rPr>
              <a:t>giữ speaker xuyên suốt pipeline</a:t>
            </a:r>
            <a:endParaRPr sz="1400" b="1">
              <a:solidFill>
                <a:srgbClr val="2D7565"/>
              </a:solidFill>
              <a:latin typeface="Avenir Next"/>
            </a:endParaRPr>
          </a:p>
        </p:txBody>
      </p:sp>
      <p:sp>
        <p:nvSpPr>
          <p:cNvPr id="17" name="Rounded Rectangle 16"/>
          <p:cNvSpPr/>
          <p:nvPr/>
        </p:nvSpPr>
        <p:spPr>
          <a:xfrm>
            <a:off x="6172200" y="3403600"/>
            <a:ext cx="5334000" cy="1092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3581400"/>
            <a:ext cx="48768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Edge tốt hơn MMS?</a:t>
            </a:r>
          </a:p>
        </p:txBody>
      </p:sp>
      <p:sp>
        <p:nvSpPr>
          <p:cNvPr id="19" name="TextBox 18"/>
          <p:cNvSpPr txBox="1"/>
          <p:nvPr/>
        </p:nvSpPr>
        <p:spPr>
          <a:xfrm>
            <a:off x="6400800" y="4013200"/>
            <a:ext cx="4876800" cy="25400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2D7565"/>
                </a:solidFill>
                <a:latin typeface="Avenir Next"/>
              </a:rPr>
              <a:t>observed, chưa phải MOS</a:t>
            </a:r>
          </a:p>
        </p:txBody>
      </p:sp>
      <p:sp>
        <p:nvSpPr>
          <p:cNvPr id="20" name="Rounded Rectangle 19"/>
          <p:cNvSpPr/>
          <p:nvPr/>
        </p:nvSpPr>
        <p:spPr>
          <a:xfrm>
            <a:off x="685800" y="4826000"/>
            <a:ext cx="5334000" cy="1092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003800"/>
            <a:ext cx="48768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Tunnel timeout xử lý?</a:t>
            </a:r>
          </a:p>
        </p:txBody>
      </p:sp>
      <p:sp>
        <p:nvSpPr>
          <p:cNvPr id="22" name="TextBox 21"/>
          <p:cNvSpPr txBox="1"/>
          <p:nvPr/>
        </p:nvSpPr>
        <p:spPr>
          <a:xfrm>
            <a:off x="914400" y="5435600"/>
            <a:ext cx="4876800" cy="25400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2D7565"/>
                </a:solidFill>
                <a:latin typeface="Avenir Next"/>
              </a:rPr>
              <a:t>202 task + polling</a:t>
            </a:r>
          </a:p>
        </p:txBody>
      </p:sp>
      <p:sp>
        <p:nvSpPr>
          <p:cNvPr id="23" name="Rounded Rectangle 22"/>
          <p:cNvSpPr/>
          <p:nvPr/>
        </p:nvSpPr>
        <p:spPr>
          <a:xfrm>
            <a:off x="6172200" y="4826000"/>
            <a:ext cx="5334000" cy="1092200"/>
          </a:xfrm>
          <a:prstGeom prst="roundRect">
            <a:avLst/>
          </a:prstGeom>
          <a:solidFill>
            <a:srgbClr val="FFFEFA"/>
          </a:solidFill>
          <a:ln w="15240">
            <a:solidFill>
              <a:srgbClr val="2D7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5003800"/>
            <a:ext cx="4876800" cy="304800"/>
          </a:xfrm>
          <a:prstGeom prst="rect">
            <a:avLst/>
          </a:prstGeom>
          <a:noFill/>
        </p:spPr>
        <p:txBody>
          <a:bodyPr wrap="square" lIns="0" tIns="0" rIns="0" bIns="0" anchor="t">
            <a:spAutoFit/>
          </a:bodyPr>
          <a:lstStyle/>
          <a:p>
            <a:pPr algn="l">
              <a:lnSpc>
                <a:spcPct val="100000"/>
              </a:lnSpc>
              <a:spcBef>
                <a:spcPts val="0"/>
              </a:spcBef>
              <a:spcAft>
                <a:spcPts val="0"/>
              </a:spcAft>
            </a:pPr>
            <a:r>
              <a:rPr sz="1700" b="1">
                <a:solidFill>
                  <a:srgbClr val="18231E"/>
                </a:solidFill>
                <a:latin typeface="Avenir Next"/>
              </a:rPr>
              <a:t>Tên riêng bị dịch?</a:t>
            </a:r>
          </a:p>
        </p:txBody>
      </p:sp>
      <p:sp>
        <p:nvSpPr>
          <p:cNvPr id="25" name="TextBox 24"/>
          <p:cNvSpPr txBox="1"/>
          <p:nvPr/>
        </p:nvSpPr>
        <p:spPr>
          <a:xfrm>
            <a:off x="6400800" y="5435600"/>
            <a:ext cx="4876800" cy="25400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2D7565"/>
                </a:solidFill>
                <a:latin typeface="Avenir Next"/>
              </a:rPr>
              <a:t>limitation + NER roadmap</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2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54000"/>
            <a:ext cx="9652000" cy="254000"/>
          </a:xfrm>
          <a:prstGeom prst="rect">
            <a:avLst/>
          </a:prstGeom>
          <a:noFill/>
        </p:spPr>
        <p:txBody>
          <a:bodyPr wrap="square" lIns="0" tIns="0" rIns="0" bIns="0" anchor="t">
            <a:spAutoFit/>
          </a:bodyPr>
          <a:lstStyle/>
          <a:p>
            <a:pPr algn="l">
              <a:lnSpc>
                <a:spcPct val="100000"/>
              </a:lnSpc>
              <a:spcBef>
                <a:spcPts val="0"/>
              </a:spcBef>
              <a:spcAft>
                <a:spcPts val="0"/>
              </a:spcAft>
            </a:pPr>
            <a:r>
              <a:rPr sz="1000" b="1">
                <a:solidFill>
                  <a:srgbClr val="A8E6D2"/>
                </a:solidFill>
                <a:latin typeface="Avenir Next"/>
              </a:rPr>
              <a:t>14 / KẾT LUẬN</a:t>
            </a:r>
          </a:p>
        </p:txBody>
      </p:sp>
      <p:sp>
        <p:nvSpPr>
          <p:cNvPr id="4" name="TextBox 3"/>
          <p:cNvSpPr txBox="1"/>
          <p:nvPr/>
        </p:nvSpPr>
        <p:spPr>
          <a:xfrm>
            <a:off x="11099800" y="228600"/>
            <a:ext cx="406400" cy="254000"/>
          </a:xfrm>
          <a:prstGeom prst="rect">
            <a:avLst/>
          </a:prstGeom>
          <a:noFill/>
        </p:spPr>
        <p:txBody>
          <a:bodyPr wrap="square" lIns="0" tIns="0" rIns="0" bIns="0" anchor="t">
            <a:spAutoFit/>
          </a:bodyPr>
          <a:lstStyle/>
          <a:p>
            <a:pPr algn="r">
              <a:lnSpc>
                <a:spcPct val="100000"/>
              </a:lnSpc>
              <a:spcBef>
                <a:spcPts val="0"/>
              </a:spcBef>
              <a:spcAft>
                <a:spcPts val="0"/>
              </a:spcAft>
            </a:pPr>
            <a:r>
              <a:rPr sz="1000" b="1">
                <a:solidFill>
                  <a:srgbClr val="A8E6D2"/>
                </a:solidFill>
                <a:latin typeface="Avenir Next"/>
              </a:rPr>
              <a:t>42</a:t>
            </a:r>
          </a:p>
        </p:txBody>
      </p:sp>
      <p:sp>
        <p:nvSpPr>
          <p:cNvPr id="5" name="TextBox 4"/>
          <p:cNvSpPr txBox="1"/>
          <p:nvPr/>
        </p:nvSpPr>
        <p:spPr>
          <a:xfrm>
            <a:off x="685800" y="584200"/>
            <a:ext cx="10414000" cy="609600"/>
          </a:xfrm>
          <a:prstGeom prst="rect">
            <a:avLst/>
          </a:prstGeom>
          <a:noFill/>
        </p:spPr>
        <p:txBody>
          <a:bodyPr wrap="square" lIns="0" tIns="0" rIns="0" bIns="0" anchor="t">
            <a:spAutoFit/>
          </a:bodyPr>
          <a:lstStyle/>
          <a:p>
            <a:pPr algn="l">
              <a:lnSpc>
                <a:spcPct val="100000"/>
              </a:lnSpc>
              <a:spcBef>
                <a:spcPts val="0"/>
              </a:spcBef>
              <a:spcAft>
                <a:spcPts val="0"/>
              </a:spcAft>
            </a:pPr>
            <a:r>
              <a:rPr sz="3100" b="1">
                <a:solidFill>
                  <a:srgbClr val="FFFFFF"/>
                </a:solidFill>
                <a:latin typeface="Avenir Next"/>
              </a:rPr>
              <a:t>DubFlow là một hệ thống, không chỉ là chuỗi model</a:t>
            </a:r>
          </a:p>
        </p:txBody>
      </p:sp>
      <p:sp>
        <p:nvSpPr>
          <p:cNvPr id="6" name="TextBox 5"/>
          <p:cNvSpPr txBox="1"/>
          <p:nvPr/>
        </p:nvSpPr>
        <p:spPr>
          <a:xfrm>
            <a:off x="685800" y="1168400"/>
            <a:ext cx="104140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0">
                <a:solidFill>
                  <a:srgbClr val="A8E6D2"/>
                </a:solidFill>
                <a:latin typeface="Avenir Next"/>
              </a:rPr>
              <a:t>Bốn ý cần người nghe nhớ</a:t>
            </a:r>
          </a:p>
        </p:txBody>
      </p:sp>
      <p:cxnSp>
        <p:nvCxnSpPr>
          <p:cNvPr id="7" name="Connector 6"/>
          <p:cNvCxnSpPr/>
          <p:nvPr/>
        </p:nvCxnSpPr>
        <p:spPr>
          <a:xfrm>
            <a:off x="685800" y="1625600"/>
            <a:ext cx="10820400" cy="0"/>
          </a:xfrm>
          <a:prstGeom prst="line">
            <a:avLst/>
          </a:prstGeom>
          <a:ln w="15240">
            <a:solidFill>
              <a:srgbClr val="2D7565"/>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685800" y="2159000"/>
            <a:ext cx="787400" cy="787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413000"/>
            <a:ext cx="5334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01</a:t>
            </a:r>
          </a:p>
        </p:txBody>
      </p:sp>
      <p:sp>
        <p:nvSpPr>
          <p:cNvPr id="10" name="TextBox 9"/>
          <p:cNvSpPr txBox="1"/>
          <p:nvPr/>
        </p:nvSpPr>
        <p:spPr>
          <a:xfrm>
            <a:off x="1752600" y="2184400"/>
            <a:ext cx="3810000" cy="381000"/>
          </a:xfrm>
          <a:prstGeom prst="rect">
            <a:avLst/>
          </a:prstGeom>
          <a:noFill/>
        </p:spPr>
        <p:txBody>
          <a:bodyPr wrap="square" lIns="0" tIns="0" rIns="0" bIns="0" anchor="t">
            <a:spAutoFit/>
          </a:bodyPr>
          <a:lstStyle/>
          <a:p>
            <a:pPr algn="l">
              <a:lnSpc>
                <a:spcPct val="100000"/>
              </a:lnSpc>
              <a:spcBef>
                <a:spcPts val="0"/>
              </a:spcBef>
              <a:spcAft>
                <a:spcPts val="0"/>
              </a:spcAft>
            </a:pPr>
            <a:r>
              <a:rPr sz="2200" b="1">
                <a:solidFill>
                  <a:srgbClr val="FFFFFF"/>
                </a:solidFill>
                <a:latin typeface="Avenir Next"/>
              </a:rPr>
              <a:t>Tách lớp</a:t>
            </a:r>
          </a:p>
        </p:txBody>
      </p:sp>
      <p:sp>
        <p:nvSpPr>
          <p:cNvPr id="11" name="TextBox 10"/>
          <p:cNvSpPr txBox="1"/>
          <p:nvPr/>
        </p:nvSpPr>
        <p:spPr>
          <a:xfrm>
            <a:off x="1752600" y="2641600"/>
            <a:ext cx="4191000" cy="5588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A8E6D2"/>
                </a:solidFill>
                <a:latin typeface="Avenir Next"/>
              </a:rPr>
              <a:t>đổi model, không đổi workflow</a:t>
            </a:r>
          </a:p>
        </p:txBody>
      </p:sp>
      <p:sp>
        <p:nvSpPr>
          <p:cNvPr id="12" name="Oval 11"/>
          <p:cNvSpPr/>
          <p:nvPr/>
        </p:nvSpPr>
        <p:spPr>
          <a:xfrm>
            <a:off x="6172200" y="2159000"/>
            <a:ext cx="787400" cy="787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99200" y="2413000"/>
            <a:ext cx="5334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02</a:t>
            </a:r>
          </a:p>
        </p:txBody>
      </p:sp>
      <p:sp>
        <p:nvSpPr>
          <p:cNvPr id="14" name="TextBox 13"/>
          <p:cNvSpPr txBox="1"/>
          <p:nvPr/>
        </p:nvSpPr>
        <p:spPr>
          <a:xfrm>
            <a:off x="7239000" y="2184400"/>
            <a:ext cx="3810000" cy="381000"/>
          </a:xfrm>
          <a:prstGeom prst="rect">
            <a:avLst/>
          </a:prstGeom>
          <a:noFill/>
        </p:spPr>
        <p:txBody>
          <a:bodyPr wrap="square" lIns="0" tIns="0" rIns="0" bIns="0" anchor="t">
            <a:spAutoFit/>
          </a:bodyPr>
          <a:lstStyle/>
          <a:p>
            <a:pPr algn="l">
              <a:lnSpc>
                <a:spcPct val="100000"/>
              </a:lnSpc>
              <a:spcBef>
                <a:spcPts val="0"/>
              </a:spcBef>
              <a:spcAft>
                <a:spcPts val="0"/>
              </a:spcAft>
            </a:pPr>
            <a:r>
              <a:rPr sz="2200" b="1">
                <a:solidFill>
                  <a:srgbClr val="FFFFFF"/>
                </a:solidFill>
                <a:latin typeface="Avenir Next"/>
              </a:rPr>
              <a:t>Quan sát</a:t>
            </a:r>
          </a:p>
        </p:txBody>
      </p:sp>
      <p:sp>
        <p:nvSpPr>
          <p:cNvPr id="15" name="TextBox 14"/>
          <p:cNvSpPr txBox="1"/>
          <p:nvPr/>
        </p:nvSpPr>
        <p:spPr>
          <a:xfrm>
            <a:off x="7239000" y="2641600"/>
            <a:ext cx="4191000" cy="5588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A8E6D2"/>
                </a:solidFill>
                <a:latin typeface="Avenir Next"/>
              </a:rPr>
              <a:t>11 checkpoint, lỗi có vị trí</a:t>
            </a:r>
          </a:p>
        </p:txBody>
      </p:sp>
      <p:sp>
        <p:nvSpPr>
          <p:cNvPr id="16" name="Oval 15"/>
          <p:cNvSpPr/>
          <p:nvPr/>
        </p:nvSpPr>
        <p:spPr>
          <a:xfrm>
            <a:off x="685800" y="4089400"/>
            <a:ext cx="787400" cy="787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2800" y="4343400"/>
            <a:ext cx="5334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03</a:t>
            </a:r>
          </a:p>
        </p:txBody>
      </p:sp>
      <p:sp>
        <p:nvSpPr>
          <p:cNvPr id="18" name="TextBox 17"/>
          <p:cNvSpPr txBox="1"/>
          <p:nvPr/>
        </p:nvSpPr>
        <p:spPr>
          <a:xfrm>
            <a:off x="1752600" y="4114800"/>
            <a:ext cx="3810000" cy="381000"/>
          </a:xfrm>
          <a:prstGeom prst="rect">
            <a:avLst/>
          </a:prstGeom>
          <a:noFill/>
        </p:spPr>
        <p:txBody>
          <a:bodyPr wrap="square" lIns="0" tIns="0" rIns="0" bIns="0" anchor="t">
            <a:spAutoFit/>
          </a:bodyPr>
          <a:lstStyle/>
          <a:p>
            <a:pPr algn="l">
              <a:lnSpc>
                <a:spcPct val="100000"/>
              </a:lnSpc>
              <a:spcBef>
                <a:spcPts val="0"/>
              </a:spcBef>
              <a:spcAft>
                <a:spcPts val="0"/>
              </a:spcAft>
            </a:pPr>
            <a:r>
              <a:rPr sz="2200" b="1">
                <a:solidFill>
                  <a:srgbClr val="FFFFFF"/>
                </a:solidFill>
                <a:latin typeface="Avenir Next"/>
              </a:rPr>
              <a:t>Thực dụng</a:t>
            </a:r>
          </a:p>
        </p:txBody>
      </p:sp>
      <p:sp>
        <p:nvSpPr>
          <p:cNvPr id="19" name="TextBox 18"/>
          <p:cNvSpPr txBox="1"/>
          <p:nvPr/>
        </p:nvSpPr>
        <p:spPr>
          <a:xfrm>
            <a:off x="1752600" y="4572000"/>
            <a:ext cx="4191000" cy="5588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A8E6D2"/>
                </a:solidFill>
                <a:latin typeface="Avenir Next"/>
              </a:rPr>
              <a:t>local hoặc Colab GPU</a:t>
            </a:r>
          </a:p>
        </p:txBody>
      </p:sp>
      <p:sp>
        <p:nvSpPr>
          <p:cNvPr id="20" name="Oval 19"/>
          <p:cNvSpPr/>
          <p:nvPr/>
        </p:nvSpPr>
        <p:spPr>
          <a:xfrm>
            <a:off x="6172200" y="4089400"/>
            <a:ext cx="787400" cy="787400"/>
          </a:xfrm>
          <a:prstGeom prst="ellipse">
            <a:avLst/>
          </a:prstGeom>
          <a:solidFill>
            <a:srgbClr val="D8F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99200" y="4343400"/>
            <a:ext cx="533400" cy="254000"/>
          </a:xfrm>
          <a:prstGeom prst="rect">
            <a:avLst/>
          </a:prstGeom>
          <a:noFill/>
        </p:spPr>
        <p:txBody>
          <a:bodyPr wrap="square" lIns="0" tIns="0" rIns="0" bIns="0" anchor="t">
            <a:spAutoFit/>
          </a:bodyPr>
          <a:lstStyle/>
          <a:p>
            <a:pPr algn="ctr">
              <a:lnSpc>
                <a:spcPct val="100000"/>
              </a:lnSpc>
              <a:spcBef>
                <a:spcPts val="0"/>
              </a:spcBef>
              <a:spcAft>
                <a:spcPts val="0"/>
              </a:spcAft>
            </a:pPr>
            <a:r>
              <a:rPr sz="1500" b="1">
                <a:solidFill>
                  <a:srgbClr val="18231E"/>
                </a:solidFill>
                <a:latin typeface="Avenir Next"/>
              </a:rPr>
              <a:t>04</a:t>
            </a:r>
          </a:p>
        </p:txBody>
      </p:sp>
      <p:sp>
        <p:nvSpPr>
          <p:cNvPr id="22" name="TextBox 21"/>
          <p:cNvSpPr txBox="1"/>
          <p:nvPr/>
        </p:nvSpPr>
        <p:spPr>
          <a:xfrm>
            <a:off x="7239000" y="4114800"/>
            <a:ext cx="3810000" cy="381000"/>
          </a:xfrm>
          <a:prstGeom prst="rect">
            <a:avLst/>
          </a:prstGeom>
          <a:noFill/>
        </p:spPr>
        <p:txBody>
          <a:bodyPr wrap="square" lIns="0" tIns="0" rIns="0" bIns="0" anchor="t">
            <a:spAutoFit/>
          </a:bodyPr>
          <a:lstStyle/>
          <a:p>
            <a:pPr algn="l">
              <a:lnSpc>
                <a:spcPct val="100000"/>
              </a:lnSpc>
              <a:spcBef>
                <a:spcPts val="0"/>
              </a:spcBef>
              <a:spcAft>
                <a:spcPts val="0"/>
              </a:spcAft>
            </a:pPr>
            <a:r>
              <a:rPr sz="2200" b="1">
                <a:solidFill>
                  <a:srgbClr val="FFFFFF"/>
                </a:solidFill>
                <a:latin typeface="Avenir Next"/>
              </a:rPr>
              <a:t>Trung thực</a:t>
            </a:r>
          </a:p>
        </p:txBody>
      </p:sp>
      <p:sp>
        <p:nvSpPr>
          <p:cNvPr id="23" name="TextBox 22"/>
          <p:cNvSpPr txBox="1"/>
          <p:nvPr/>
        </p:nvSpPr>
        <p:spPr>
          <a:xfrm>
            <a:off x="7239000" y="4572000"/>
            <a:ext cx="4191000" cy="558800"/>
          </a:xfrm>
          <a:prstGeom prst="rect">
            <a:avLst/>
          </a:prstGeom>
          <a:noFill/>
        </p:spPr>
        <p:txBody>
          <a:bodyPr wrap="square" lIns="0" tIns="0" rIns="0" bIns="0" anchor="t">
            <a:spAutoFit/>
          </a:bodyPr>
          <a:lstStyle/>
          <a:p>
            <a:pPr algn="l">
              <a:lnSpc>
                <a:spcPct val="100000"/>
              </a:lnSpc>
              <a:spcBef>
                <a:spcPts val="0"/>
              </a:spcBef>
              <a:spcAft>
                <a:spcPts val="0"/>
              </a:spcAft>
            </a:pPr>
            <a:r>
              <a:rPr sz="1500" b="1">
                <a:solidFill>
                  <a:srgbClr val="A8E6D2"/>
                </a:solidFill>
                <a:latin typeface="Avenir Next"/>
              </a:rPr>
              <a:t>trade-off và giới hạn rõ</a:t>
            </a:r>
          </a:p>
        </p:txBody>
      </p:sp>
      <p:sp>
        <p:nvSpPr>
          <p:cNvPr id="24" name="TextBox 23"/>
          <p:cNvSpPr txBox="1"/>
          <p:nvPr/>
        </p:nvSpPr>
        <p:spPr>
          <a:xfrm>
            <a:off x="9017000" y="5918200"/>
            <a:ext cx="2489200" cy="558800"/>
          </a:xfrm>
          <a:prstGeom prst="rect">
            <a:avLst/>
          </a:prstGeom>
          <a:noFill/>
        </p:spPr>
        <p:txBody>
          <a:bodyPr wrap="square" lIns="0" tIns="0" rIns="0" bIns="0" anchor="t">
            <a:spAutoFit/>
          </a:bodyPr>
          <a:lstStyle/>
          <a:p>
            <a:pPr algn="r">
              <a:lnSpc>
                <a:spcPct val="100000"/>
              </a:lnSpc>
              <a:spcBef>
                <a:spcPts val="0"/>
              </a:spcBef>
              <a:spcAft>
                <a:spcPts val="0"/>
              </a:spcAft>
            </a:pPr>
            <a:r>
              <a:rPr sz="3000" b="1">
                <a:solidFill>
                  <a:srgbClr val="D8FF58"/>
                </a:solidFill>
                <a:latin typeface="Avenir Next"/>
              </a:rPr>
              <a:t>Q &amp;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6509</Words>
  <Application>Microsoft Macintosh PowerPoint</Application>
  <PresentationFormat>Widescreen</PresentationFormat>
  <Paragraphs>689</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Avenir Next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Huynh Phat Loi</cp:lastModifiedBy>
  <cp:revision>2</cp:revision>
  <dcterms:created xsi:type="dcterms:W3CDTF">2013-01-27T09:14:16Z</dcterms:created>
  <dcterms:modified xsi:type="dcterms:W3CDTF">2026-09-06T19:49:40Z</dcterms:modified>
  <cp:category/>
</cp:coreProperties>
</file>